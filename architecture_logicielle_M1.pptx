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Fira Sans Extra Condensed Medium"/>
      <p:regular r:id="rId31"/>
      <p:bold r:id="rId32"/>
      <p:italic r:id="rId33"/>
      <p:boldItalic r:id="rId34"/>
    </p:embeddedFont>
    <p:embeddedFont>
      <p:font typeface="Righteous"/>
      <p:regular r:id="rId35"/>
    </p:embeddedFont>
    <p:embeddedFont>
      <p:font typeface="Squada One"/>
      <p:regular r:id="rId36"/>
    </p:embeddedFont>
    <p:embeddedFont>
      <p:font typeface="Roboto Condensed Ligh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24C829-EBDE-4DD2-B66A-5790EC324022}">
  <a:tblStyle styleId="{6624C829-EBDE-4DD2-B66A-5790EC32402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CondensedLight-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FiraSansExtraCondensedMedium-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FiraSansExtraCondensedMedium-italic.fntdata"/><Relationship Id="rId10" Type="http://schemas.openxmlformats.org/officeDocument/2006/relationships/slide" Target="slides/slide5.xml"/><Relationship Id="rId32" Type="http://schemas.openxmlformats.org/officeDocument/2006/relationships/font" Target="fonts/FiraSansExtraCondensedMedium-bold.fntdata"/><Relationship Id="rId13" Type="http://schemas.openxmlformats.org/officeDocument/2006/relationships/slide" Target="slides/slide8.xml"/><Relationship Id="rId35" Type="http://schemas.openxmlformats.org/officeDocument/2006/relationships/font" Target="fonts/Righteous-regular.fntdata"/><Relationship Id="rId12" Type="http://schemas.openxmlformats.org/officeDocument/2006/relationships/slide" Target="slides/slide7.xml"/><Relationship Id="rId34" Type="http://schemas.openxmlformats.org/officeDocument/2006/relationships/font" Target="fonts/FiraSansExtraCondensedMedium-boldItalic.fntdata"/><Relationship Id="rId15" Type="http://schemas.openxmlformats.org/officeDocument/2006/relationships/slide" Target="slides/slide10.xml"/><Relationship Id="rId37" Type="http://schemas.openxmlformats.org/officeDocument/2006/relationships/font" Target="fonts/RobotoCondensedLight-regular.fntdata"/><Relationship Id="rId14" Type="http://schemas.openxmlformats.org/officeDocument/2006/relationships/slide" Target="slides/slide9.xml"/><Relationship Id="rId36" Type="http://schemas.openxmlformats.org/officeDocument/2006/relationships/font" Target="fonts/SquadaOne-regular.fntdata"/><Relationship Id="rId17" Type="http://schemas.openxmlformats.org/officeDocument/2006/relationships/slide" Target="slides/slide12.xml"/><Relationship Id="rId39" Type="http://schemas.openxmlformats.org/officeDocument/2006/relationships/font" Target="fonts/RobotoCondensedLight-italic.fntdata"/><Relationship Id="rId16" Type="http://schemas.openxmlformats.org/officeDocument/2006/relationships/slide" Target="slides/slide11.xml"/><Relationship Id="rId38" Type="http://schemas.openxmlformats.org/officeDocument/2006/relationships/font" Target="fonts/RobotoCondensed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55d2cabac8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55d2cabac8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820c02357a5a692_3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h1820c02357a5a692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fr"/>
              <a:t>Account : permet de consulter ses comptes, créer un compte, retirer et déposer de l’argent</a:t>
            </a:r>
            <a:br>
              <a:rPr lang="fr"/>
            </a:br>
            <a:r>
              <a:rPr lang="fr"/>
              <a:t>Client : création de client et accès au détail d’un client</a:t>
            </a:r>
            <a:br>
              <a:rPr lang="fr"/>
            </a:br>
            <a:r>
              <a:rPr lang="fr"/>
              <a:t>Transaction : récupérer le détails des transactions d’un compte réalisées au travers du microservice account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5b271a668c0a4dc7_4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h5b271a668c0a4dc7_4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55d16254f0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55d16254f0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01 : moi</a:t>
            </a:r>
            <a:br>
              <a:rPr lang="fr"/>
            </a:br>
            <a:r>
              <a:rPr lang="fr"/>
              <a:t>02 : Enzo</a:t>
            </a:r>
            <a:br>
              <a:rPr lang="fr"/>
            </a:br>
            <a:r>
              <a:rPr lang="fr"/>
              <a:t>03 : Joris</a:t>
            </a:r>
            <a:br>
              <a:rPr lang="fr"/>
            </a:br>
            <a:r>
              <a:rPr lang="fr"/>
              <a:t>04 : Grégory</a:t>
            </a:r>
            <a:endParaRPr/>
          </a:p>
          <a:p>
            <a:pPr indent="0" lvl="0" marL="0" rtl="0" algn="l">
              <a:spcBef>
                <a:spcPts val="0"/>
              </a:spcBef>
              <a:spcAft>
                <a:spcPts val="0"/>
              </a:spcAft>
              <a:buNone/>
            </a:pPr>
            <a:r>
              <a:rPr lang="fr"/>
              <a:t>05 :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1820c02357a5a692_3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h1820c02357a5a692_3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1820c02357a5a692_3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h1820c02357a5a692_3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Java est un langage ancien et reconnu pour les applications métier lourdes et sécurisées (Java 21 dans le projet). Spring nous laisse nous concentrer sur le métier et gère tout ce qu'il y a autour : routes, sécurité, appels HTTP. Spring Boot embarque un serveur (Tomcat) dans l'exécutable : chaque service démarre tout seul avec mvn spring-boot:run. JPA est la spécification Java standard de persistance (annotations @Entity, @Id, @Column…) ; Hibernate en est l'implémentation utilisée ici, et Spring Data JPA génère les requêtes à partir du nom des méthodes (ex. findByClientId).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h1820c02357a5a692_3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h1820c02357a5a692_3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fr" sz="1100"/>
              <a:t>H2 est une base embarquée, idéale pour un projet de démonstration. Chaque micro-service possède sa petite base. Au démarrage, Hibernate crée/met à jour les tables (ddl-auto=update) puis data.sql vide et réinsère les données d'exemple.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1820c02357a5a692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h1820c02357a5a692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erreurs métier ou de données sont levées sous forme d'exceptions dédiées. Un @ControllerAdvice (GlobalExceptionHandler) les capture et renvoie une réponse JSON avec un code HTTP cohérent et un message pertinent. Les erreurs imprévues donnent un 500 générique, sans détail technique.</a:t>
            </a:r>
            <a:br>
              <a:rPr lang="fr" sz="1100"/>
            </a:br>
            <a:br>
              <a:rPr lang="fr" sz="1100"/>
            </a:br>
            <a:r>
              <a:rPr lang="fr" sz="1100"/>
              <a:t>Demandes CDC</a:t>
            </a:r>
            <a:br>
              <a:rPr lang="fr" sz="1100"/>
            </a:br>
            <a:r>
              <a:rPr lang="fr" sz="1100"/>
              <a:t>Cas à gérer :</a:t>
            </a:r>
            <a:endParaRPr sz="1100"/>
          </a:p>
          <a:p>
            <a:pPr indent="0" lvl="0" marL="0" rtl="0" algn="l">
              <a:lnSpc>
                <a:spcPct val="100000"/>
              </a:lnSpc>
              <a:spcBef>
                <a:spcPts val="0"/>
              </a:spcBef>
              <a:spcAft>
                <a:spcPts val="0"/>
              </a:spcAft>
              <a:buNone/>
            </a:pPr>
            <a:r>
              <a:rPr lang="fr" sz="1100"/>
              <a:t>- Solde insuffisant</a:t>
            </a:r>
            <a:endParaRPr sz="1100"/>
          </a:p>
          <a:p>
            <a:pPr indent="0" lvl="0" marL="0" rtl="0" algn="l">
              <a:lnSpc>
                <a:spcPct val="100000"/>
              </a:lnSpc>
              <a:spcBef>
                <a:spcPts val="0"/>
              </a:spcBef>
              <a:spcAft>
                <a:spcPts val="0"/>
              </a:spcAft>
              <a:buNone/>
            </a:pPr>
            <a:r>
              <a:rPr lang="fr" sz="1100"/>
              <a:t>- Compte bloqué</a:t>
            </a:r>
            <a:endParaRPr sz="1100"/>
          </a:p>
          <a:p>
            <a:pPr indent="0" lvl="0" marL="0" rtl="0" algn="l">
              <a:lnSpc>
                <a:spcPct val="100000"/>
              </a:lnSpc>
              <a:spcBef>
                <a:spcPts val="0"/>
              </a:spcBef>
              <a:spcAft>
                <a:spcPts val="0"/>
              </a:spcAft>
              <a:buNone/>
            </a:pPr>
            <a:r>
              <a:rPr lang="fr" sz="1100"/>
              <a:t>- Montant invalide (≤ 0)</a:t>
            </a:r>
            <a:endParaRPr sz="1100"/>
          </a:p>
          <a:p>
            <a:pPr indent="0" lvl="0" marL="0" rtl="0" algn="l">
              <a:lnSpc>
                <a:spcPct val="100000"/>
              </a:lnSpc>
              <a:spcBef>
                <a:spcPts val="0"/>
              </a:spcBef>
              <a:spcAft>
                <a:spcPts val="0"/>
              </a:spcAft>
              <a:buNone/>
            </a:pPr>
            <a:r>
              <a:rPr lang="fr" sz="1100"/>
              <a:t>- Compte inexistant</a:t>
            </a:r>
            <a:endParaRPr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lang="fr" sz="1100"/>
              <a:t>Contraintes :</a:t>
            </a:r>
            <a:endParaRPr sz="1100"/>
          </a:p>
          <a:p>
            <a:pPr indent="0" lvl="0" marL="0" rtl="0" algn="l">
              <a:lnSpc>
                <a:spcPct val="100000"/>
              </a:lnSpc>
              <a:spcBef>
                <a:spcPts val="0"/>
              </a:spcBef>
              <a:spcAft>
                <a:spcPts val="0"/>
              </a:spcAft>
              <a:buNone/>
            </a:pPr>
            <a:r>
              <a:rPr lang="fr" sz="1100"/>
              <a:t>- Exceptions métier dédiées</a:t>
            </a:r>
            <a:endParaRPr sz="1100"/>
          </a:p>
          <a:p>
            <a:pPr indent="0" lvl="0" marL="0" rtl="0" algn="l">
              <a:lnSpc>
                <a:spcPct val="100000"/>
              </a:lnSpc>
              <a:spcBef>
                <a:spcPts val="0"/>
              </a:spcBef>
              <a:spcAft>
                <a:spcPts val="0"/>
              </a:spcAft>
              <a:buNone/>
            </a:pPr>
            <a:r>
              <a:rPr lang="fr" sz="1100"/>
              <a:t>- Mapping vers codes HTTP (400 / 404 / 409)</a:t>
            </a:r>
            <a:endParaRPr sz="1100"/>
          </a:p>
          <a:p>
            <a:pPr indent="0" lvl="0" marL="0" rtl="0" algn="l">
              <a:lnSpc>
                <a:spcPct val="100000"/>
              </a:lnSpc>
              <a:spcBef>
                <a:spcPts val="0"/>
              </a:spcBef>
              <a:spcAft>
                <a:spcPts val="0"/>
              </a:spcAft>
              <a:buNone/>
            </a:pPr>
            <a:r>
              <a:rPr lang="fr" sz="1100"/>
              <a:t>- Handler global centralisé</a:t>
            </a:r>
            <a:endParaRPr sz="1100"/>
          </a:p>
          <a:p>
            <a:pPr indent="0" lvl="0" marL="0" rtl="0" algn="l">
              <a:lnSpc>
                <a:spcPct val="100000"/>
              </a:lnSpc>
              <a:spcBef>
                <a:spcPts val="0"/>
              </a:spcBef>
              <a:spcAft>
                <a:spcPts val="0"/>
              </a:spcAft>
              <a:buNone/>
            </a:pPr>
            <a:r>
              <a:rPr lang="fr" sz="1100"/>
              <a:t>- Aucun try/catch dans le domaine métier</a:t>
            </a:r>
            <a:br>
              <a:rPr lang="fr" sz="1100"/>
            </a:br>
            <a:br>
              <a:rPr lang="fr" sz="1100"/>
            </a:br>
            <a:r>
              <a:rPr lang="fr" sz="1100"/>
              <a:t>Nous avons </a:t>
            </a:r>
            <a:r>
              <a:rPr lang="fr"/>
              <a:t>créé nos propres exceptions, avec un message personnalisé pour chacune mais toujours associé à un code http clair et logique au vu de l’exception. Par exemple InvalidAmountException est retourné lorsqu’un chargé de clientèle cherche à ouvrir un compte pour son client avec un montant initial négatif. Cette demande passe par le controller et remonte jusqu’au coeur métier, qui lève une exception qui est ensuite “attrappée” dans notre GlobalExceptionHandler. Celui-ci permet de transformer l’exception en un retour clair pour le contrôleur avec un message JSON et le status approprié, ici 400 puisque le montant initial ne peut être négatif.</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1820c02357a5a692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h1820c02357a5a692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fr"/>
              <a:t>L</a:t>
            </a:r>
            <a:r>
              <a:rPr lang="fr" sz="1100"/>
              <a:t>e service Account est couvert par 9 tests unitaires JUnit 5. Grâce aux ports, on remplace le dépôt par un mock Mockito : pas besoin de base de données, les tests sont rapides. On vérifie les cas nominaux (dépôt, retrait) et les cas d'erreur (compte introuvable, accès interdit, montant négatif, découvert dépassé), ainsi que le fait qu'aucune sauvegarde n'a lieu quand un retrait échoue.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1820c02357a5a692_3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h1820c02357a5a692_3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1820c02357a5a692_3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h1820c02357a5a692_3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le front n'appelle qu'une seule porte d'entrée, l'API Gateway. </a:t>
            </a:r>
            <a:endParaRPr sz="1100"/>
          </a:p>
          <a:p>
            <a:pPr indent="0" lvl="0" marL="0" rtl="0" algn="l">
              <a:lnSpc>
                <a:spcPct val="100000"/>
              </a:lnSpc>
              <a:spcBef>
                <a:spcPts val="0"/>
              </a:spcBef>
              <a:spcAft>
                <a:spcPts val="0"/>
              </a:spcAft>
              <a:buNone/>
            </a:pPr>
            <a:r>
              <a:rPr lang="fr" sz="1100"/>
              <a:t>Elle vérifie le token puis aiguille vers le bon service. </a:t>
            </a:r>
            <a:endParaRPr sz="1100"/>
          </a:p>
          <a:p>
            <a:pPr indent="0" lvl="0" marL="0" rtl="0" algn="l">
              <a:lnSpc>
                <a:spcPct val="100000"/>
              </a:lnSpc>
              <a:spcBef>
                <a:spcPts val="0"/>
              </a:spcBef>
              <a:spcAft>
                <a:spcPts val="0"/>
              </a:spcAft>
              <a:buNone/>
            </a:pPr>
            <a:r>
              <a:rPr lang="fr" sz="1100"/>
              <a:t>Auth délivre le JWT en s'appuyant sur client-service pour vérifier les identifiants. </a:t>
            </a:r>
            <a:endParaRPr sz="1100"/>
          </a:p>
          <a:p>
            <a:pPr indent="0" lvl="0" marL="0" rtl="0" algn="l">
              <a:lnSpc>
                <a:spcPct val="100000"/>
              </a:lnSpc>
              <a:spcBef>
                <a:spcPts val="0"/>
              </a:spcBef>
              <a:spcAft>
                <a:spcPts val="0"/>
              </a:spcAft>
              <a:buNone/>
            </a:pPr>
            <a:r>
              <a:rPr lang="fr" sz="1100"/>
              <a:t>Account enregistre chaque dépôt/retrait auprès de transaction-service. </a:t>
            </a:r>
            <a:endParaRPr sz="1100"/>
          </a:p>
          <a:p>
            <a:pPr indent="0" lvl="0" marL="0" rtl="0" algn="l">
              <a:lnSpc>
                <a:spcPct val="100000"/>
              </a:lnSpc>
              <a:spcBef>
                <a:spcPts val="0"/>
              </a:spcBef>
              <a:spcAft>
                <a:spcPts val="0"/>
              </a:spcAft>
              <a:buNone/>
            </a:pPr>
            <a:r>
              <a:rPr lang="fr" sz="1100"/>
              <a:t>Client, Account et Transaction possèdent chacun leur propre base H2.</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1820c02357a5a692_3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h1820c02357a5a692_3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la gateway (Spring Cloud Gateway) intercepte toutes les requêtes. </a:t>
            </a:r>
            <a:endParaRPr sz="1100"/>
          </a:p>
          <a:p>
            <a:pPr indent="0" lvl="0" marL="0" rtl="0" algn="l">
              <a:lnSpc>
                <a:spcPct val="100000"/>
              </a:lnSpc>
              <a:spcBef>
                <a:spcPts val="0"/>
              </a:spcBef>
              <a:spcAft>
                <a:spcPts val="0"/>
              </a:spcAft>
              <a:buNone/>
            </a:pPr>
            <a:r>
              <a:rPr lang="fr" sz="1100"/>
              <a:t>Elle vérifie le JWT (signature HMAC-SHA256, scope accounts:read) sauf pour /auth/** qui reste public.</a:t>
            </a:r>
            <a:endParaRPr sz="1100"/>
          </a:p>
          <a:p>
            <a:pPr indent="0" lvl="0" marL="0" rtl="0" algn="l">
              <a:lnSpc>
                <a:spcPct val="100000"/>
              </a:lnSpc>
              <a:spcBef>
                <a:spcPts val="0"/>
              </a:spcBef>
              <a:spcAft>
                <a:spcPts val="0"/>
              </a:spcAft>
              <a:buNone/>
            </a:pPr>
            <a:r>
              <a:rPr lang="fr" sz="1100"/>
              <a:t> Le fichier application.yml décrit les routes : chaque préfixe d'URL est aiguillé vers le bon port.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1820c02357a5a692_3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h1820c02357a5a692_3_2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l'arborescence reflète directement l'hexagone. </a:t>
            </a:r>
            <a:endParaRPr sz="1100"/>
          </a:p>
          <a:p>
            <a:pPr indent="0" lvl="0" marL="0" rtl="0" algn="l">
              <a:lnSpc>
                <a:spcPct val="100000"/>
              </a:lnSpc>
              <a:spcBef>
                <a:spcPts val="0"/>
              </a:spcBef>
              <a:spcAft>
                <a:spcPts val="0"/>
              </a:spcAft>
              <a:buNone/>
            </a:pPr>
            <a:r>
              <a:rPr lang="fr" sz="1100"/>
              <a:t>domain/ contient le cœur métier : les modèles (Account, CurrentAccount…) et les ports. </a:t>
            </a:r>
            <a:endParaRPr sz="1100"/>
          </a:p>
          <a:p>
            <a:pPr indent="0" lvl="0" marL="0" rtl="0" algn="l">
              <a:lnSpc>
                <a:spcPct val="100000"/>
              </a:lnSpc>
              <a:spcBef>
                <a:spcPts val="0"/>
              </a:spcBef>
              <a:spcAft>
                <a:spcPts val="0"/>
              </a:spcAft>
              <a:buNone/>
            </a:pPr>
            <a:r>
              <a:rPr lang="fr" sz="1100"/>
              <a:t>application/ contient les services qui implémentent les cas d'utilisation. </a:t>
            </a:r>
            <a:endParaRPr sz="1100"/>
          </a:p>
          <a:p>
            <a:pPr indent="0" lvl="0" marL="0" rtl="0" algn="l">
              <a:lnSpc>
                <a:spcPct val="100000"/>
              </a:lnSpc>
              <a:spcBef>
                <a:spcPts val="0"/>
              </a:spcBef>
              <a:spcAft>
                <a:spcPts val="0"/>
              </a:spcAft>
              <a:buNone/>
            </a:pPr>
            <a:r>
              <a:rPr lang="fr" sz="1100"/>
              <a:t>adapter/ et controller/ contiennent tout le code couplé à la technique.</a:t>
            </a:r>
            <a:endParaRPr sz="1100"/>
          </a:p>
          <a:p>
            <a:pPr indent="0" lvl="0" marL="0" rtl="0" algn="l">
              <a:lnSpc>
                <a:spcPct val="100000"/>
              </a:lnSpc>
              <a:spcBef>
                <a:spcPts val="0"/>
              </a:spcBef>
              <a:spcAft>
                <a:spcPts val="0"/>
              </a:spcAft>
              <a:buNone/>
            </a:pPr>
            <a:r>
              <a:rPr lang="fr" sz="1100"/>
              <a:t>Le domaine n'a aucune dépendance à Spring, à JPA ou à la base : ses entités sont des objets Java simples qui représentent la donnée telle qu'elle est.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1820c02357a5a692_3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h1820c02357a5a692_3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exemple concret de règle métier dans CurrentAccount.</a:t>
            </a:r>
            <a:endParaRPr sz="1100"/>
          </a:p>
          <a:p>
            <a:pPr indent="0" lvl="0" marL="0" rtl="0" algn="l">
              <a:lnSpc>
                <a:spcPct val="100000"/>
              </a:lnSpc>
              <a:spcBef>
                <a:spcPts val="0"/>
              </a:spcBef>
              <a:spcAft>
                <a:spcPts val="0"/>
              </a:spcAft>
              <a:buNone/>
            </a:pPr>
            <a:r>
              <a:rPr lang="fr" sz="1100"/>
              <a:t> Le retrait vérifie le montant et le découvert autorisé ; si la règle est violée, le domaine lève une exception métier. </a:t>
            </a:r>
            <a:endParaRPr sz="1100"/>
          </a:p>
          <a:p>
            <a:pPr indent="0" lvl="0" marL="0" rtl="0" algn="l">
              <a:lnSpc>
                <a:spcPct val="100000"/>
              </a:lnSpc>
              <a:spcBef>
                <a:spcPts val="0"/>
              </a:spcBef>
              <a:spcAft>
                <a:spcPts val="0"/>
              </a:spcAft>
              <a:buNone/>
            </a:pPr>
            <a:r>
              <a:rPr lang="fr" sz="1100"/>
              <a:t>Aucun import Spring ou JPA : c'est du Java pur, testable instantanément.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1820c02357a5a692_3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h1820c02357a5a692_3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fr" sz="1100"/>
              <a:t>les ports IN représentent les cas d'utilisation demandés par le métier, sans lien avec la technique. </a:t>
            </a:r>
            <a:endParaRPr sz="1100"/>
          </a:p>
          <a:p>
            <a:pPr indent="0" lvl="0" marL="0" rtl="0" algn="l">
              <a:lnSpc>
                <a:spcPct val="100000"/>
              </a:lnSpc>
              <a:spcBef>
                <a:spcPts val="0"/>
              </a:spcBef>
              <a:spcAft>
                <a:spcPts val="0"/>
              </a:spcAft>
              <a:buNone/>
            </a:pPr>
            <a:r>
              <a:rPr lang="fr" sz="1100"/>
              <a:t>Exemple : « je veux voir le compte n°XXX ». </a:t>
            </a:r>
            <a:endParaRPr sz="1100"/>
          </a:p>
          <a:p>
            <a:pPr indent="0" lvl="0" marL="0" rtl="0" algn="l">
              <a:lnSpc>
                <a:spcPct val="100000"/>
              </a:lnSpc>
              <a:spcBef>
                <a:spcPts val="0"/>
              </a:spcBef>
              <a:spcAft>
                <a:spcPts val="0"/>
              </a:spcAft>
              <a:buNone/>
            </a:pPr>
            <a:r>
              <a:rPr lang="fr" sz="1100"/>
              <a:t>Le service implémente l'interface, ce qui le force à répondre exactement à ce besoin : pas de divergence possible.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1820c02357a5a692_3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h1820c02357a5a692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fr" sz="1100"/>
              <a:t>les ports OUT décrivent exactement les méthodes de persistance ou d'appel externe dont le métier a besoin. </a:t>
            </a:r>
            <a:endParaRPr sz="1100"/>
          </a:p>
          <a:p>
            <a:pPr indent="0" lvl="0" marL="457200" rtl="0" algn="l">
              <a:lnSpc>
                <a:spcPct val="100000"/>
              </a:lnSpc>
              <a:spcBef>
                <a:spcPts val="0"/>
              </a:spcBef>
              <a:spcAft>
                <a:spcPts val="0"/>
              </a:spcAft>
              <a:buNone/>
            </a:pPr>
            <a:r>
              <a:rPr lang="fr" sz="1100"/>
              <a:t>Ce sont de simples interfaces, sans aucune dépendance : des « miroirs » des méthodes qui, elles, porteront les dépendances. </a:t>
            </a:r>
            <a:endParaRPr sz="1100"/>
          </a:p>
          <a:p>
            <a:pPr indent="0" lvl="0" marL="457200" rtl="0" algn="l">
              <a:lnSpc>
                <a:spcPct val="100000"/>
              </a:lnSpc>
              <a:spcBef>
                <a:spcPts val="0"/>
              </a:spcBef>
              <a:spcAft>
                <a:spcPts val="0"/>
              </a:spcAft>
              <a:buNone/>
            </a:pPr>
            <a:r>
              <a:rPr lang="fr" sz="1100"/>
              <a:t>Le service qui répond à « je veux déposer sur ce compte » utilise un ou plusieurs ports OUT pour récupérer, sauvegarder et historiser.</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h1820c02357a5a692_3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h1820c02357a5a692_3_3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h1820c02357a5a692_3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h1820c02357a5a692_3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h1820c02357a5a692_3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h1820c02357a5a692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h1820c02357a5a692_3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h1820c02357a5a692_3_3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h1820c02357a5a692_3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h1820c02357a5a692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1820c02357a5a692_3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h1820c02357a5a692_3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h5b271a668c0a4dc7_4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h5b271a668c0a4dc7_4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h1820c02357a5a692_3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h1820c02357a5a692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h1820c02357a5a692_3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h1820c02357a5a692_3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type="title">
  <p:cSld name="TITLE">
    <p:bg>
      <p:bgPr>
        <a:gradFill>
          <a:gsLst>
            <a:gs pos="0">
              <a:srgbClr val="05C4C4"/>
            </a:gs>
            <a:gs pos="100000">
              <a:srgbClr val="613FB8"/>
            </a:gs>
          </a:gsLst>
          <a:lin ang="5400700" scaled="0"/>
        </a:gra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1254"/>
          <a:stretch/>
        </p:blipFill>
        <p:spPr>
          <a:xfrm>
            <a:off x="75" y="0"/>
            <a:ext cx="9144000" cy="5078876"/>
          </a:xfrm>
          <a:prstGeom prst="rect">
            <a:avLst/>
          </a:prstGeom>
          <a:noFill/>
          <a:ln>
            <a:noFill/>
          </a:ln>
        </p:spPr>
      </p:pic>
      <p:sp>
        <p:nvSpPr>
          <p:cNvPr id="11" name="Google Shape;11;p2"/>
          <p:cNvSpPr txBox="1"/>
          <p:nvPr>
            <p:ph type="ctrTitle"/>
          </p:nvPr>
        </p:nvSpPr>
        <p:spPr>
          <a:xfrm flipH="1">
            <a:off x="1375550" y="3092475"/>
            <a:ext cx="63930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6000"/>
              <a:buNone/>
              <a:defRPr sz="6000">
                <a:solidFill>
                  <a:schemeClr val="dk2"/>
                </a:solidFill>
              </a:defRPr>
            </a:lvl1pPr>
            <a:lvl2pPr lvl="1" rtl="0" algn="ctr">
              <a:spcBef>
                <a:spcPts val="0"/>
              </a:spcBef>
              <a:spcAft>
                <a:spcPts val="0"/>
              </a:spcAft>
              <a:buClr>
                <a:schemeClr val="dk2"/>
              </a:buClr>
              <a:buSzPts val="5200"/>
              <a:buNone/>
              <a:defRPr sz="5200">
                <a:solidFill>
                  <a:schemeClr val="dk2"/>
                </a:solidFill>
              </a:defRPr>
            </a:lvl2pPr>
            <a:lvl3pPr lvl="2" rtl="0" algn="ctr">
              <a:spcBef>
                <a:spcPts val="0"/>
              </a:spcBef>
              <a:spcAft>
                <a:spcPts val="0"/>
              </a:spcAft>
              <a:buClr>
                <a:schemeClr val="dk2"/>
              </a:buClr>
              <a:buSzPts val="5200"/>
              <a:buNone/>
              <a:defRPr sz="5200">
                <a:solidFill>
                  <a:schemeClr val="dk2"/>
                </a:solidFill>
              </a:defRPr>
            </a:lvl3pPr>
            <a:lvl4pPr lvl="3" rtl="0" algn="ctr">
              <a:spcBef>
                <a:spcPts val="0"/>
              </a:spcBef>
              <a:spcAft>
                <a:spcPts val="0"/>
              </a:spcAft>
              <a:buClr>
                <a:schemeClr val="dk2"/>
              </a:buClr>
              <a:buSzPts val="5200"/>
              <a:buNone/>
              <a:defRPr sz="5200">
                <a:solidFill>
                  <a:schemeClr val="dk2"/>
                </a:solidFill>
              </a:defRPr>
            </a:lvl4pPr>
            <a:lvl5pPr lvl="4" rtl="0" algn="ctr">
              <a:spcBef>
                <a:spcPts val="0"/>
              </a:spcBef>
              <a:spcAft>
                <a:spcPts val="0"/>
              </a:spcAft>
              <a:buClr>
                <a:schemeClr val="dk2"/>
              </a:buClr>
              <a:buSzPts val="5200"/>
              <a:buNone/>
              <a:defRPr sz="5200">
                <a:solidFill>
                  <a:schemeClr val="dk2"/>
                </a:solidFill>
              </a:defRPr>
            </a:lvl5pPr>
            <a:lvl6pPr lvl="5" rtl="0" algn="ctr">
              <a:spcBef>
                <a:spcPts val="0"/>
              </a:spcBef>
              <a:spcAft>
                <a:spcPts val="0"/>
              </a:spcAft>
              <a:buClr>
                <a:schemeClr val="dk2"/>
              </a:buClr>
              <a:buSzPts val="5200"/>
              <a:buNone/>
              <a:defRPr sz="5200">
                <a:solidFill>
                  <a:schemeClr val="dk2"/>
                </a:solidFill>
              </a:defRPr>
            </a:lvl6pPr>
            <a:lvl7pPr lvl="6" rtl="0" algn="ctr">
              <a:spcBef>
                <a:spcPts val="0"/>
              </a:spcBef>
              <a:spcAft>
                <a:spcPts val="0"/>
              </a:spcAft>
              <a:buClr>
                <a:schemeClr val="dk2"/>
              </a:buClr>
              <a:buSzPts val="5200"/>
              <a:buNone/>
              <a:defRPr sz="5200">
                <a:solidFill>
                  <a:schemeClr val="dk2"/>
                </a:solidFill>
              </a:defRPr>
            </a:lvl7pPr>
            <a:lvl8pPr lvl="7" rtl="0" algn="ctr">
              <a:spcBef>
                <a:spcPts val="0"/>
              </a:spcBef>
              <a:spcAft>
                <a:spcPts val="0"/>
              </a:spcAft>
              <a:buClr>
                <a:schemeClr val="dk2"/>
              </a:buClr>
              <a:buSzPts val="5200"/>
              <a:buNone/>
              <a:defRPr sz="5200">
                <a:solidFill>
                  <a:schemeClr val="dk2"/>
                </a:solidFill>
              </a:defRPr>
            </a:lvl8pPr>
            <a:lvl9pPr lvl="8" rtl="0" algn="ctr">
              <a:spcBef>
                <a:spcPts val="0"/>
              </a:spcBef>
              <a:spcAft>
                <a:spcPts val="0"/>
              </a:spcAft>
              <a:buClr>
                <a:schemeClr val="dk2"/>
              </a:buClr>
              <a:buSzPts val="5200"/>
              <a:buNone/>
              <a:defRPr sz="5200">
                <a:solidFill>
                  <a:schemeClr val="dk2"/>
                </a:solidFill>
              </a:defRPr>
            </a:lvl9pPr>
          </a:lstStyle>
          <a:p/>
        </p:txBody>
      </p:sp>
      <p:sp>
        <p:nvSpPr>
          <p:cNvPr id="12" name="Google Shape;12;p2"/>
          <p:cNvSpPr txBox="1"/>
          <p:nvPr>
            <p:ph idx="1" type="subTitle"/>
          </p:nvPr>
        </p:nvSpPr>
        <p:spPr>
          <a:xfrm flipH="1">
            <a:off x="2750257" y="3636375"/>
            <a:ext cx="3643500" cy="67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sz="1400">
                <a:solidFill>
                  <a:schemeClr val="dk2"/>
                </a:solidFill>
              </a:defRPr>
            </a:lvl2pPr>
            <a:lvl3pPr lvl="2" rtl="0" algn="ctr">
              <a:lnSpc>
                <a:spcPct val="100000"/>
              </a:lnSpc>
              <a:spcBef>
                <a:spcPts val="0"/>
              </a:spcBef>
              <a:spcAft>
                <a:spcPts val="0"/>
              </a:spcAft>
              <a:buClr>
                <a:schemeClr val="dk2"/>
              </a:buClr>
              <a:buSzPts val="1400"/>
              <a:buNone/>
              <a:defRPr sz="1400">
                <a:solidFill>
                  <a:schemeClr val="dk2"/>
                </a:solidFill>
              </a:defRPr>
            </a:lvl3pPr>
            <a:lvl4pPr lvl="3" rtl="0" algn="ctr">
              <a:lnSpc>
                <a:spcPct val="100000"/>
              </a:lnSpc>
              <a:spcBef>
                <a:spcPts val="0"/>
              </a:spcBef>
              <a:spcAft>
                <a:spcPts val="0"/>
              </a:spcAft>
              <a:buClr>
                <a:schemeClr val="dk2"/>
              </a:buClr>
              <a:buSzPts val="1400"/>
              <a:buNone/>
              <a:defRPr sz="1400">
                <a:solidFill>
                  <a:schemeClr val="dk2"/>
                </a:solidFill>
              </a:defRPr>
            </a:lvl4pPr>
            <a:lvl5pPr lvl="4" rtl="0" algn="ctr">
              <a:lnSpc>
                <a:spcPct val="100000"/>
              </a:lnSpc>
              <a:spcBef>
                <a:spcPts val="0"/>
              </a:spcBef>
              <a:spcAft>
                <a:spcPts val="0"/>
              </a:spcAft>
              <a:buClr>
                <a:schemeClr val="dk2"/>
              </a:buClr>
              <a:buSzPts val="1400"/>
              <a:buNone/>
              <a:defRPr sz="1400">
                <a:solidFill>
                  <a:schemeClr val="dk2"/>
                </a:solidFill>
              </a:defRPr>
            </a:lvl5pPr>
            <a:lvl6pPr lvl="5" rtl="0" algn="ctr">
              <a:lnSpc>
                <a:spcPct val="100000"/>
              </a:lnSpc>
              <a:spcBef>
                <a:spcPts val="0"/>
              </a:spcBef>
              <a:spcAft>
                <a:spcPts val="0"/>
              </a:spcAft>
              <a:buClr>
                <a:schemeClr val="dk2"/>
              </a:buClr>
              <a:buSzPts val="1400"/>
              <a:buNone/>
              <a:defRPr sz="1400">
                <a:solidFill>
                  <a:schemeClr val="dk2"/>
                </a:solidFill>
              </a:defRPr>
            </a:lvl6pPr>
            <a:lvl7pPr lvl="6" rtl="0" algn="ctr">
              <a:lnSpc>
                <a:spcPct val="100000"/>
              </a:lnSpc>
              <a:spcBef>
                <a:spcPts val="0"/>
              </a:spcBef>
              <a:spcAft>
                <a:spcPts val="0"/>
              </a:spcAft>
              <a:buClr>
                <a:schemeClr val="dk2"/>
              </a:buClr>
              <a:buSzPts val="1400"/>
              <a:buNone/>
              <a:defRPr sz="1400">
                <a:solidFill>
                  <a:schemeClr val="dk2"/>
                </a:solidFill>
              </a:defRPr>
            </a:lvl7pPr>
            <a:lvl8pPr lvl="7" rtl="0" algn="ctr">
              <a:lnSpc>
                <a:spcPct val="100000"/>
              </a:lnSpc>
              <a:spcBef>
                <a:spcPts val="0"/>
              </a:spcBef>
              <a:spcAft>
                <a:spcPts val="0"/>
              </a:spcAft>
              <a:buClr>
                <a:schemeClr val="dk2"/>
              </a:buClr>
              <a:buSzPts val="1400"/>
              <a:buNone/>
              <a:defRPr sz="1400">
                <a:solidFill>
                  <a:schemeClr val="dk2"/>
                </a:solidFill>
              </a:defRPr>
            </a:lvl8pPr>
            <a:lvl9pPr lvl="8" rtl="0" algn="ctr">
              <a:lnSpc>
                <a:spcPct val="100000"/>
              </a:lnSpc>
              <a:spcBef>
                <a:spcPts val="0"/>
              </a:spcBef>
              <a:spcAft>
                <a:spcPts val="0"/>
              </a:spcAft>
              <a:buClr>
                <a:schemeClr val="dk2"/>
              </a:buClr>
              <a:buSzPts val="1400"/>
              <a:buNone/>
              <a:defRPr sz="1400">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bg>
      <p:bgPr>
        <a:gradFill>
          <a:gsLst>
            <a:gs pos="0">
              <a:srgbClr val="05C4C4"/>
            </a:gs>
            <a:gs pos="100000">
              <a:srgbClr val="613FB8"/>
            </a:gs>
          </a:gsLst>
          <a:lin ang="5400700" scaled="0"/>
        </a:gradFill>
      </p:bgPr>
    </p:bg>
    <p:spTree>
      <p:nvGrpSpPr>
        <p:cNvPr id="13" name="Shape 13"/>
        <p:cNvGrpSpPr/>
        <p:nvPr/>
      </p:nvGrpSpPr>
      <p:grpSpPr>
        <a:xfrm>
          <a:off x="0" y="0"/>
          <a:ext cx="0" cy="0"/>
          <a:chOff x="0" y="0"/>
          <a:chExt cx="0" cy="0"/>
        </a:xfrm>
      </p:grpSpPr>
      <p:sp>
        <p:nvSpPr>
          <p:cNvPr id="14" name="Google Shape;14;p3"/>
          <p:cNvSpPr txBox="1"/>
          <p:nvPr>
            <p:ph type="ctrTitle"/>
          </p:nvPr>
        </p:nvSpPr>
        <p:spPr>
          <a:xfrm>
            <a:off x="1690457" y="20400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5" name="Google Shape;15;p3"/>
          <p:cNvSpPr txBox="1"/>
          <p:nvPr>
            <p:ph idx="1" type="subTitle"/>
          </p:nvPr>
        </p:nvSpPr>
        <p:spPr>
          <a:xfrm>
            <a:off x="2051807" y="25014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16" name="Google Shape;16;p3"/>
          <p:cNvSpPr txBox="1"/>
          <p:nvPr>
            <p:ph idx="2" type="ctrTitle"/>
          </p:nvPr>
        </p:nvSpPr>
        <p:spPr>
          <a:xfrm>
            <a:off x="1690457" y="3587138"/>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7" name="Google Shape;17;p3"/>
          <p:cNvSpPr txBox="1"/>
          <p:nvPr>
            <p:ph idx="3" type="subTitle"/>
          </p:nvPr>
        </p:nvSpPr>
        <p:spPr>
          <a:xfrm>
            <a:off x="20518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18" name="Google Shape;18;p3"/>
          <p:cNvSpPr txBox="1"/>
          <p:nvPr>
            <p:ph idx="4" type="ctrTitle"/>
          </p:nvPr>
        </p:nvSpPr>
        <p:spPr>
          <a:xfrm>
            <a:off x="4824357" y="20400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9" name="Google Shape;19;p3"/>
          <p:cNvSpPr txBox="1"/>
          <p:nvPr>
            <p:ph idx="5" type="subTitle"/>
          </p:nvPr>
        </p:nvSpPr>
        <p:spPr>
          <a:xfrm>
            <a:off x="5185707" y="25014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20" name="Google Shape;20;p3"/>
          <p:cNvSpPr txBox="1"/>
          <p:nvPr>
            <p:ph idx="6" type="ctrTitle"/>
          </p:nvPr>
        </p:nvSpPr>
        <p:spPr>
          <a:xfrm>
            <a:off x="4824357" y="3587138"/>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21" name="Google Shape;21;p3"/>
          <p:cNvSpPr txBox="1"/>
          <p:nvPr>
            <p:ph idx="7" type="subTitle"/>
          </p:nvPr>
        </p:nvSpPr>
        <p:spPr>
          <a:xfrm>
            <a:off x="5185707" y="40486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22" name="Google Shape;22;p3"/>
          <p:cNvSpPr txBox="1"/>
          <p:nvPr>
            <p:ph idx="8" type="ctrTitle"/>
          </p:nvPr>
        </p:nvSpPr>
        <p:spPr>
          <a:xfrm>
            <a:off x="1122278" y="401450"/>
            <a:ext cx="6899400" cy="946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3" name="Google Shape;23;p3"/>
          <p:cNvSpPr txBox="1"/>
          <p:nvPr>
            <p:ph hasCustomPrompt="1" idx="9" type="title"/>
          </p:nvPr>
        </p:nvSpPr>
        <p:spPr>
          <a:xfrm>
            <a:off x="2128157" y="1619437"/>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800"/>
              <a:buNone/>
              <a:defRPr sz="48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24" name="Google Shape;24;p3"/>
          <p:cNvSpPr txBox="1"/>
          <p:nvPr>
            <p:ph hasCustomPrompt="1" idx="13" type="title"/>
          </p:nvPr>
        </p:nvSpPr>
        <p:spPr>
          <a:xfrm>
            <a:off x="2128157" y="316656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800"/>
              <a:buNone/>
              <a:defRPr sz="48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25" name="Google Shape;25;p3"/>
          <p:cNvSpPr txBox="1"/>
          <p:nvPr>
            <p:ph hasCustomPrompt="1" idx="14" type="title"/>
          </p:nvPr>
        </p:nvSpPr>
        <p:spPr>
          <a:xfrm>
            <a:off x="5262057" y="1619437"/>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800"/>
              <a:buNone/>
              <a:defRPr sz="48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26" name="Google Shape;26;p3"/>
          <p:cNvSpPr txBox="1"/>
          <p:nvPr>
            <p:ph hasCustomPrompt="1" idx="15" type="title"/>
          </p:nvPr>
        </p:nvSpPr>
        <p:spPr>
          <a:xfrm>
            <a:off x="5262057" y="3166562"/>
            <a:ext cx="17538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800"/>
              <a:buNone/>
              <a:defRPr sz="48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27" name="Google Shape;27;p3"/>
          <p:cNvCxnSpPr/>
          <p:nvPr/>
        </p:nvCxnSpPr>
        <p:spPr>
          <a:xfrm>
            <a:off x="2273400" y="2242363"/>
            <a:ext cx="4597200" cy="0"/>
          </a:xfrm>
          <a:prstGeom prst="straightConnector1">
            <a:avLst/>
          </a:prstGeom>
          <a:noFill/>
          <a:ln cap="flat" cmpd="sng" w="19050">
            <a:solidFill>
              <a:schemeClr val="dk2"/>
            </a:solidFill>
            <a:prstDash val="solid"/>
            <a:round/>
            <a:headEnd len="med" w="med" type="none"/>
            <a:tailEnd len="med" w="med" type="none"/>
          </a:ln>
        </p:spPr>
      </p:cxnSp>
      <p:cxnSp>
        <p:nvCxnSpPr>
          <p:cNvPr id="28" name="Google Shape;28;p3"/>
          <p:cNvCxnSpPr/>
          <p:nvPr/>
        </p:nvCxnSpPr>
        <p:spPr>
          <a:xfrm>
            <a:off x="2273400" y="3804313"/>
            <a:ext cx="45972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2_1">
    <p:bg>
      <p:bgPr>
        <a:gradFill>
          <a:gsLst>
            <a:gs pos="0">
              <a:srgbClr val="05C4C4"/>
            </a:gs>
            <a:gs pos="100000">
              <a:srgbClr val="613FB8"/>
            </a:gs>
          </a:gsLst>
          <a:lin ang="5400700" scaled="0"/>
        </a:gradFill>
      </p:bgPr>
    </p:bg>
    <p:spTree>
      <p:nvGrpSpPr>
        <p:cNvPr id="29"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
        <p:nvSpPr>
          <p:cNvPr id="31" name="Google Shape;31;p4"/>
          <p:cNvSpPr txBox="1"/>
          <p:nvPr>
            <p:ph type="ctrTitle"/>
          </p:nvPr>
        </p:nvSpPr>
        <p:spPr>
          <a:xfrm flipH="1">
            <a:off x="-100" y="507400"/>
            <a:ext cx="8394900" cy="6705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 TEXT">
  <p:cSld name="CUSTOM_2_1_2">
    <p:bg>
      <p:bgPr>
        <a:gradFill>
          <a:gsLst>
            <a:gs pos="0">
              <a:srgbClr val="05C4C4"/>
            </a:gs>
            <a:gs pos="100000">
              <a:srgbClr val="613FB8"/>
            </a:gs>
          </a:gsLst>
          <a:lin ang="5400700" scaled="0"/>
        </a:gradFill>
      </p:bgPr>
    </p:bg>
    <p:spTree>
      <p:nvGrpSpPr>
        <p:cNvPr id="32" name="Shape 32"/>
        <p:cNvGrpSpPr/>
        <p:nvPr/>
      </p:nvGrpSpPr>
      <p:grpSpPr>
        <a:xfrm>
          <a:off x="0" y="0"/>
          <a:ext cx="0" cy="0"/>
          <a:chOff x="0" y="0"/>
          <a:chExt cx="0" cy="0"/>
        </a:xfrm>
      </p:grpSpPr>
      <p:pic>
        <p:nvPicPr>
          <p:cNvPr id="33" name="Google Shape;33;p5"/>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
        <p:nvSpPr>
          <p:cNvPr id="34" name="Google Shape;34;p5"/>
          <p:cNvSpPr txBox="1"/>
          <p:nvPr>
            <p:ph type="ctrTitle"/>
          </p:nvPr>
        </p:nvSpPr>
        <p:spPr>
          <a:xfrm flipH="1">
            <a:off x="-100" y="507400"/>
            <a:ext cx="8394900" cy="6705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
        <p:nvSpPr>
          <p:cNvPr id="35" name="Google Shape;35;p5"/>
          <p:cNvSpPr/>
          <p:nvPr/>
        </p:nvSpPr>
        <p:spPr>
          <a:xfrm>
            <a:off x="6603225" y="2224175"/>
            <a:ext cx="2058600" cy="90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         </a:t>
            </a:r>
            <a:endParaRPr/>
          </a:p>
        </p:txBody>
      </p:sp>
      <p:sp>
        <p:nvSpPr>
          <p:cNvPr id="36" name="Google Shape;36;p5"/>
          <p:cNvSpPr txBox="1"/>
          <p:nvPr>
            <p:ph hasCustomPrompt="1" idx="2" type="title"/>
          </p:nvPr>
        </p:nvSpPr>
        <p:spPr>
          <a:xfrm>
            <a:off x="6786025" y="234187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37" name="Google Shape;37;p5"/>
          <p:cNvSpPr txBox="1"/>
          <p:nvPr>
            <p:ph idx="1" type="subTitle"/>
          </p:nvPr>
        </p:nvSpPr>
        <p:spPr>
          <a:xfrm>
            <a:off x="6679232" y="27592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38" name="Google Shape;38;p5"/>
          <p:cNvSpPr/>
          <p:nvPr/>
        </p:nvSpPr>
        <p:spPr>
          <a:xfrm>
            <a:off x="4439025" y="2224175"/>
            <a:ext cx="2058600" cy="90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         </a:t>
            </a:r>
            <a:endParaRPr/>
          </a:p>
        </p:txBody>
      </p:sp>
      <p:sp>
        <p:nvSpPr>
          <p:cNvPr id="39" name="Google Shape;39;p5"/>
          <p:cNvSpPr txBox="1"/>
          <p:nvPr>
            <p:ph hasCustomPrompt="1" idx="3" type="title"/>
          </p:nvPr>
        </p:nvSpPr>
        <p:spPr>
          <a:xfrm>
            <a:off x="4621825" y="234187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40" name="Google Shape;40;p5"/>
          <p:cNvSpPr txBox="1"/>
          <p:nvPr>
            <p:ph idx="4" type="subTitle"/>
          </p:nvPr>
        </p:nvSpPr>
        <p:spPr>
          <a:xfrm>
            <a:off x="4515032" y="27592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41" name="Google Shape;41;p5"/>
          <p:cNvSpPr/>
          <p:nvPr/>
        </p:nvSpPr>
        <p:spPr>
          <a:xfrm>
            <a:off x="6603225" y="3249050"/>
            <a:ext cx="2058600" cy="90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         </a:t>
            </a:r>
            <a:endParaRPr/>
          </a:p>
        </p:txBody>
      </p:sp>
      <p:sp>
        <p:nvSpPr>
          <p:cNvPr id="42" name="Google Shape;42;p5"/>
          <p:cNvSpPr txBox="1"/>
          <p:nvPr>
            <p:ph hasCustomPrompt="1" idx="5" type="title"/>
          </p:nvPr>
        </p:nvSpPr>
        <p:spPr>
          <a:xfrm>
            <a:off x="6786025" y="3366750"/>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43" name="Google Shape;43;p5"/>
          <p:cNvSpPr txBox="1"/>
          <p:nvPr>
            <p:ph idx="6" type="subTitle"/>
          </p:nvPr>
        </p:nvSpPr>
        <p:spPr>
          <a:xfrm>
            <a:off x="6679232" y="37841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44" name="Google Shape;44;p5"/>
          <p:cNvSpPr/>
          <p:nvPr/>
        </p:nvSpPr>
        <p:spPr>
          <a:xfrm>
            <a:off x="4439025" y="3249050"/>
            <a:ext cx="2058600" cy="90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         </a:t>
            </a:r>
            <a:endParaRPr/>
          </a:p>
        </p:txBody>
      </p:sp>
      <p:sp>
        <p:nvSpPr>
          <p:cNvPr id="45" name="Google Shape;45;p5"/>
          <p:cNvSpPr txBox="1"/>
          <p:nvPr>
            <p:ph hasCustomPrompt="1" idx="7" type="title"/>
          </p:nvPr>
        </p:nvSpPr>
        <p:spPr>
          <a:xfrm>
            <a:off x="4621825" y="3366750"/>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46" name="Google Shape;46;p5"/>
          <p:cNvSpPr txBox="1"/>
          <p:nvPr>
            <p:ph idx="8" type="subTitle"/>
          </p:nvPr>
        </p:nvSpPr>
        <p:spPr>
          <a:xfrm>
            <a:off x="4515032" y="3784100"/>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47" name="Google Shape;47;p5"/>
          <p:cNvSpPr/>
          <p:nvPr/>
        </p:nvSpPr>
        <p:spPr>
          <a:xfrm>
            <a:off x="1515950" y="1321325"/>
            <a:ext cx="2058600" cy="9027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a:t>         </a:t>
            </a:r>
            <a:endParaRPr/>
          </a:p>
        </p:txBody>
      </p:sp>
      <p:sp>
        <p:nvSpPr>
          <p:cNvPr id="48" name="Google Shape;48;p5"/>
          <p:cNvSpPr txBox="1"/>
          <p:nvPr>
            <p:ph hasCustomPrompt="1" idx="9" type="title"/>
          </p:nvPr>
        </p:nvSpPr>
        <p:spPr>
          <a:xfrm>
            <a:off x="1698750" y="1439025"/>
            <a:ext cx="1692900" cy="453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Clr>
                <a:schemeClr val="dk2"/>
              </a:buClr>
              <a:buSzPts val="4800"/>
              <a:buFont typeface="Fira Sans Extra Condensed Medium"/>
              <a:buNone/>
              <a:defRPr sz="4800">
                <a:solidFill>
                  <a:schemeClr val="dk2"/>
                </a:solidFill>
                <a:latin typeface="Fira Sans Extra Condensed Medium"/>
                <a:ea typeface="Fira Sans Extra Condensed Medium"/>
                <a:cs typeface="Fira Sans Extra Condensed Medium"/>
                <a:sym typeface="Fira Sans Extra Condensed Medium"/>
              </a:defRPr>
            </a:lvl9pPr>
          </a:lstStyle>
          <a:p>
            <a:r>
              <a:t>xx%</a:t>
            </a:r>
          </a:p>
        </p:txBody>
      </p:sp>
      <p:sp>
        <p:nvSpPr>
          <p:cNvPr id="49" name="Google Shape;49;p5"/>
          <p:cNvSpPr txBox="1"/>
          <p:nvPr>
            <p:ph idx="13" type="subTitle"/>
          </p:nvPr>
        </p:nvSpPr>
        <p:spPr>
          <a:xfrm>
            <a:off x="1591957" y="18563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2_1_1">
    <p:bg>
      <p:bgPr>
        <a:gradFill>
          <a:gsLst>
            <a:gs pos="0">
              <a:srgbClr val="05C4C4"/>
            </a:gs>
            <a:gs pos="100000">
              <a:srgbClr val="613FB8"/>
            </a:gs>
          </a:gsLst>
          <a:lin ang="5400700" scaled="0"/>
        </a:gradFill>
      </p:bgPr>
    </p:bg>
    <p:spTree>
      <p:nvGrpSpPr>
        <p:cNvPr id="50" name="Shape 50"/>
        <p:cNvGrpSpPr/>
        <p:nvPr/>
      </p:nvGrpSpPr>
      <p:grpSpPr>
        <a:xfrm>
          <a:off x="0" y="0"/>
          <a:ext cx="0" cy="0"/>
          <a:chOff x="0" y="0"/>
          <a:chExt cx="0" cy="0"/>
        </a:xfrm>
      </p:grpSpPr>
      <p:pic>
        <p:nvPicPr>
          <p:cNvPr id="51" name="Google Shape;51;p6"/>
          <p:cNvPicPr preferRelativeResize="0"/>
          <p:nvPr/>
        </p:nvPicPr>
        <p:blipFill rotWithShape="1">
          <a:blip r:embed="rId2">
            <a:alphaModFix/>
          </a:blip>
          <a:srcRect b="1480" l="5517" r="39802" t="7179"/>
          <a:stretch/>
        </p:blipFill>
        <p:spPr>
          <a:xfrm rot="10800000">
            <a:off x="6925725" y="3063401"/>
            <a:ext cx="2218277" cy="2084300"/>
          </a:xfrm>
          <a:prstGeom prst="rect">
            <a:avLst/>
          </a:prstGeom>
          <a:noFill/>
          <a:ln>
            <a:noFill/>
          </a:ln>
        </p:spPr>
      </p:pic>
      <p:pic>
        <p:nvPicPr>
          <p:cNvPr id="52" name="Google Shape;52;p6"/>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
        <p:nvSpPr>
          <p:cNvPr id="53" name="Google Shape;53;p6"/>
          <p:cNvSpPr txBox="1"/>
          <p:nvPr>
            <p:ph type="ctrTitle"/>
          </p:nvPr>
        </p:nvSpPr>
        <p:spPr>
          <a:xfrm flipH="1">
            <a:off x="355600" y="2236500"/>
            <a:ext cx="3956100" cy="6705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
        <p:nvSpPr>
          <p:cNvPr id="54" name="Google Shape;54;p6"/>
          <p:cNvSpPr txBox="1"/>
          <p:nvPr>
            <p:ph idx="1" type="subTitle"/>
          </p:nvPr>
        </p:nvSpPr>
        <p:spPr>
          <a:xfrm>
            <a:off x="4837607" y="2387850"/>
            <a:ext cx="1906500" cy="367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1200"/>
              <a:buNone/>
              <a:defRPr sz="1200">
                <a:solidFill>
                  <a:schemeClr val="dk2"/>
                </a:solidFill>
              </a:defRPr>
            </a:lvl1pPr>
            <a:lvl2pPr lvl="1" rtl="0">
              <a:lnSpc>
                <a:spcPct val="100000"/>
              </a:lnSpc>
              <a:spcBef>
                <a:spcPts val="0"/>
              </a:spcBef>
              <a:spcAft>
                <a:spcPts val="0"/>
              </a:spcAft>
              <a:buClr>
                <a:schemeClr val="dk2"/>
              </a:buClr>
              <a:buSzPts val="1200"/>
              <a:buNone/>
              <a:defRPr sz="1200">
                <a:solidFill>
                  <a:schemeClr val="dk2"/>
                </a:solidFill>
              </a:defRPr>
            </a:lvl2pPr>
            <a:lvl3pPr lvl="2" rtl="0">
              <a:lnSpc>
                <a:spcPct val="100000"/>
              </a:lnSpc>
              <a:spcBef>
                <a:spcPts val="0"/>
              </a:spcBef>
              <a:spcAft>
                <a:spcPts val="0"/>
              </a:spcAft>
              <a:buClr>
                <a:schemeClr val="dk2"/>
              </a:buClr>
              <a:buSzPts val="1200"/>
              <a:buNone/>
              <a:defRPr sz="1200">
                <a:solidFill>
                  <a:schemeClr val="dk2"/>
                </a:solidFill>
              </a:defRPr>
            </a:lvl3pPr>
            <a:lvl4pPr lvl="3" rtl="0">
              <a:lnSpc>
                <a:spcPct val="100000"/>
              </a:lnSpc>
              <a:spcBef>
                <a:spcPts val="0"/>
              </a:spcBef>
              <a:spcAft>
                <a:spcPts val="0"/>
              </a:spcAft>
              <a:buClr>
                <a:schemeClr val="dk2"/>
              </a:buClr>
              <a:buSzPts val="1200"/>
              <a:buNone/>
              <a:defRPr sz="1200">
                <a:solidFill>
                  <a:schemeClr val="dk2"/>
                </a:solidFill>
              </a:defRPr>
            </a:lvl4pPr>
            <a:lvl5pPr lvl="4" rtl="0">
              <a:lnSpc>
                <a:spcPct val="100000"/>
              </a:lnSpc>
              <a:spcBef>
                <a:spcPts val="0"/>
              </a:spcBef>
              <a:spcAft>
                <a:spcPts val="0"/>
              </a:spcAft>
              <a:buClr>
                <a:schemeClr val="dk2"/>
              </a:buClr>
              <a:buSzPts val="1200"/>
              <a:buNone/>
              <a:defRPr sz="1200">
                <a:solidFill>
                  <a:schemeClr val="dk2"/>
                </a:solidFill>
              </a:defRPr>
            </a:lvl5pPr>
            <a:lvl6pPr lvl="5" rtl="0">
              <a:lnSpc>
                <a:spcPct val="100000"/>
              </a:lnSpc>
              <a:spcBef>
                <a:spcPts val="0"/>
              </a:spcBef>
              <a:spcAft>
                <a:spcPts val="0"/>
              </a:spcAft>
              <a:buClr>
                <a:schemeClr val="dk2"/>
              </a:buClr>
              <a:buSzPts val="1200"/>
              <a:buNone/>
              <a:defRPr sz="1200">
                <a:solidFill>
                  <a:schemeClr val="dk2"/>
                </a:solidFill>
              </a:defRPr>
            </a:lvl6pPr>
            <a:lvl7pPr lvl="6" rtl="0">
              <a:lnSpc>
                <a:spcPct val="100000"/>
              </a:lnSpc>
              <a:spcBef>
                <a:spcPts val="0"/>
              </a:spcBef>
              <a:spcAft>
                <a:spcPts val="0"/>
              </a:spcAft>
              <a:buClr>
                <a:schemeClr val="dk2"/>
              </a:buClr>
              <a:buSzPts val="1200"/>
              <a:buNone/>
              <a:defRPr sz="1200">
                <a:solidFill>
                  <a:schemeClr val="dk2"/>
                </a:solidFill>
              </a:defRPr>
            </a:lvl7pPr>
            <a:lvl8pPr lvl="7" rtl="0">
              <a:lnSpc>
                <a:spcPct val="100000"/>
              </a:lnSpc>
              <a:spcBef>
                <a:spcPts val="0"/>
              </a:spcBef>
              <a:spcAft>
                <a:spcPts val="0"/>
              </a:spcAft>
              <a:buClr>
                <a:schemeClr val="dk2"/>
              </a:buClr>
              <a:buSzPts val="1200"/>
              <a:buNone/>
              <a:defRPr sz="1200">
                <a:solidFill>
                  <a:schemeClr val="dk2"/>
                </a:solidFill>
              </a:defRPr>
            </a:lvl8pPr>
            <a:lvl9pPr lvl="8" rtl="0">
              <a:lnSpc>
                <a:spcPct val="100000"/>
              </a:lnSpc>
              <a:spcBef>
                <a:spcPts val="0"/>
              </a:spcBef>
              <a:spcAft>
                <a:spcPts val="0"/>
              </a:spcAft>
              <a:buClr>
                <a:schemeClr val="dk2"/>
              </a:buClr>
              <a:buSzPts val="1200"/>
              <a:buNone/>
              <a:defRPr sz="1200">
                <a:solidFill>
                  <a:schemeClr val="dk2"/>
                </a:solidFill>
              </a:defRPr>
            </a:lvl9pPr>
          </a:lstStyle>
          <a:p/>
        </p:txBody>
      </p:sp>
      <p:cxnSp>
        <p:nvCxnSpPr>
          <p:cNvPr id="55" name="Google Shape;55;p6"/>
          <p:cNvCxnSpPr/>
          <p:nvPr/>
        </p:nvCxnSpPr>
        <p:spPr>
          <a:xfrm>
            <a:off x="4572000" y="1228200"/>
            <a:ext cx="0" cy="26871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CUSTOM_2">
    <p:spTree>
      <p:nvGrpSpPr>
        <p:cNvPr id="56" name="Shape 56"/>
        <p:cNvGrpSpPr/>
        <p:nvPr/>
      </p:nvGrpSpPr>
      <p:grpSpPr>
        <a:xfrm>
          <a:off x="0" y="0"/>
          <a:ext cx="0" cy="0"/>
          <a:chOff x="0" y="0"/>
          <a:chExt cx="0" cy="0"/>
        </a:xfrm>
      </p:grpSpPr>
      <p:pic>
        <p:nvPicPr>
          <p:cNvPr id="57" name="Google Shape;57;p7"/>
          <p:cNvPicPr preferRelativeResize="0"/>
          <p:nvPr/>
        </p:nvPicPr>
        <p:blipFill rotWithShape="1">
          <a:blip r:embed="rId2">
            <a:alphaModFix/>
          </a:blip>
          <a:srcRect b="1483" l="5517" r="39802" t="7542"/>
          <a:stretch/>
        </p:blipFill>
        <p:spPr>
          <a:xfrm rot="10800000">
            <a:off x="5457877" y="1699550"/>
            <a:ext cx="3683323" cy="3446950"/>
          </a:xfrm>
          <a:prstGeom prst="rect">
            <a:avLst/>
          </a:prstGeom>
          <a:noFill/>
          <a:ln>
            <a:noFill/>
          </a:ln>
        </p:spPr>
      </p:pic>
      <p:sp>
        <p:nvSpPr>
          <p:cNvPr id="58" name="Google Shape;58;p7"/>
          <p:cNvSpPr txBox="1"/>
          <p:nvPr>
            <p:ph idx="1" type="subTitle"/>
          </p:nvPr>
        </p:nvSpPr>
        <p:spPr>
          <a:xfrm>
            <a:off x="1397425" y="2809300"/>
            <a:ext cx="3012600" cy="174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200"/>
              <a:buNone/>
              <a:defRPr sz="1200">
                <a:solidFill>
                  <a:schemeClr val="dk2"/>
                </a:solidFill>
              </a:defRPr>
            </a:lvl1pPr>
            <a:lvl2pPr lvl="1" rtl="0">
              <a:lnSpc>
                <a:spcPct val="100000"/>
              </a:lnSpc>
              <a:spcBef>
                <a:spcPts val="0"/>
              </a:spcBef>
              <a:spcAft>
                <a:spcPts val="0"/>
              </a:spcAft>
              <a:buClr>
                <a:schemeClr val="dk2"/>
              </a:buClr>
              <a:buSzPts val="1200"/>
              <a:buNone/>
              <a:defRPr sz="1200">
                <a:solidFill>
                  <a:schemeClr val="dk2"/>
                </a:solidFill>
              </a:defRPr>
            </a:lvl2pPr>
            <a:lvl3pPr lvl="2" rtl="0">
              <a:lnSpc>
                <a:spcPct val="100000"/>
              </a:lnSpc>
              <a:spcBef>
                <a:spcPts val="0"/>
              </a:spcBef>
              <a:spcAft>
                <a:spcPts val="0"/>
              </a:spcAft>
              <a:buClr>
                <a:schemeClr val="dk2"/>
              </a:buClr>
              <a:buSzPts val="1200"/>
              <a:buNone/>
              <a:defRPr sz="1200">
                <a:solidFill>
                  <a:schemeClr val="dk2"/>
                </a:solidFill>
              </a:defRPr>
            </a:lvl3pPr>
            <a:lvl4pPr lvl="3" rtl="0">
              <a:lnSpc>
                <a:spcPct val="100000"/>
              </a:lnSpc>
              <a:spcBef>
                <a:spcPts val="0"/>
              </a:spcBef>
              <a:spcAft>
                <a:spcPts val="0"/>
              </a:spcAft>
              <a:buClr>
                <a:schemeClr val="dk2"/>
              </a:buClr>
              <a:buSzPts val="1200"/>
              <a:buNone/>
              <a:defRPr sz="1200">
                <a:solidFill>
                  <a:schemeClr val="dk2"/>
                </a:solidFill>
              </a:defRPr>
            </a:lvl4pPr>
            <a:lvl5pPr lvl="4" rtl="0">
              <a:lnSpc>
                <a:spcPct val="100000"/>
              </a:lnSpc>
              <a:spcBef>
                <a:spcPts val="0"/>
              </a:spcBef>
              <a:spcAft>
                <a:spcPts val="0"/>
              </a:spcAft>
              <a:buClr>
                <a:schemeClr val="dk2"/>
              </a:buClr>
              <a:buSzPts val="1200"/>
              <a:buNone/>
              <a:defRPr sz="1200">
                <a:solidFill>
                  <a:schemeClr val="dk2"/>
                </a:solidFill>
              </a:defRPr>
            </a:lvl5pPr>
            <a:lvl6pPr lvl="5" rtl="0">
              <a:lnSpc>
                <a:spcPct val="100000"/>
              </a:lnSpc>
              <a:spcBef>
                <a:spcPts val="0"/>
              </a:spcBef>
              <a:spcAft>
                <a:spcPts val="0"/>
              </a:spcAft>
              <a:buClr>
                <a:schemeClr val="dk2"/>
              </a:buClr>
              <a:buSzPts val="1200"/>
              <a:buNone/>
              <a:defRPr sz="1200">
                <a:solidFill>
                  <a:schemeClr val="dk2"/>
                </a:solidFill>
              </a:defRPr>
            </a:lvl6pPr>
            <a:lvl7pPr lvl="6" rtl="0">
              <a:lnSpc>
                <a:spcPct val="100000"/>
              </a:lnSpc>
              <a:spcBef>
                <a:spcPts val="0"/>
              </a:spcBef>
              <a:spcAft>
                <a:spcPts val="0"/>
              </a:spcAft>
              <a:buClr>
                <a:schemeClr val="dk2"/>
              </a:buClr>
              <a:buSzPts val="1200"/>
              <a:buNone/>
              <a:defRPr sz="1200">
                <a:solidFill>
                  <a:schemeClr val="dk2"/>
                </a:solidFill>
              </a:defRPr>
            </a:lvl7pPr>
            <a:lvl8pPr lvl="7" rtl="0">
              <a:lnSpc>
                <a:spcPct val="100000"/>
              </a:lnSpc>
              <a:spcBef>
                <a:spcPts val="0"/>
              </a:spcBef>
              <a:spcAft>
                <a:spcPts val="0"/>
              </a:spcAft>
              <a:buClr>
                <a:schemeClr val="dk2"/>
              </a:buClr>
              <a:buSzPts val="1200"/>
              <a:buNone/>
              <a:defRPr sz="1200">
                <a:solidFill>
                  <a:schemeClr val="dk2"/>
                </a:solidFill>
              </a:defRPr>
            </a:lvl8pPr>
            <a:lvl9pPr lvl="8" rtl="0">
              <a:lnSpc>
                <a:spcPct val="100000"/>
              </a:lnSpc>
              <a:spcBef>
                <a:spcPts val="0"/>
              </a:spcBef>
              <a:spcAft>
                <a:spcPts val="0"/>
              </a:spcAft>
              <a:buClr>
                <a:schemeClr val="dk2"/>
              </a:buClr>
              <a:buSzPts val="1200"/>
              <a:buNone/>
              <a:defRPr sz="1200">
                <a:solidFill>
                  <a:schemeClr val="dk2"/>
                </a:solidFill>
              </a:defRPr>
            </a:lvl9pPr>
          </a:lstStyle>
          <a:p/>
        </p:txBody>
      </p:sp>
      <p:cxnSp>
        <p:nvCxnSpPr>
          <p:cNvPr id="59" name="Google Shape;59;p7"/>
          <p:cNvCxnSpPr/>
          <p:nvPr/>
        </p:nvCxnSpPr>
        <p:spPr>
          <a:xfrm>
            <a:off x="3444375" y="2693550"/>
            <a:ext cx="1797900" cy="0"/>
          </a:xfrm>
          <a:prstGeom prst="straightConnector1">
            <a:avLst/>
          </a:prstGeom>
          <a:noFill/>
          <a:ln cap="flat" cmpd="sng" w="19050">
            <a:solidFill>
              <a:schemeClr val="dk2"/>
            </a:solidFill>
            <a:prstDash val="solid"/>
            <a:round/>
            <a:headEnd len="med" w="med" type="none"/>
            <a:tailEnd len="med" w="med" type="none"/>
          </a:ln>
        </p:spPr>
      </p:cxnSp>
      <p:sp>
        <p:nvSpPr>
          <p:cNvPr id="60" name="Google Shape;60;p7"/>
          <p:cNvSpPr txBox="1"/>
          <p:nvPr>
            <p:ph type="ctrTitle"/>
          </p:nvPr>
        </p:nvSpPr>
        <p:spPr>
          <a:xfrm flipH="1">
            <a:off x="2714084" y="1890188"/>
            <a:ext cx="3956100" cy="6705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dk2"/>
              </a:buClr>
              <a:buSzPts val="4800"/>
              <a:buNone/>
              <a:defRPr sz="48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Tree>
  </p:cSld>
  <p:clrMapOvr>
    <a:masterClrMapping/>
  </p:clrMapOvr>
  <p:extLst>
    <p:ext uri="{DCECCB84-F9BA-43D5-87BE-67443E8EF086}">
      <p15:sldGuideLst>
        <p15:guide id="1" pos="2778">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3">
    <p:spTree>
      <p:nvGrpSpPr>
        <p:cNvPr id="61" name="Shape 61"/>
        <p:cNvGrpSpPr/>
        <p:nvPr/>
      </p:nvGrpSpPr>
      <p:grpSpPr>
        <a:xfrm>
          <a:off x="0" y="0"/>
          <a:ext cx="0" cy="0"/>
          <a:chOff x="0" y="0"/>
          <a:chExt cx="0" cy="0"/>
        </a:xfrm>
      </p:grpSpPr>
      <p:sp>
        <p:nvSpPr>
          <p:cNvPr id="62" name="Google Shape;62;p8"/>
          <p:cNvSpPr txBox="1"/>
          <p:nvPr>
            <p:ph type="ctrTitle"/>
          </p:nvPr>
        </p:nvSpPr>
        <p:spPr>
          <a:xfrm>
            <a:off x="749100" y="507400"/>
            <a:ext cx="8394900" cy="6705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
        <p:nvSpPr>
          <p:cNvPr id="63" name="Google Shape;63;p8"/>
          <p:cNvSpPr txBox="1"/>
          <p:nvPr>
            <p:ph idx="2" type="ctrTitle"/>
          </p:nvPr>
        </p:nvSpPr>
        <p:spPr>
          <a:xfrm>
            <a:off x="2750155" y="18021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64" name="Google Shape;64;p8"/>
          <p:cNvSpPr txBox="1"/>
          <p:nvPr>
            <p:ph idx="1" type="subTitle"/>
          </p:nvPr>
        </p:nvSpPr>
        <p:spPr>
          <a:xfrm>
            <a:off x="2750119" y="2263575"/>
            <a:ext cx="1570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65" name="Google Shape;65;p8"/>
          <p:cNvSpPr txBox="1"/>
          <p:nvPr>
            <p:ph idx="3" type="ctrTitle"/>
          </p:nvPr>
        </p:nvSpPr>
        <p:spPr>
          <a:xfrm>
            <a:off x="4800201" y="1802125"/>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66" name="Google Shape;66;p8"/>
          <p:cNvSpPr txBox="1"/>
          <p:nvPr>
            <p:ph idx="4" type="subTitle"/>
          </p:nvPr>
        </p:nvSpPr>
        <p:spPr>
          <a:xfrm>
            <a:off x="4800165" y="2263575"/>
            <a:ext cx="15702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67" name="Google Shape;67;p8"/>
          <p:cNvSpPr txBox="1"/>
          <p:nvPr>
            <p:ph idx="5" type="ctrTitle"/>
          </p:nvPr>
        </p:nvSpPr>
        <p:spPr>
          <a:xfrm>
            <a:off x="3794948" y="3600050"/>
            <a:ext cx="1570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68" name="Google Shape;68;p8"/>
          <p:cNvSpPr txBox="1"/>
          <p:nvPr>
            <p:ph idx="6" type="subTitle"/>
          </p:nvPr>
        </p:nvSpPr>
        <p:spPr>
          <a:xfrm>
            <a:off x="3753025" y="4061500"/>
            <a:ext cx="16539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CUSTOM_4">
    <p:spTree>
      <p:nvGrpSpPr>
        <p:cNvPr id="69" name="Shape 69"/>
        <p:cNvGrpSpPr/>
        <p:nvPr/>
      </p:nvGrpSpPr>
      <p:grpSpPr>
        <a:xfrm>
          <a:off x="0" y="0"/>
          <a:ext cx="0" cy="0"/>
          <a:chOff x="0" y="0"/>
          <a:chExt cx="0" cy="0"/>
        </a:xfrm>
      </p:grpSpPr>
      <p:pic>
        <p:nvPicPr>
          <p:cNvPr id="70" name="Google Shape;70;p9"/>
          <p:cNvPicPr preferRelativeResize="0"/>
          <p:nvPr/>
        </p:nvPicPr>
        <p:blipFill rotWithShape="1">
          <a:blip r:embed="rId2">
            <a:alphaModFix/>
          </a:blip>
          <a:srcRect b="1483" l="5517" r="39802" t="7542"/>
          <a:stretch/>
        </p:blipFill>
        <p:spPr>
          <a:xfrm>
            <a:off x="102" y="0"/>
            <a:ext cx="3683323" cy="3446950"/>
          </a:xfrm>
          <a:prstGeom prst="rect">
            <a:avLst/>
          </a:prstGeom>
          <a:noFill/>
          <a:ln>
            <a:noFill/>
          </a:ln>
        </p:spPr>
      </p:pic>
      <p:pic>
        <p:nvPicPr>
          <p:cNvPr id="71" name="Google Shape;71;p9"/>
          <p:cNvPicPr preferRelativeResize="0"/>
          <p:nvPr/>
        </p:nvPicPr>
        <p:blipFill rotWithShape="1">
          <a:blip r:embed="rId2">
            <a:alphaModFix/>
          </a:blip>
          <a:srcRect b="1483" l="5517" r="39802" t="7542"/>
          <a:stretch/>
        </p:blipFill>
        <p:spPr>
          <a:xfrm rot="10800000">
            <a:off x="5457877" y="1699550"/>
            <a:ext cx="3683323" cy="3446950"/>
          </a:xfrm>
          <a:prstGeom prst="rect">
            <a:avLst/>
          </a:prstGeom>
          <a:noFill/>
          <a:ln>
            <a:noFill/>
          </a:ln>
        </p:spPr>
      </p:pic>
      <p:sp>
        <p:nvSpPr>
          <p:cNvPr id="72" name="Google Shape;72;p9"/>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73" name="Google Shape;73;p9"/>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cxnSp>
        <p:nvCxnSpPr>
          <p:cNvPr id="74" name="Google Shape;74;p9"/>
          <p:cNvCxnSpPr/>
          <p:nvPr/>
        </p:nvCxnSpPr>
        <p:spPr>
          <a:xfrm>
            <a:off x="3681150" y="2571750"/>
            <a:ext cx="17979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5">
    <p:spTree>
      <p:nvGrpSpPr>
        <p:cNvPr id="75" name="Shape 75"/>
        <p:cNvGrpSpPr/>
        <p:nvPr/>
      </p:nvGrpSpPr>
      <p:grpSpPr>
        <a:xfrm>
          <a:off x="0" y="0"/>
          <a:ext cx="0" cy="0"/>
          <a:chOff x="0" y="0"/>
          <a:chExt cx="0" cy="0"/>
        </a:xfrm>
      </p:grpSpPr>
      <p:sp>
        <p:nvSpPr>
          <p:cNvPr id="76" name="Google Shape;76;p10"/>
          <p:cNvSpPr txBox="1"/>
          <p:nvPr>
            <p:ph idx="1" type="subTitle"/>
          </p:nvPr>
        </p:nvSpPr>
        <p:spPr>
          <a:xfrm>
            <a:off x="2336855" y="2792539"/>
            <a:ext cx="2085600" cy="4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77" name="Google Shape;77;p10"/>
          <p:cNvSpPr txBox="1"/>
          <p:nvPr>
            <p:ph idx="2" type="subTitle"/>
          </p:nvPr>
        </p:nvSpPr>
        <p:spPr>
          <a:xfrm>
            <a:off x="4721655" y="2806554"/>
            <a:ext cx="2085600" cy="48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78" name="Google Shape;78;p10"/>
          <p:cNvSpPr txBox="1"/>
          <p:nvPr>
            <p:ph type="ctrTitle"/>
          </p:nvPr>
        </p:nvSpPr>
        <p:spPr>
          <a:xfrm flipH="1">
            <a:off x="4721600" y="507400"/>
            <a:ext cx="3673200" cy="6705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
        <p:nvSpPr>
          <p:cNvPr id="79" name="Google Shape;79;p10"/>
          <p:cNvSpPr txBox="1"/>
          <p:nvPr>
            <p:ph idx="3" type="ctrTitle"/>
          </p:nvPr>
        </p:nvSpPr>
        <p:spPr>
          <a:xfrm>
            <a:off x="2229313" y="2712600"/>
            <a:ext cx="2300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2400"/>
              <a:buNone/>
              <a:defRPr sz="2400">
                <a:solidFill>
                  <a:schemeClr val="dk2"/>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p:txBody>
      </p:sp>
      <p:sp>
        <p:nvSpPr>
          <p:cNvPr id="80" name="Google Shape;80;p10"/>
          <p:cNvSpPr txBox="1"/>
          <p:nvPr>
            <p:ph idx="4" type="ctrTitle"/>
          </p:nvPr>
        </p:nvSpPr>
        <p:spPr>
          <a:xfrm>
            <a:off x="4572000" y="2712600"/>
            <a:ext cx="2384700" cy="265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2400"/>
              <a:buNone/>
              <a:defRPr sz="2400">
                <a:solidFill>
                  <a:schemeClr val="dk2"/>
                </a:solidFill>
              </a:defRPr>
            </a:lvl1pPr>
            <a:lvl2pPr lvl="1" rtl="0" algn="ctr">
              <a:spcBef>
                <a:spcPts val="0"/>
              </a:spcBef>
              <a:spcAft>
                <a:spcPts val="0"/>
              </a:spcAft>
              <a:buClr>
                <a:schemeClr val="dk2"/>
              </a:buClr>
              <a:buSzPts val="2400"/>
              <a:buNone/>
              <a:defRPr sz="2400">
                <a:solidFill>
                  <a:schemeClr val="dk2"/>
                </a:solidFill>
              </a:defRPr>
            </a:lvl2pPr>
            <a:lvl3pPr lvl="2" rtl="0" algn="ctr">
              <a:spcBef>
                <a:spcPts val="0"/>
              </a:spcBef>
              <a:spcAft>
                <a:spcPts val="0"/>
              </a:spcAft>
              <a:buClr>
                <a:schemeClr val="dk2"/>
              </a:buClr>
              <a:buSzPts val="2400"/>
              <a:buNone/>
              <a:defRPr sz="2400">
                <a:solidFill>
                  <a:schemeClr val="dk2"/>
                </a:solidFill>
              </a:defRPr>
            </a:lvl3pPr>
            <a:lvl4pPr lvl="3" rtl="0" algn="ctr">
              <a:spcBef>
                <a:spcPts val="0"/>
              </a:spcBef>
              <a:spcAft>
                <a:spcPts val="0"/>
              </a:spcAft>
              <a:buClr>
                <a:schemeClr val="dk2"/>
              </a:buClr>
              <a:buSzPts val="2400"/>
              <a:buNone/>
              <a:defRPr sz="2400">
                <a:solidFill>
                  <a:schemeClr val="dk2"/>
                </a:solidFill>
              </a:defRPr>
            </a:lvl4pPr>
            <a:lvl5pPr lvl="4" rtl="0" algn="ctr">
              <a:spcBef>
                <a:spcPts val="0"/>
              </a:spcBef>
              <a:spcAft>
                <a:spcPts val="0"/>
              </a:spcAft>
              <a:buClr>
                <a:schemeClr val="dk2"/>
              </a:buClr>
              <a:buSzPts val="2400"/>
              <a:buNone/>
              <a:defRPr sz="2400">
                <a:solidFill>
                  <a:schemeClr val="dk2"/>
                </a:solidFill>
              </a:defRPr>
            </a:lvl5pPr>
            <a:lvl6pPr lvl="5" rtl="0" algn="ctr">
              <a:spcBef>
                <a:spcPts val="0"/>
              </a:spcBef>
              <a:spcAft>
                <a:spcPts val="0"/>
              </a:spcAft>
              <a:buClr>
                <a:schemeClr val="dk2"/>
              </a:buClr>
              <a:buSzPts val="2400"/>
              <a:buNone/>
              <a:defRPr sz="2400">
                <a:solidFill>
                  <a:schemeClr val="dk2"/>
                </a:solidFill>
              </a:defRPr>
            </a:lvl6pPr>
            <a:lvl7pPr lvl="6" rtl="0" algn="ctr">
              <a:spcBef>
                <a:spcPts val="0"/>
              </a:spcBef>
              <a:spcAft>
                <a:spcPts val="0"/>
              </a:spcAft>
              <a:buClr>
                <a:schemeClr val="dk2"/>
              </a:buClr>
              <a:buSzPts val="2400"/>
              <a:buNone/>
              <a:defRPr sz="2400">
                <a:solidFill>
                  <a:schemeClr val="dk2"/>
                </a:solidFill>
              </a:defRPr>
            </a:lvl7pPr>
            <a:lvl8pPr lvl="7" rtl="0" algn="ctr">
              <a:spcBef>
                <a:spcPts val="0"/>
              </a:spcBef>
              <a:spcAft>
                <a:spcPts val="0"/>
              </a:spcAft>
              <a:buClr>
                <a:schemeClr val="dk2"/>
              </a:buClr>
              <a:buSzPts val="2400"/>
              <a:buNone/>
              <a:defRPr sz="2400">
                <a:solidFill>
                  <a:schemeClr val="dk2"/>
                </a:solidFill>
              </a:defRPr>
            </a:lvl8pPr>
            <a:lvl9pPr lvl="8" rtl="0" algn="ctr">
              <a:spcBef>
                <a:spcPts val="0"/>
              </a:spcBef>
              <a:spcAft>
                <a:spcPts val="0"/>
              </a:spcAft>
              <a:buClr>
                <a:schemeClr val="dk2"/>
              </a:buClr>
              <a:buSzPts val="2400"/>
              <a:buNone/>
              <a:defRPr sz="2400">
                <a:solidFill>
                  <a:schemeClr val="dk2"/>
                </a:solidFill>
              </a:defRPr>
            </a:lvl9pPr>
          </a:lstStyle>
          <a:p/>
        </p:txBody>
      </p:sp>
      <p:pic>
        <p:nvPicPr>
          <p:cNvPr id="81" name="Google Shape;81;p10"/>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2">
  <p:cSld name="CUSTOM_6">
    <p:spTree>
      <p:nvGrpSpPr>
        <p:cNvPr id="82" name="Shape 82"/>
        <p:cNvGrpSpPr/>
        <p:nvPr/>
      </p:nvGrpSpPr>
      <p:grpSpPr>
        <a:xfrm>
          <a:off x="0" y="0"/>
          <a:ext cx="0" cy="0"/>
          <a:chOff x="0" y="0"/>
          <a:chExt cx="0" cy="0"/>
        </a:xfrm>
      </p:grpSpPr>
      <p:pic>
        <p:nvPicPr>
          <p:cNvPr id="83" name="Google Shape;83;p11"/>
          <p:cNvPicPr preferRelativeResize="0"/>
          <p:nvPr/>
        </p:nvPicPr>
        <p:blipFill rotWithShape="1">
          <a:blip r:embed="rId2">
            <a:alphaModFix/>
          </a:blip>
          <a:srcRect b="1483" l="5517" r="39802" t="7542"/>
          <a:stretch/>
        </p:blipFill>
        <p:spPr>
          <a:xfrm flipH="1" rot="10800000">
            <a:off x="102" y="1699550"/>
            <a:ext cx="3683323" cy="3446950"/>
          </a:xfrm>
          <a:prstGeom prst="rect">
            <a:avLst/>
          </a:prstGeom>
          <a:noFill/>
          <a:ln>
            <a:noFill/>
          </a:ln>
        </p:spPr>
      </p:pic>
      <p:pic>
        <p:nvPicPr>
          <p:cNvPr id="84" name="Google Shape;84;p11"/>
          <p:cNvPicPr preferRelativeResize="0"/>
          <p:nvPr/>
        </p:nvPicPr>
        <p:blipFill rotWithShape="1">
          <a:blip r:embed="rId2">
            <a:alphaModFix/>
          </a:blip>
          <a:srcRect b="1483" l="5517" r="39802" t="7542"/>
          <a:stretch/>
        </p:blipFill>
        <p:spPr>
          <a:xfrm flipH="1">
            <a:off x="5457877" y="0"/>
            <a:ext cx="3683323" cy="3446950"/>
          </a:xfrm>
          <a:prstGeom prst="rect">
            <a:avLst/>
          </a:prstGeom>
          <a:noFill/>
          <a:ln>
            <a:noFill/>
          </a:ln>
        </p:spPr>
      </p:pic>
      <p:sp>
        <p:nvSpPr>
          <p:cNvPr id="85" name="Google Shape;85;p11"/>
          <p:cNvSpPr txBox="1"/>
          <p:nvPr>
            <p:ph type="ctrTitle"/>
          </p:nvPr>
        </p:nvSpPr>
        <p:spPr>
          <a:xfrm>
            <a:off x="1250675" y="1851425"/>
            <a:ext cx="6658800" cy="670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3600"/>
              <a:buNone/>
              <a:defRPr sz="36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86" name="Google Shape;86;p11"/>
          <p:cNvSpPr txBox="1"/>
          <p:nvPr>
            <p:ph idx="1" type="subTitle"/>
          </p:nvPr>
        </p:nvSpPr>
        <p:spPr>
          <a:xfrm>
            <a:off x="3114750" y="2640476"/>
            <a:ext cx="2930700" cy="65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cxnSp>
        <p:nvCxnSpPr>
          <p:cNvPr id="87" name="Google Shape;87;p11"/>
          <p:cNvCxnSpPr/>
          <p:nvPr/>
        </p:nvCxnSpPr>
        <p:spPr>
          <a:xfrm>
            <a:off x="3681150" y="2571750"/>
            <a:ext cx="17979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CUSTOM_7">
    <p:spTree>
      <p:nvGrpSpPr>
        <p:cNvPr id="88" name="Shape 88"/>
        <p:cNvGrpSpPr/>
        <p:nvPr/>
      </p:nvGrpSpPr>
      <p:grpSpPr>
        <a:xfrm>
          <a:off x="0" y="0"/>
          <a:ext cx="0" cy="0"/>
          <a:chOff x="0" y="0"/>
          <a:chExt cx="0" cy="0"/>
        </a:xfrm>
      </p:grpSpPr>
      <p:pic>
        <p:nvPicPr>
          <p:cNvPr id="89" name="Google Shape;89;p12"/>
          <p:cNvPicPr preferRelativeResize="0"/>
          <p:nvPr/>
        </p:nvPicPr>
        <p:blipFill rotWithShape="1">
          <a:blip r:embed="rId2">
            <a:alphaModFix/>
          </a:blip>
          <a:srcRect b="1480" l="5517" r="39802" t="7179"/>
          <a:stretch/>
        </p:blipFill>
        <p:spPr>
          <a:xfrm flipH="1">
            <a:off x="6925725" y="1"/>
            <a:ext cx="2218277" cy="2084300"/>
          </a:xfrm>
          <a:prstGeom prst="rect">
            <a:avLst/>
          </a:prstGeom>
          <a:noFill/>
          <a:ln>
            <a:noFill/>
          </a:ln>
        </p:spPr>
      </p:pic>
      <p:sp>
        <p:nvSpPr>
          <p:cNvPr id="90" name="Google Shape;90;p12"/>
          <p:cNvSpPr txBox="1"/>
          <p:nvPr>
            <p:ph type="ctrTitle"/>
          </p:nvPr>
        </p:nvSpPr>
        <p:spPr>
          <a:xfrm flipH="1">
            <a:off x="749100" y="500825"/>
            <a:ext cx="8394900" cy="670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CUSTOM_7_1">
    <p:spTree>
      <p:nvGrpSpPr>
        <p:cNvPr id="91" name="Shape 91"/>
        <p:cNvGrpSpPr/>
        <p:nvPr/>
      </p:nvGrpSpPr>
      <p:grpSpPr>
        <a:xfrm>
          <a:off x="0" y="0"/>
          <a:ext cx="0" cy="0"/>
          <a:chOff x="0" y="0"/>
          <a:chExt cx="0" cy="0"/>
        </a:xfrm>
      </p:grpSpPr>
      <p:sp>
        <p:nvSpPr>
          <p:cNvPr id="92" name="Google Shape;92;p13"/>
          <p:cNvSpPr txBox="1"/>
          <p:nvPr>
            <p:ph type="ctrTitle"/>
          </p:nvPr>
        </p:nvSpPr>
        <p:spPr>
          <a:xfrm>
            <a:off x="1690457" y="19083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93" name="Google Shape;93;p13"/>
          <p:cNvSpPr txBox="1"/>
          <p:nvPr>
            <p:ph idx="1" type="subTitle"/>
          </p:nvPr>
        </p:nvSpPr>
        <p:spPr>
          <a:xfrm>
            <a:off x="20518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94" name="Google Shape;94;p13"/>
          <p:cNvSpPr txBox="1"/>
          <p:nvPr>
            <p:ph idx="2" type="ctrTitle"/>
          </p:nvPr>
        </p:nvSpPr>
        <p:spPr>
          <a:xfrm>
            <a:off x="1690457" y="341026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95" name="Google Shape;95;p13"/>
          <p:cNvSpPr txBox="1"/>
          <p:nvPr>
            <p:ph idx="3" type="subTitle"/>
          </p:nvPr>
        </p:nvSpPr>
        <p:spPr>
          <a:xfrm>
            <a:off x="20518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96" name="Google Shape;96;p13"/>
          <p:cNvSpPr txBox="1"/>
          <p:nvPr>
            <p:ph idx="4" type="ctrTitle"/>
          </p:nvPr>
        </p:nvSpPr>
        <p:spPr>
          <a:xfrm>
            <a:off x="4824357" y="190831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pic>
        <p:nvPicPr>
          <p:cNvPr id="97" name="Google Shape;97;p13"/>
          <p:cNvPicPr preferRelativeResize="0"/>
          <p:nvPr/>
        </p:nvPicPr>
        <p:blipFill rotWithShape="1">
          <a:blip r:embed="rId2">
            <a:alphaModFix/>
          </a:blip>
          <a:srcRect b="1480" l="5517" r="39802" t="7179"/>
          <a:stretch/>
        </p:blipFill>
        <p:spPr>
          <a:xfrm flipH="1">
            <a:off x="6925725" y="1"/>
            <a:ext cx="2218277" cy="2084300"/>
          </a:xfrm>
          <a:prstGeom prst="rect">
            <a:avLst/>
          </a:prstGeom>
          <a:noFill/>
          <a:ln>
            <a:noFill/>
          </a:ln>
        </p:spPr>
      </p:pic>
      <p:sp>
        <p:nvSpPr>
          <p:cNvPr id="98" name="Google Shape;98;p13"/>
          <p:cNvSpPr txBox="1"/>
          <p:nvPr>
            <p:ph idx="5" type="subTitle"/>
          </p:nvPr>
        </p:nvSpPr>
        <p:spPr>
          <a:xfrm>
            <a:off x="5185707" y="236977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sp>
        <p:nvSpPr>
          <p:cNvPr id="99" name="Google Shape;99;p13"/>
          <p:cNvSpPr txBox="1"/>
          <p:nvPr>
            <p:ph idx="6" type="ctrTitle"/>
          </p:nvPr>
        </p:nvSpPr>
        <p:spPr>
          <a:xfrm>
            <a:off x="4824357" y="3410263"/>
            <a:ext cx="26292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400"/>
              <a:buNone/>
              <a:defRPr sz="1400">
                <a:solidFill>
                  <a:schemeClr val="dk2"/>
                </a:solidFill>
              </a:defRPr>
            </a:lvl1pPr>
            <a:lvl2pPr lvl="1" rtl="0" algn="ctr">
              <a:spcBef>
                <a:spcPts val="0"/>
              </a:spcBef>
              <a:spcAft>
                <a:spcPts val="0"/>
              </a:spcAft>
              <a:buClr>
                <a:schemeClr val="dk2"/>
              </a:buClr>
              <a:buSzPts val="1800"/>
              <a:buNone/>
              <a:defRPr sz="1800">
                <a:solidFill>
                  <a:schemeClr val="dk2"/>
                </a:solidFill>
              </a:defRPr>
            </a:lvl2pPr>
            <a:lvl3pPr lvl="2" rtl="0" algn="ctr">
              <a:spcBef>
                <a:spcPts val="0"/>
              </a:spcBef>
              <a:spcAft>
                <a:spcPts val="0"/>
              </a:spcAft>
              <a:buClr>
                <a:schemeClr val="dk2"/>
              </a:buClr>
              <a:buSzPts val="1800"/>
              <a:buNone/>
              <a:defRPr sz="1800">
                <a:solidFill>
                  <a:schemeClr val="dk2"/>
                </a:solidFill>
              </a:defRPr>
            </a:lvl3pPr>
            <a:lvl4pPr lvl="3" rtl="0" algn="ctr">
              <a:spcBef>
                <a:spcPts val="0"/>
              </a:spcBef>
              <a:spcAft>
                <a:spcPts val="0"/>
              </a:spcAft>
              <a:buClr>
                <a:schemeClr val="dk2"/>
              </a:buClr>
              <a:buSzPts val="1800"/>
              <a:buNone/>
              <a:defRPr sz="1800">
                <a:solidFill>
                  <a:schemeClr val="dk2"/>
                </a:solidFill>
              </a:defRPr>
            </a:lvl4pPr>
            <a:lvl5pPr lvl="4" rtl="0" algn="ctr">
              <a:spcBef>
                <a:spcPts val="0"/>
              </a:spcBef>
              <a:spcAft>
                <a:spcPts val="0"/>
              </a:spcAft>
              <a:buClr>
                <a:schemeClr val="dk2"/>
              </a:buClr>
              <a:buSzPts val="1800"/>
              <a:buNone/>
              <a:defRPr sz="1800">
                <a:solidFill>
                  <a:schemeClr val="dk2"/>
                </a:solidFill>
              </a:defRPr>
            </a:lvl5pPr>
            <a:lvl6pPr lvl="5" rtl="0" algn="ctr">
              <a:spcBef>
                <a:spcPts val="0"/>
              </a:spcBef>
              <a:spcAft>
                <a:spcPts val="0"/>
              </a:spcAft>
              <a:buClr>
                <a:schemeClr val="dk2"/>
              </a:buClr>
              <a:buSzPts val="1800"/>
              <a:buNone/>
              <a:defRPr sz="1800">
                <a:solidFill>
                  <a:schemeClr val="dk2"/>
                </a:solidFill>
              </a:defRPr>
            </a:lvl6pPr>
            <a:lvl7pPr lvl="6" rtl="0" algn="ctr">
              <a:spcBef>
                <a:spcPts val="0"/>
              </a:spcBef>
              <a:spcAft>
                <a:spcPts val="0"/>
              </a:spcAft>
              <a:buClr>
                <a:schemeClr val="dk2"/>
              </a:buClr>
              <a:buSzPts val="1800"/>
              <a:buNone/>
              <a:defRPr sz="1800">
                <a:solidFill>
                  <a:schemeClr val="dk2"/>
                </a:solidFill>
              </a:defRPr>
            </a:lvl7pPr>
            <a:lvl8pPr lvl="7" rtl="0" algn="ctr">
              <a:spcBef>
                <a:spcPts val="0"/>
              </a:spcBef>
              <a:spcAft>
                <a:spcPts val="0"/>
              </a:spcAft>
              <a:buClr>
                <a:schemeClr val="dk2"/>
              </a:buClr>
              <a:buSzPts val="1800"/>
              <a:buNone/>
              <a:defRPr sz="1800">
                <a:solidFill>
                  <a:schemeClr val="dk2"/>
                </a:solidFill>
              </a:defRPr>
            </a:lvl8pPr>
            <a:lvl9pPr lvl="8" rtl="0" algn="ctr">
              <a:spcBef>
                <a:spcPts val="0"/>
              </a:spcBef>
              <a:spcAft>
                <a:spcPts val="0"/>
              </a:spcAft>
              <a:buClr>
                <a:schemeClr val="dk2"/>
              </a:buClr>
              <a:buSzPts val="1800"/>
              <a:buNone/>
              <a:defRPr sz="1800">
                <a:solidFill>
                  <a:schemeClr val="dk2"/>
                </a:solidFill>
              </a:defRPr>
            </a:lvl9pPr>
          </a:lstStyle>
          <a:p/>
        </p:txBody>
      </p:sp>
      <p:sp>
        <p:nvSpPr>
          <p:cNvPr id="100" name="Google Shape;100;p13"/>
          <p:cNvSpPr txBox="1"/>
          <p:nvPr>
            <p:ph idx="7" type="subTitle"/>
          </p:nvPr>
        </p:nvSpPr>
        <p:spPr>
          <a:xfrm>
            <a:off x="5185707" y="3871725"/>
            <a:ext cx="1906500" cy="367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000"/>
              <a:buNone/>
              <a:defRPr sz="1000">
                <a:solidFill>
                  <a:schemeClr val="dk2"/>
                </a:solidFill>
              </a:defRPr>
            </a:lvl1pPr>
            <a:lvl2pPr lvl="1" rtl="0" algn="ctr">
              <a:lnSpc>
                <a:spcPct val="100000"/>
              </a:lnSpc>
              <a:spcBef>
                <a:spcPts val="0"/>
              </a:spcBef>
              <a:spcAft>
                <a:spcPts val="0"/>
              </a:spcAft>
              <a:buClr>
                <a:schemeClr val="dk2"/>
              </a:buClr>
              <a:buSzPts val="1000"/>
              <a:buNone/>
              <a:defRPr sz="1000">
                <a:solidFill>
                  <a:schemeClr val="dk2"/>
                </a:solidFill>
              </a:defRPr>
            </a:lvl2pPr>
            <a:lvl3pPr lvl="2" rtl="0" algn="ctr">
              <a:lnSpc>
                <a:spcPct val="100000"/>
              </a:lnSpc>
              <a:spcBef>
                <a:spcPts val="0"/>
              </a:spcBef>
              <a:spcAft>
                <a:spcPts val="0"/>
              </a:spcAft>
              <a:buClr>
                <a:schemeClr val="dk2"/>
              </a:buClr>
              <a:buSzPts val="1000"/>
              <a:buNone/>
              <a:defRPr sz="1000">
                <a:solidFill>
                  <a:schemeClr val="dk2"/>
                </a:solidFill>
              </a:defRPr>
            </a:lvl3pPr>
            <a:lvl4pPr lvl="3" rtl="0" algn="ctr">
              <a:lnSpc>
                <a:spcPct val="100000"/>
              </a:lnSpc>
              <a:spcBef>
                <a:spcPts val="0"/>
              </a:spcBef>
              <a:spcAft>
                <a:spcPts val="0"/>
              </a:spcAft>
              <a:buClr>
                <a:schemeClr val="dk2"/>
              </a:buClr>
              <a:buSzPts val="1000"/>
              <a:buNone/>
              <a:defRPr sz="1000">
                <a:solidFill>
                  <a:schemeClr val="dk2"/>
                </a:solidFill>
              </a:defRPr>
            </a:lvl4pPr>
            <a:lvl5pPr lvl="4" rtl="0" algn="ctr">
              <a:lnSpc>
                <a:spcPct val="100000"/>
              </a:lnSpc>
              <a:spcBef>
                <a:spcPts val="0"/>
              </a:spcBef>
              <a:spcAft>
                <a:spcPts val="0"/>
              </a:spcAft>
              <a:buClr>
                <a:schemeClr val="dk2"/>
              </a:buClr>
              <a:buSzPts val="1000"/>
              <a:buNone/>
              <a:defRPr sz="1000">
                <a:solidFill>
                  <a:schemeClr val="dk2"/>
                </a:solidFill>
              </a:defRPr>
            </a:lvl5pPr>
            <a:lvl6pPr lvl="5" rtl="0" algn="ctr">
              <a:lnSpc>
                <a:spcPct val="100000"/>
              </a:lnSpc>
              <a:spcBef>
                <a:spcPts val="0"/>
              </a:spcBef>
              <a:spcAft>
                <a:spcPts val="0"/>
              </a:spcAft>
              <a:buClr>
                <a:schemeClr val="dk2"/>
              </a:buClr>
              <a:buSzPts val="1000"/>
              <a:buNone/>
              <a:defRPr sz="1000">
                <a:solidFill>
                  <a:schemeClr val="dk2"/>
                </a:solidFill>
              </a:defRPr>
            </a:lvl6pPr>
            <a:lvl7pPr lvl="6" rtl="0" algn="ctr">
              <a:lnSpc>
                <a:spcPct val="100000"/>
              </a:lnSpc>
              <a:spcBef>
                <a:spcPts val="0"/>
              </a:spcBef>
              <a:spcAft>
                <a:spcPts val="0"/>
              </a:spcAft>
              <a:buClr>
                <a:schemeClr val="dk2"/>
              </a:buClr>
              <a:buSzPts val="1000"/>
              <a:buNone/>
              <a:defRPr sz="1000">
                <a:solidFill>
                  <a:schemeClr val="dk2"/>
                </a:solidFill>
              </a:defRPr>
            </a:lvl7pPr>
            <a:lvl8pPr lvl="7" rtl="0" algn="ctr">
              <a:lnSpc>
                <a:spcPct val="100000"/>
              </a:lnSpc>
              <a:spcBef>
                <a:spcPts val="0"/>
              </a:spcBef>
              <a:spcAft>
                <a:spcPts val="0"/>
              </a:spcAft>
              <a:buClr>
                <a:schemeClr val="dk2"/>
              </a:buClr>
              <a:buSzPts val="1000"/>
              <a:buNone/>
              <a:defRPr sz="1000">
                <a:solidFill>
                  <a:schemeClr val="dk2"/>
                </a:solidFill>
              </a:defRPr>
            </a:lvl8pPr>
            <a:lvl9pPr lvl="8" rtl="0" algn="ctr">
              <a:lnSpc>
                <a:spcPct val="100000"/>
              </a:lnSpc>
              <a:spcBef>
                <a:spcPts val="0"/>
              </a:spcBef>
              <a:spcAft>
                <a:spcPts val="0"/>
              </a:spcAft>
              <a:buClr>
                <a:schemeClr val="dk2"/>
              </a:buClr>
              <a:buSzPts val="1000"/>
              <a:buNone/>
              <a:defRPr sz="1000">
                <a:solidFill>
                  <a:schemeClr val="dk2"/>
                </a:solidFill>
              </a:defRPr>
            </a:lvl9pPr>
          </a:lstStyle>
          <a:p/>
        </p:txBody>
      </p:sp>
      <p:cxnSp>
        <p:nvCxnSpPr>
          <p:cNvPr id="101" name="Google Shape;101;p13"/>
          <p:cNvCxnSpPr/>
          <p:nvPr/>
        </p:nvCxnSpPr>
        <p:spPr>
          <a:xfrm>
            <a:off x="2273400" y="2110663"/>
            <a:ext cx="4597200" cy="0"/>
          </a:xfrm>
          <a:prstGeom prst="straightConnector1">
            <a:avLst/>
          </a:prstGeom>
          <a:noFill/>
          <a:ln cap="flat" cmpd="sng" w="19050">
            <a:solidFill>
              <a:schemeClr val="dk2"/>
            </a:solidFill>
            <a:prstDash val="solid"/>
            <a:round/>
            <a:headEnd len="med" w="med" type="none"/>
            <a:tailEnd len="med" w="med" type="none"/>
          </a:ln>
        </p:spPr>
      </p:cxnSp>
      <p:cxnSp>
        <p:nvCxnSpPr>
          <p:cNvPr id="102" name="Google Shape;102;p13"/>
          <p:cNvCxnSpPr/>
          <p:nvPr/>
        </p:nvCxnSpPr>
        <p:spPr>
          <a:xfrm>
            <a:off x="2273400" y="3627438"/>
            <a:ext cx="4597200" cy="0"/>
          </a:xfrm>
          <a:prstGeom prst="straightConnector1">
            <a:avLst/>
          </a:prstGeom>
          <a:noFill/>
          <a:ln cap="flat" cmpd="sng" w="19050">
            <a:solidFill>
              <a:schemeClr val="dk2"/>
            </a:solidFill>
            <a:prstDash val="solid"/>
            <a:round/>
            <a:headEnd len="med" w="med" type="none"/>
            <a:tailEnd len="med" w="med" type="none"/>
          </a:ln>
        </p:spPr>
      </p:cxnSp>
      <p:sp>
        <p:nvSpPr>
          <p:cNvPr id="103" name="Google Shape;103;p13"/>
          <p:cNvSpPr txBox="1"/>
          <p:nvPr>
            <p:ph idx="8" type="ctrTitle"/>
          </p:nvPr>
        </p:nvSpPr>
        <p:spPr>
          <a:xfrm flipH="1">
            <a:off x="749100" y="500825"/>
            <a:ext cx="8394900" cy="6705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3600"/>
              <a:buNone/>
              <a:defRPr sz="3600">
                <a:solidFill>
                  <a:schemeClr val="dk2"/>
                </a:solidFill>
              </a:defRPr>
            </a:lvl1pPr>
            <a:lvl2pPr lvl="1" rtl="0" algn="r">
              <a:spcBef>
                <a:spcPts val="0"/>
              </a:spcBef>
              <a:spcAft>
                <a:spcPts val="0"/>
              </a:spcAft>
              <a:buClr>
                <a:schemeClr val="dk2"/>
              </a:buClr>
              <a:buSzPts val="2400"/>
              <a:buNone/>
              <a:defRPr sz="2400">
                <a:solidFill>
                  <a:schemeClr val="dk2"/>
                </a:solidFill>
              </a:defRPr>
            </a:lvl2pPr>
            <a:lvl3pPr lvl="2" rtl="0" algn="r">
              <a:spcBef>
                <a:spcPts val="0"/>
              </a:spcBef>
              <a:spcAft>
                <a:spcPts val="0"/>
              </a:spcAft>
              <a:buClr>
                <a:schemeClr val="dk2"/>
              </a:buClr>
              <a:buSzPts val="2400"/>
              <a:buNone/>
              <a:defRPr sz="2400">
                <a:solidFill>
                  <a:schemeClr val="dk2"/>
                </a:solidFill>
              </a:defRPr>
            </a:lvl3pPr>
            <a:lvl4pPr lvl="3" rtl="0" algn="r">
              <a:spcBef>
                <a:spcPts val="0"/>
              </a:spcBef>
              <a:spcAft>
                <a:spcPts val="0"/>
              </a:spcAft>
              <a:buClr>
                <a:schemeClr val="dk2"/>
              </a:buClr>
              <a:buSzPts val="2400"/>
              <a:buNone/>
              <a:defRPr sz="2400">
                <a:solidFill>
                  <a:schemeClr val="dk2"/>
                </a:solidFill>
              </a:defRPr>
            </a:lvl4pPr>
            <a:lvl5pPr lvl="4" rtl="0" algn="r">
              <a:spcBef>
                <a:spcPts val="0"/>
              </a:spcBef>
              <a:spcAft>
                <a:spcPts val="0"/>
              </a:spcAft>
              <a:buClr>
                <a:schemeClr val="dk2"/>
              </a:buClr>
              <a:buSzPts val="2400"/>
              <a:buNone/>
              <a:defRPr sz="2400">
                <a:solidFill>
                  <a:schemeClr val="dk2"/>
                </a:solidFill>
              </a:defRPr>
            </a:lvl5pPr>
            <a:lvl6pPr lvl="5" rtl="0" algn="r">
              <a:spcBef>
                <a:spcPts val="0"/>
              </a:spcBef>
              <a:spcAft>
                <a:spcPts val="0"/>
              </a:spcAft>
              <a:buClr>
                <a:schemeClr val="dk2"/>
              </a:buClr>
              <a:buSzPts val="2400"/>
              <a:buNone/>
              <a:defRPr sz="2400">
                <a:solidFill>
                  <a:schemeClr val="dk2"/>
                </a:solidFill>
              </a:defRPr>
            </a:lvl6pPr>
            <a:lvl7pPr lvl="6" rtl="0" algn="r">
              <a:spcBef>
                <a:spcPts val="0"/>
              </a:spcBef>
              <a:spcAft>
                <a:spcPts val="0"/>
              </a:spcAft>
              <a:buClr>
                <a:schemeClr val="dk2"/>
              </a:buClr>
              <a:buSzPts val="2400"/>
              <a:buNone/>
              <a:defRPr sz="2400">
                <a:solidFill>
                  <a:schemeClr val="dk2"/>
                </a:solidFill>
              </a:defRPr>
            </a:lvl7pPr>
            <a:lvl8pPr lvl="7" rtl="0" algn="r">
              <a:spcBef>
                <a:spcPts val="0"/>
              </a:spcBef>
              <a:spcAft>
                <a:spcPts val="0"/>
              </a:spcAft>
              <a:buClr>
                <a:schemeClr val="dk2"/>
              </a:buClr>
              <a:buSzPts val="2400"/>
              <a:buNone/>
              <a:defRPr sz="2400">
                <a:solidFill>
                  <a:schemeClr val="dk2"/>
                </a:solidFill>
              </a:defRPr>
            </a:lvl8pPr>
            <a:lvl9pPr lvl="8" rtl="0" algn="r">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104" name="Shape 10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CUSTOM_9">
    <p:bg>
      <p:bgPr>
        <a:noFill/>
      </p:bgPr>
    </p:bg>
    <p:spTree>
      <p:nvGrpSpPr>
        <p:cNvPr id="105" name="Shape 10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OPENING 1">
  <p:cSld name="TITLE_1">
    <p:bg>
      <p:bgPr>
        <a:gradFill>
          <a:gsLst>
            <a:gs pos="0">
              <a:srgbClr val="E5B2CA"/>
            </a:gs>
            <a:gs pos="100000">
              <a:srgbClr val="613FB8"/>
            </a:gs>
          </a:gsLst>
          <a:lin ang="5400700" scaled="0"/>
        </a:gradFill>
      </p:bgPr>
    </p:bg>
    <p:spTree>
      <p:nvGrpSpPr>
        <p:cNvPr id="106" name="Shape 106"/>
        <p:cNvGrpSpPr/>
        <p:nvPr/>
      </p:nvGrpSpPr>
      <p:grpSpPr>
        <a:xfrm>
          <a:off x="0" y="0"/>
          <a:ext cx="0" cy="0"/>
          <a:chOff x="0" y="0"/>
          <a:chExt cx="0" cy="0"/>
        </a:xfrm>
      </p:grpSpPr>
      <p:pic>
        <p:nvPicPr>
          <p:cNvPr id="107" name="Google Shape;107;p16"/>
          <p:cNvPicPr preferRelativeResize="0"/>
          <p:nvPr/>
        </p:nvPicPr>
        <p:blipFill rotWithShape="1">
          <a:blip r:embed="rId2">
            <a:alphaModFix/>
          </a:blip>
          <a:srcRect b="0" l="0" r="0" t="1254"/>
          <a:stretch/>
        </p:blipFill>
        <p:spPr>
          <a:xfrm>
            <a:off x="75" y="0"/>
            <a:ext cx="9144000" cy="5078876"/>
          </a:xfrm>
          <a:prstGeom prst="rect">
            <a:avLst/>
          </a:prstGeom>
          <a:noFill/>
          <a:ln>
            <a:noFill/>
          </a:ln>
        </p:spPr>
      </p:pic>
      <p:sp>
        <p:nvSpPr>
          <p:cNvPr id="108" name="Google Shape;108;p16"/>
          <p:cNvSpPr txBox="1"/>
          <p:nvPr>
            <p:ph type="ctrTitle"/>
          </p:nvPr>
        </p:nvSpPr>
        <p:spPr>
          <a:xfrm flipH="1">
            <a:off x="1375550" y="3092475"/>
            <a:ext cx="6393000" cy="67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6000"/>
              <a:buNone/>
              <a:defRPr sz="6000">
                <a:solidFill>
                  <a:schemeClr val="dk2"/>
                </a:solidFill>
              </a:defRPr>
            </a:lvl1pPr>
            <a:lvl2pPr lvl="1" algn="ctr">
              <a:lnSpc>
                <a:spcPct val="100000"/>
              </a:lnSpc>
              <a:spcBef>
                <a:spcPts val="0"/>
              </a:spcBef>
              <a:spcAft>
                <a:spcPts val="0"/>
              </a:spcAft>
              <a:buClr>
                <a:schemeClr val="dk2"/>
              </a:buClr>
              <a:buSzPts val="5200"/>
              <a:buNone/>
              <a:defRPr sz="5200">
                <a:solidFill>
                  <a:schemeClr val="dk2"/>
                </a:solidFill>
              </a:defRPr>
            </a:lvl2pPr>
            <a:lvl3pPr lvl="2" algn="ctr">
              <a:lnSpc>
                <a:spcPct val="100000"/>
              </a:lnSpc>
              <a:spcBef>
                <a:spcPts val="0"/>
              </a:spcBef>
              <a:spcAft>
                <a:spcPts val="0"/>
              </a:spcAft>
              <a:buClr>
                <a:schemeClr val="dk2"/>
              </a:buClr>
              <a:buSzPts val="5200"/>
              <a:buNone/>
              <a:defRPr sz="5200">
                <a:solidFill>
                  <a:schemeClr val="dk2"/>
                </a:solidFill>
              </a:defRPr>
            </a:lvl3pPr>
            <a:lvl4pPr lvl="3" algn="ctr">
              <a:lnSpc>
                <a:spcPct val="100000"/>
              </a:lnSpc>
              <a:spcBef>
                <a:spcPts val="0"/>
              </a:spcBef>
              <a:spcAft>
                <a:spcPts val="0"/>
              </a:spcAft>
              <a:buClr>
                <a:schemeClr val="dk2"/>
              </a:buClr>
              <a:buSzPts val="5200"/>
              <a:buNone/>
              <a:defRPr sz="5200">
                <a:solidFill>
                  <a:schemeClr val="dk2"/>
                </a:solidFill>
              </a:defRPr>
            </a:lvl4pPr>
            <a:lvl5pPr lvl="4" algn="ctr">
              <a:lnSpc>
                <a:spcPct val="100000"/>
              </a:lnSpc>
              <a:spcBef>
                <a:spcPts val="0"/>
              </a:spcBef>
              <a:spcAft>
                <a:spcPts val="0"/>
              </a:spcAft>
              <a:buClr>
                <a:schemeClr val="dk2"/>
              </a:buClr>
              <a:buSzPts val="5200"/>
              <a:buNone/>
              <a:defRPr sz="5200">
                <a:solidFill>
                  <a:schemeClr val="dk2"/>
                </a:solidFill>
              </a:defRPr>
            </a:lvl5pPr>
            <a:lvl6pPr lvl="5" algn="ctr">
              <a:lnSpc>
                <a:spcPct val="100000"/>
              </a:lnSpc>
              <a:spcBef>
                <a:spcPts val="0"/>
              </a:spcBef>
              <a:spcAft>
                <a:spcPts val="0"/>
              </a:spcAft>
              <a:buClr>
                <a:schemeClr val="dk2"/>
              </a:buClr>
              <a:buSzPts val="5200"/>
              <a:buNone/>
              <a:defRPr sz="5200">
                <a:solidFill>
                  <a:schemeClr val="dk2"/>
                </a:solidFill>
              </a:defRPr>
            </a:lvl6pPr>
            <a:lvl7pPr lvl="6" algn="ctr">
              <a:lnSpc>
                <a:spcPct val="100000"/>
              </a:lnSpc>
              <a:spcBef>
                <a:spcPts val="0"/>
              </a:spcBef>
              <a:spcAft>
                <a:spcPts val="0"/>
              </a:spcAft>
              <a:buClr>
                <a:schemeClr val="dk2"/>
              </a:buClr>
              <a:buSzPts val="5200"/>
              <a:buNone/>
              <a:defRPr sz="5200">
                <a:solidFill>
                  <a:schemeClr val="dk2"/>
                </a:solidFill>
              </a:defRPr>
            </a:lvl7pPr>
            <a:lvl8pPr lvl="7" algn="ctr">
              <a:lnSpc>
                <a:spcPct val="100000"/>
              </a:lnSpc>
              <a:spcBef>
                <a:spcPts val="0"/>
              </a:spcBef>
              <a:spcAft>
                <a:spcPts val="0"/>
              </a:spcAft>
              <a:buClr>
                <a:schemeClr val="dk2"/>
              </a:buClr>
              <a:buSzPts val="5200"/>
              <a:buNone/>
              <a:defRPr sz="5200">
                <a:solidFill>
                  <a:schemeClr val="dk2"/>
                </a:solidFill>
              </a:defRPr>
            </a:lvl8pPr>
            <a:lvl9pPr lvl="8" algn="ctr">
              <a:lnSpc>
                <a:spcPct val="100000"/>
              </a:lnSpc>
              <a:spcBef>
                <a:spcPts val="0"/>
              </a:spcBef>
              <a:spcAft>
                <a:spcPts val="0"/>
              </a:spcAft>
              <a:buClr>
                <a:schemeClr val="dk2"/>
              </a:buClr>
              <a:buSzPts val="5200"/>
              <a:buNone/>
              <a:defRPr sz="5200">
                <a:solidFill>
                  <a:schemeClr val="dk2"/>
                </a:solidFill>
              </a:defRPr>
            </a:lvl9pPr>
          </a:lstStyle>
          <a:p/>
        </p:txBody>
      </p:sp>
      <p:sp>
        <p:nvSpPr>
          <p:cNvPr id="109" name="Google Shape;109;p16"/>
          <p:cNvSpPr txBox="1"/>
          <p:nvPr>
            <p:ph idx="1" type="subTitle"/>
          </p:nvPr>
        </p:nvSpPr>
        <p:spPr>
          <a:xfrm flipH="1">
            <a:off x="2750257" y="3636375"/>
            <a:ext cx="3643500" cy="670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400"/>
              <a:buNone/>
              <a:defRPr sz="1400">
                <a:solidFill>
                  <a:schemeClr val="dk2"/>
                </a:solidFill>
              </a:defRPr>
            </a:lvl1pPr>
            <a:lvl2pPr lvl="1" algn="ctr">
              <a:lnSpc>
                <a:spcPct val="100000"/>
              </a:lnSpc>
              <a:spcBef>
                <a:spcPts val="0"/>
              </a:spcBef>
              <a:spcAft>
                <a:spcPts val="0"/>
              </a:spcAft>
              <a:buClr>
                <a:schemeClr val="dk2"/>
              </a:buClr>
              <a:buSzPts val="1400"/>
              <a:buNone/>
              <a:defRPr sz="1400">
                <a:solidFill>
                  <a:schemeClr val="dk2"/>
                </a:solidFill>
              </a:defRPr>
            </a:lvl2pPr>
            <a:lvl3pPr lvl="2" algn="ctr">
              <a:lnSpc>
                <a:spcPct val="100000"/>
              </a:lnSpc>
              <a:spcBef>
                <a:spcPts val="0"/>
              </a:spcBef>
              <a:spcAft>
                <a:spcPts val="0"/>
              </a:spcAft>
              <a:buClr>
                <a:schemeClr val="dk2"/>
              </a:buClr>
              <a:buSzPts val="1400"/>
              <a:buNone/>
              <a:defRPr sz="1400">
                <a:solidFill>
                  <a:schemeClr val="dk2"/>
                </a:solidFill>
              </a:defRPr>
            </a:lvl3pPr>
            <a:lvl4pPr lvl="3" algn="ctr">
              <a:lnSpc>
                <a:spcPct val="100000"/>
              </a:lnSpc>
              <a:spcBef>
                <a:spcPts val="0"/>
              </a:spcBef>
              <a:spcAft>
                <a:spcPts val="0"/>
              </a:spcAft>
              <a:buClr>
                <a:schemeClr val="dk2"/>
              </a:buClr>
              <a:buSzPts val="1400"/>
              <a:buNone/>
              <a:defRPr sz="1400">
                <a:solidFill>
                  <a:schemeClr val="dk2"/>
                </a:solidFill>
              </a:defRPr>
            </a:lvl4pPr>
            <a:lvl5pPr lvl="4" algn="ctr">
              <a:lnSpc>
                <a:spcPct val="100000"/>
              </a:lnSpc>
              <a:spcBef>
                <a:spcPts val="0"/>
              </a:spcBef>
              <a:spcAft>
                <a:spcPts val="0"/>
              </a:spcAft>
              <a:buClr>
                <a:schemeClr val="dk2"/>
              </a:buClr>
              <a:buSzPts val="1400"/>
              <a:buNone/>
              <a:defRPr sz="1400">
                <a:solidFill>
                  <a:schemeClr val="dk2"/>
                </a:solidFill>
              </a:defRPr>
            </a:lvl5pPr>
            <a:lvl6pPr lvl="5" algn="ctr">
              <a:lnSpc>
                <a:spcPct val="100000"/>
              </a:lnSpc>
              <a:spcBef>
                <a:spcPts val="0"/>
              </a:spcBef>
              <a:spcAft>
                <a:spcPts val="0"/>
              </a:spcAft>
              <a:buClr>
                <a:schemeClr val="dk2"/>
              </a:buClr>
              <a:buSzPts val="1400"/>
              <a:buNone/>
              <a:defRPr sz="1400">
                <a:solidFill>
                  <a:schemeClr val="dk2"/>
                </a:solidFill>
              </a:defRPr>
            </a:lvl6pPr>
            <a:lvl7pPr lvl="6" algn="ctr">
              <a:lnSpc>
                <a:spcPct val="100000"/>
              </a:lnSpc>
              <a:spcBef>
                <a:spcPts val="0"/>
              </a:spcBef>
              <a:spcAft>
                <a:spcPts val="0"/>
              </a:spcAft>
              <a:buClr>
                <a:schemeClr val="dk2"/>
              </a:buClr>
              <a:buSzPts val="1400"/>
              <a:buNone/>
              <a:defRPr sz="1400">
                <a:solidFill>
                  <a:schemeClr val="dk2"/>
                </a:solidFill>
              </a:defRPr>
            </a:lvl7pPr>
            <a:lvl8pPr lvl="7" algn="ctr">
              <a:lnSpc>
                <a:spcPct val="100000"/>
              </a:lnSpc>
              <a:spcBef>
                <a:spcPts val="0"/>
              </a:spcBef>
              <a:spcAft>
                <a:spcPts val="0"/>
              </a:spcAft>
              <a:buClr>
                <a:schemeClr val="dk2"/>
              </a:buClr>
              <a:buSzPts val="1400"/>
              <a:buNone/>
              <a:defRPr sz="1400">
                <a:solidFill>
                  <a:schemeClr val="dk2"/>
                </a:solidFill>
              </a:defRPr>
            </a:lvl8pPr>
            <a:lvl9pPr lvl="8" algn="ctr">
              <a:lnSpc>
                <a:spcPct val="100000"/>
              </a:lnSpc>
              <a:spcBef>
                <a:spcPts val="0"/>
              </a:spcBef>
              <a:spcAft>
                <a:spcPts val="0"/>
              </a:spcAft>
              <a:buClr>
                <a:schemeClr val="dk2"/>
              </a:buClr>
              <a:buSzPts val="1400"/>
              <a:buNone/>
              <a:defRPr sz="1400">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2_1_1_1">
    <p:bg>
      <p:bgPr>
        <a:gradFill>
          <a:gsLst>
            <a:gs pos="0">
              <a:srgbClr val="E5B2CA"/>
            </a:gs>
            <a:gs pos="100000">
              <a:srgbClr val="613FB8"/>
            </a:gs>
          </a:gsLst>
          <a:lin ang="5400700" scaled="0"/>
        </a:gradFill>
      </p:bgPr>
    </p:bg>
    <p:spTree>
      <p:nvGrpSpPr>
        <p:cNvPr id="110" name="Shape 110"/>
        <p:cNvGrpSpPr/>
        <p:nvPr/>
      </p:nvGrpSpPr>
      <p:grpSpPr>
        <a:xfrm>
          <a:off x="0" y="0"/>
          <a:ext cx="0" cy="0"/>
          <a:chOff x="0" y="0"/>
          <a:chExt cx="0" cy="0"/>
        </a:xfrm>
      </p:grpSpPr>
      <p:pic>
        <p:nvPicPr>
          <p:cNvPr id="111" name="Google Shape;111;p17"/>
          <p:cNvPicPr preferRelativeResize="0"/>
          <p:nvPr/>
        </p:nvPicPr>
        <p:blipFill rotWithShape="1">
          <a:blip r:embed="rId2">
            <a:alphaModFix/>
          </a:blip>
          <a:srcRect b="1480" l="5517" r="39802" t="7179"/>
          <a:stretch/>
        </p:blipFill>
        <p:spPr>
          <a:xfrm rot="10800000">
            <a:off x="6925725" y="3063401"/>
            <a:ext cx="2218277" cy="2084300"/>
          </a:xfrm>
          <a:prstGeom prst="rect">
            <a:avLst/>
          </a:prstGeom>
          <a:noFill/>
          <a:ln>
            <a:noFill/>
          </a:ln>
        </p:spPr>
      </p:pic>
      <p:pic>
        <p:nvPicPr>
          <p:cNvPr id="112" name="Google Shape;112;p17"/>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
        <p:nvSpPr>
          <p:cNvPr id="113" name="Google Shape;113;p17"/>
          <p:cNvSpPr txBox="1"/>
          <p:nvPr>
            <p:ph type="ctrTitle"/>
          </p:nvPr>
        </p:nvSpPr>
        <p:spPr>
          <a:xfrm flipH="1">
            <a:off x="355600" y="2236500"/>
            <a:ext cx="3956100" cy="670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3600"/>
              <a:buNone/>
              <a:defRPr sz="3600">
                <a:solidFill>
                  <a:schemeClr val="dk2"/>
                </a:solidFill>
              </a:defRPr>
            </a:lvl1pPr>
            <a:lvl2pPr lvl="1" algn="r">
              <a:lnSpc>
                <a:spcPct val="100000"/>
              </a:lnSpc>
              <a:spcBef>
                <a:spcPts val="0"/>
              </a:spcBef>
              <a:spcAft>
                <a:spcPts val="0"/>
              </a:spcAft>
              <a:buClr>
                <a:schemeClr val="dk2"/>
              </a:buClr>
              <a:buSzPts val="2400"/>
              <a:buNone/>
              <a:defRPr sz="2400">
                <a:solidFill>
                  <a:schemeClr val="dk2"/>
                </a:solidFill>
              </a:defRPr>
            </a:lvl2pPr>
            <a:lvl3pPr lvl="2" algn="r">
              <a:lnSpc>
                <a:spcPct val="100000"/>
              </a:lnSpc>
              <a:spcBef>
                <a:spcPts val="0"/>
              </a:spcBef>
              <a:spcAft>
                <a:spcPts val="0"/>
              </a:spcAft>
              <a:buClr>
                <a:schemeClr val="dk2"/>
              </a:buClr>
              <a:buSzPts val="2400"/>
              <a:buNone/>
              <a:defRPr sz="2400">
                <a:solidFill>
                  <a:schemeClr val="dk2"/>
                </a:solidFill>
              </a:defRPr>
            </a:lvl3pPr>
            <a:lvl4pPr lvl="3" algn="r">
              <a:lnSpc>
                <a:spcPct val="100000"/>
              </a:lnSpc>
              <a:spcBef>
                <a:spcPts val="0"/>
              </a:spcBef>
              <a:spcAft>
                <a:spcPts val="0"/>
              </a:spcAft>
              <a:buClr>
                <a:schemeClr val="dk2"/>
              </a:buClr>
              <a:buSzPts val="2400"/>
              <a:buNone/>
              <a:defRPr sz="2400">
                <a:solidFill>
                  <a:schemeClr val="dk2"/>
                </a:solidFill>
              </a:defRPr>
            </a:lvl4pPr>
            <a:lvl5pPr lvl="4" algn="r">
              <a:lnSpc>
                <a:spcPct val="100000"/>
              </a:lnSpc>
              <a:spcBef>
                <a:spcPts val="0"/>
              </a:spcBef>
              <a:spcAft>
                <a:spcPts val="0"/>
              </a:spcAft>
              <a:buClr>
                <a:schemeClr val="dk2"/>
              </a:buClr>
              <a:buSzPts val="2400"/>
              <a:buNone/>
              <a:defRPr sz="2400">
                <a:solidFill>
                  <a:schemeClr val="dk2"/>
                </a:solidFill>
              </a:defRPr>
            </a:lvl5pPr>
            <a:lvl6pPr lvl="5" algn="r">
              <a:lnSpc>
                <a:spcPct val="100000"/>
              </a:lnSpc>
              <a:spcBef>
                <a:spcPts val="0"/>
              </a:spcBef>
              <a:spcAft>
                <a:spcPts val="0"/>
              </a:spcAft>
              <a:buClr>
                <a:schemeClr val="dk2"/>
              </a:buClr>
              <a:buSzPts val="2400"/>
              <a:buNone/>
              <a:defRPr sz="2400">
                <a:solidFill>
                  <a:schemeClr val="dk2"/>
                </a:solidFill>
              </a:defRPr>
            </a:lvl6pPr>
            <a:lvl7pPr lvl="6" algn="r">
              <a:lnSpc>
                <a:spcPct val="100000"/>
              </a:lnSpc>
              <a:spcBef>
                <a:spcPts val="0"/>
              </a:spcBef>
              <a:spcAft>
                <a:spcPts val="0"/>
              </a:spcAft>
              <a:buClr>
                <a:schemeClr val="dk2"/>
              </a:buClr>
              <a:buSzPts val="2400"/>
              <a:buNone/>
              <a:defRPr sz="2400">
                <a:solidFill>
                  <a:schemeClr val="dk2"/>
                </a:solidFill>
              </a:defRPr>
            </a:lvl7pPr>
            <a:lvl8pPr lvl="7" algn="r">
              <a:lnSpc>
                <a:spcPct val="100000"/>
              </a:lnSpc>
              <a:spcBef>
                <a:spcPts val="0"/>
              </a:spcBef>
              <a:spcAft>
                <a:spcPts val="0"/>
              </a:spcAft>
              <a:buClr>
                <a:schemeClr val="dk2"/>
              </a:buClr>
              <a:buSzPts val="2400"/>
              <a:buNone/>
              <a:defRPr sz="2400">
                <a:solidFill>
                  <a:schemeClr val="dk2"/>
                </a:solidFill>
              </a:defRPr>
            </a:lvl8pPr>
            <a:lvl9pPr lvl="8" algn="r">
              <a:lnSpc>
                <a:spcPct val="100000"/>
              </a:lnSpc>
              <a:spcBef>
                <a:spcPts val="0"/>
              </a:spcBef>
              <a:spcAft>
                <a:spcPts val="0"/>
              </a:spcAft>
              <a:buClr>
                <a:schemeClr val="dk2"/>
              </a:buClr>
              <a:buSzPts val="2400"/>
              <a:buNone/>
              <a:defRPr sz="2400">
                <a:solidFill>
                  <a:schemeClr val="dk2"/>
                </a:solidFill>
              </a:defRPr>
            </a:lvl9pPr>
          </a:lstStyle>
          <a:p/>
        </p:txBody>
      </p:sp>
      <p:sp>
        <p:nvSpPr>
          <p:cNvPr id="114" name="Google Shape;114;p17"/>
          <p:cNvSpPr txBox="1"/>
          <p:nvPr>
            <p:ph idx="1" type="subTitle"/>
          </p:nvPr>
        </p:nvSpPr>
        <p:spPr>
          <a:xfrm>
            <a:off x="4837607" y="2387850"/>
            <a:ext cx="1906500" cy="36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dk2"/>
              </a:buClr>
              <a:buSzPts val="1200"/>
              <a:buNone/>
              <a:defRPr sz="1200">
                <a:solidFill>
                  <a:schemeClr val="dk2"/>
                </a:solidFill>
              </a:defRPr>
            </a:lvl1pPr>
            <a:lvl2pPr lvl="1" algn="l">
              <a:lnSpc>
                <a:spcPct val="100000"/>
              </a:lnSpc>
              <a:spcBef>
                <a:spcPts val="0"/>
              </a:spcBef>
              <a:spcAft>
                <a:spcPts val="0"/>
              </a:spcAft>
              <a:buClr>
                <a:schemeClr val="dk2"/>
              </a:buClr>
              <a:buSzPts val="1200"/>
              <a:buNone/>
              <a:defRPr sz="1200">
                <a:solidFill>
                  <a:schemeClr val="dk2"/>
                </a:solidFill>
              </a:defRPr>
            </a:lvl2pPr>
            <a:lvl3pPr lvl="2" algn="l">
              <a:lnSpc>
                <a:spcPct val="100000"/>
              </a:lnSpc>
              <a:spcBef>
                <a:spcPts val="0"/>
              </a:spcBef>
              <a:spcAft>
                <a:spcPts val="0"/>
              </a:spcAft>
              <a:buClr>
                <a:schemeClr val="dk2"/>
              </a:buClr>
              <a:buSzPts val="1200"/>
              <a:buNone/>
              <a:defRPr sz="1200">
                <a:solidFill>
                  <a:schemeClr val="dk2"/>
                </a:solidFill>
              </a:defRPr>
            </a:lvl3pPr>
            <a:lvl4pPr lvl="3" algn="l">
              <a:lnSpc>
                <a:spcPct val="100000"/>
              </a:lnSpc>
              <a:spcBef>
                <a:spcPts val="0"/>
              </a:spcBef>
              <a:spcAft>
                <a:spcPts val="0"/>
              </a:spcAft>
              <a:buClr>
                <a:schemeClr val="dk2"/>
              </a:buClr>
              <a:buSzPts val="1200"/>
              <a:buNone/>
              <a:defRPr sz="1200">
                <a:solidFill>
                  <a:schemeClr val="dk2"/>
                </a:solidFill>
              </a:defRPr>
            </a:lvl4pPr>
            <a:lvl5pPr lvl="4" algn="l">
              <a:lnSpc>
                <a:spcPct val="100000"/>
              </a:lnSpc>
              <a:spcBef>
                <a:spcPts val="0"/>
              </a:spcBef>
              <a:spcAft>
                <a:spcPts val="0"/>
              </a:spcAft>
              <a:buClr>
                <a:schemeClr val="dk2"/>
              </a:buClr>
              <a:buSzPts val="1200"/>
              <a:buNone/>
              <a:defRPr sz="1200">
                <a:solidFill>
                  <a:schemeClr val="dk2"/>
                </a:solidFill>
              </a:defRPr>
            </a:lvl5pPr>
            <a:lvl6pPr lvl="5" algn="l">
              <a:lnSpc>
                <a:spcPct val="100000"/>
              </a:lnSpc>
              <a:spcBef>
                <a:spcPts val="0"/>
              </a:spcBef>
              <a:spcAft>
                <a:spcPts val="0"/>
              </a:spcAft>
              <a:buClr>
                <a:schemeClr val="dk2"/>
              </a:buClr>
              <a:buSzPts val="1200"/>
              <a:buNone/>
              <a:defRPr sz="1200">
                <a:solidFill>
                  <a:schemeClr val="dk2"/>
                </a:solidFill>
              </a:defRPr>
            </a:lvl6pPr>
            <a:lvl7pPr lvl="6" algn="l">
              <a:lnSpc>
                <a:spcPct val="100000"/>
              </a:lnSpc>
              <a:spcBef>
                <a:spcPts val="0"/>
              </a:spcBef>
              <a:spcAft>
                <a:spcPts val="0"/>
              </a:spcAft>
              <a:buClr>
                <a:schemeClr val="dk2"/>
              </a:buClr>
              <a:buSzPts val="1200"/>
              <a:buNone/>
              <a:defRPr sz="1200">
                <a:solidFill>
                  <a:schemeClr val="dk2"/>
                </a:solidFill>
              </a:defRPr>
            </a:lvl7pPr>
            <a:lvl8pPr lvl="7" algn="l">
              <a:lnSpc>
                <a:spcPct val="100000"/>
              </a:lnSpc>
              <a:spcBef>
                <a:spcPts val="0"/>
              </a:spcBef>
              <a:spcAft>
                <a:spcPts val="0"/>
              </a:spcAft>
              <a:buClr>
                <a:schemeClr val="dk2"/>
              </a:buClr>
              <a:buSzPts val="1200"/>
              <a:buNone/>
              <a:defRPr sz="1200">
                <a:solidFill>
                  <a:schemeClr val="dk2"/>
                </a:solidFill>
              </a:defRPr>
            </a:lvl8pPr>
            <a:lvl9pPr lvl="8" algn="l">
              <a:lnSpc>
                <a:spcPct val="100000"/>
              </a:lnSpc>
              <a:spcBef>
                <a:spcPts val="0"/>
              </a:spcBef>
              <a:spcAft>
                <a:spcPts val="0"/>
              </a:spcAft>
              <a:buClr>
                <a:schemeClr val="dk2"/>
              </a:buClr>
              <a:buSzPts val="1200"/>
              <a:buNone/>
              <a:defRPr sz="1200">
                <a:solidFill>
                  <a:schemeClr val="dk2"/>
                </a:solidFill>
              </a:defRPr>
            </a:lvl9pPr>
          </a:lstStyle>
          <a:p/>
        </p:txBody>
      </p:sp>
      <p:cxnSp>
        <p:nvCxnSpPr>
          <p:cNvPr id="115" name="Google Shape;115;p17"/>
          <p:cNvCxnSpPr/>
          <p:nvPr/>
        </p:nvCxnSpPr>
        <p:spPr>
          <a:xfrm>
            <a:off x="4572000" y="1228200"/>
            <a:ext cx="0" cy="268710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CUSTOM_2_1_3">
    <p:bg>
      <p:bgPr>
        <a:gradFill>
          <a:gsLst>
            <a:gs pos="0">
              <a:srgbClr val="E5B2CA"/>
            </a:gs>
            <a:gs pos="100000">
              <a:srgbClr val="613FB8"/>
            </a:gs>
          </a:gsLst>
          <a:lin ang="5400700" scaled="0"/>
        </a:gradFill>
      </p:bgPr>
    </p:bg>
    <p:spTree>
      <p:nvGrpSpPr>
        <p:cNvPr id="116" name="Shape 116"/>
        <p:cNvGrpSpPr/>
        <p:nvPr/>
      </p:nvGrpSpPr>
      <p:grpSpPr>
        <a:xfrm>
          <a:off x="0" y="0"/>
          <a:ext cx="0" cy="0"/>
          <a:chOff x="0" y="0"/>
          <a:chExt cx="0" cy="0"/>
        </a:xfrm>
      </p:grpSpPr>
      <p:pic>
        <p:nvPicPr>
          <p:cNvPr id="117" name="Google Shape;117;p18"/>
          <p:cNvPicPr preferRelativeResize="0"/>
          <p:nvPr/>
        </p:nvPicPr>
        <p:blipFill rotWithShape="1">
          <a:blip r:embed="rId2">
            <a:alphaModFix/>
          </a:blip>
          <a:srcRect b="1480" l="5517" r="39802" t="7179"/>
          <a:stretch/>
        </p:blipFill>
        <p:spPr>
          <a:xfrm>
            <a:off x="-100" y="1"/>
            <a:ext cx="2218277" cy="2084300"/>
          </a:xfrm>
          <a:prstGeom prst="rect">
            <a:avLst/>
          </a:prstGeom>
          <a:noFill/>
          <a:ln>
            <a:noFill/>
          </a:ln>
        </p:spPr>
      </p:pic>
      <p:sp>
        <p:nvSpPr>
          <p:cNvPr id="118" name="Google Shape;118;p18"/>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dk2"/>
              </a:buClr>
              <a:buSzPts val="3600"/>
              <a:buNone/>
              <a:defRPr sz="3600">
                <a:solidFill>
                  <a:schemeClr val="dk2"/>
                </a:solidFill>
              </a:defRPr>
            </a:lvl1pPr>
            <a:lvl2pPr lvl="1" algn="r">
              <a:lnSpc>
                <a:spcPct val="100000"/>
              </a:lnSpc>
              <a:spcBef>
                <a:spcPts val="0"/>
              </a:spcBef>
              <a:spcAft>
                <a:spcPts val="0"/>
              </a:spcAft>
              <a:buClr>
                <a:schemeClr val="dk2"/>
              </a:buClr>
              <a:buSzPts val="2400"/>
              <a:buNone/>
              <a:defRPr sz="2400">
                <a:solidFill>
                  <a:schemeClr val="dk2"/>
                </a:solidFill>
              </a:defRPr>
            </a:lvl2pPr>
            <a:lvl3pPr lvl="2" algn="r">
              <a:lnSpc>
                <a:spcPct val="100000"/>
              </a:lnSpc>
              <a:spcBef>
                <a:spcPts val="0"/>
              </a:spcBef>
              <a:spcAft>
                <a:spcPts val="0"/>
              </a:spcAft>
              <a:buClr>
                <a:schemeClr val="dk2"/>
              </a:buClr>
              <a:buSzPts val="2400"/>
              <a:buNone/>
              <a:defRPr sz="2400">
                <a:solidFill>
                  <a:schemeClr val="dk2"/>
                </a:solidFill>
              </a:defRPr>
            </a:lvl3pPr>
            <a:lvl4pPr lvl="3" algn="r">
              <a:lnSpc>
                <a:spcPct val="100000"/>
              </a:lnSpc>
              <a:spcBef>
                <a:spcPts val="0"/>
              </a:spcBef>
              <a:spcAft>
                <a:spcPts val="0"/>
              </a:spcAft>
              <a:buClr>
                <a:schemeClr val="dk2"/>
              </a:buClr>
              <a:buSzPts val="2400"/>
              <a:buNone/>
              <a:defRPr sz="2400">
                <a:solidFill>
                  <a:schemeClr val="dk2"/>
                </a:solidFill>
              </a:defRPr>
            </a:lvl4pPr>
            <a:lvl5pPr lvl="4" algn="r">
              <a:lnSpc>
                <a:spcPct val="100000"/>
              </a:lnSpc>
              <a:spcBef>
                <a:spcPts val="0"/>
              </a:spcBef>
              <a:spcAft>
                <a:spcPts val="0"/>
              </a:spcAft>
              <a:buClr>
                <a:schemeClr val="dk2"/>
              </a:buClr>
              <a:buSzPts val="2400"/>
              <a:buNone/>
              <a:defRPr sz="2400">
                <a:solidFill>
                  <a:schemeClr val="dk2"/>
                </a:solidFill>
              </a:defRPr>
            </a:lvl5pPr>
            <a:lvl6pPr lvl="5" algn="r">
              <a:lnSpc>
                <a:spcPct val="100000"/>
              </a:lnSpc>
              <a:spcBef>
                <a:spcPts val="0"/>
              </a:spcBef>
              <a:spcAft>
                <a:spcPts val="0"/>
              </a:spcAft>
              <a:buClr>
                <a:schemeClr val="dk2"/>
              </a:buClr>
              <a:buSzPts val="2400"/>
              <a:buNone/>
              <a:defRPr sz="2400">
                <a:solidFill>
                  <a:schemeClr val="dk2"/>
                </a:solidFill>
              </a:defRPr>
            </a:lvl6pPr>
            <a:lvl7pPr lvl="6" algn="r">
              <a:lnSpc>
                <a:spcPct val="100000"/>
              </a:lnSpc>
              <a:spcBef>
                <a:spcPts val="0"/>
              </a:spcBef>
              <a:spcAft>
                <a:spcPts val="0"/>
              </a:spcAft>
              <a:buClr>
                <a:schemeClr val="dk2"/>
              </a:buClr>
              <a:buSzPts val="2400"/>
              <a:buNone/>
              <a:defRPr sz="2400">
                <a:solidFill>
                  <a:schemeClr val="dk2"/>
                </a:solidFill>
              </a:defRPr>
            </a:lvl7pPr>
            <a:lvl8pPr lvl="7" algn="r">
              <a:lnSpc>
                <a:spcPct val="100000"/>
              </a:lnSpc>
              <a:spcBef>
                <a:spcPts val="0"/>
              </a:spcBef>
              <a:spcAft>
                <a:spcPts val="0"/>
              </a:spcAft>
              <a:buClr>
                <a:schemeClr val="dk2"/>
              </a:buClr>
              <a:buSzPts val="2400"/>
              <a:buNone/>
              <a:defRPr sz="2400">
                <a:solidFill>
                  <a:schemeClr val="dk2"/>
                </a:solidFill>
              </a:defRPr>
            </a:lvl8pPr>
            <a:lvl9pPr lvl="8" algn="r">
              <a:lnSpc>
                <a:spcPct val="100000"/>
              </a:lnSpc>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1">
  <p:cSld name="CUSTOM_4_1">
    <p:spTree>
      <p:nvGrpSpPr>
        <p:cNvPr id="119" name="Shape 119"/>
        <p:cNvGrpSpPr/>
        <p:nvPr/>
      </p:nvGrpSpPr>
      <p:grpSpPr>
        <a:xfrm>
          <a:off x="0" y="0"/>
          <a:ext cx="0" cy="0"/>
          <a:chOff x="0" y="0"/>
          <a:chExt cx="0" cy="0"/>
        </a:xfrm>
      </p:grpSpPr>
      <p:pic>
        <p:nvPicPr>
          <p:cNvPr id="120" name="Google Shape;120;p19"/>
          <p:cNvPicPr preferRelativeResize="0"/>
          <p:nvPr/>
        </p:nvPicPr>
        <p:blipFill rotWithShape="1">
          <a:blip r:embed="rId2">
            <a:alphaModFix/>
          </a:blip>
          <a:srcRect b="1483" l="5517" r="39802" t="7542"/>
          <a:stretch/>
        </p:blipFill>
        <p:spPr>
          <a:xfrm>
            <a:off x="102" y="0"/>
            <a:ext cx="3683323" cy="3446950"/>
          </a:xfrm>
          <a:prstGeom prst="rect">
            <a:avLst/>
          </a:prstGeom>
          <a:noFill/>
          <a:ln>
            <a:noFill/>
          </a:ln>
        </p:spPr>
      </p:pic>
      <p:pic>
        <p:nvPicPr>
          <p:cNvPr id="121" name="Google Shape;121;p19"/>
          <p:cNvPicPr preferRelativeResize="0"/>
          <p:nvPr/>
        </p:nvPicPr>
        <p:blipFill rotWithShape="1">
          <a:blip r:embed="rId2">
            <a:alphaModFix/>
          </a:blip>
          <a:srcRect b="1483" l="5517" r="39802" t="7542"/>
          <a:stretch/>
        </p:blipFill>
        <p:spPr>
          <a:xfrm rot="10800000">
            <a:off x="5457877" y="1699550"/>
            <a:ext cx="3683323" cy="3446950"/>
          </a:xfrm>
          <a:prstGeom prst="rect">
            <a:avLst/>
          </a:prstGeom>
          <a:noFill/>
          <a:ln>
            <a:noFill/>
          </a:ln>
        </p:spPr>
      </p:pic>
      <p:sp>
        <p:nvSpPr>
          <p:cNvPr id="122" name="Google Shape;122;p19"/>
          <p:cNvSpPr txBox="1"/>
          <p:nvPr>
            <p:ph type="ctrTitle"/>
          </p:nvPr>
        </p:nvSpPr>
        <p:spPr>
          <a:xfrm>
            <a:off x="1250675" y="1851425"/>
            <a:ext cx="6658800" cy="670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3600"/>
              <a:buNone/>
              <a:defRPr sz="3600">
                <a:solidFill>
                  <a:schemeClr val="dk2"/>
                </a:solidFill>
              </a:defRPr>
            </a:lvl1pPr>
            <a:lvl2pPr lvl="1" algn="ctr">
              <a:lnSpc>
                <a:spcPct val="100000"/>
              </a:lnSpc>
              <a:spcBef>
                <a:spcPts val="0"/>
              </a:spcBef>
              <a:spcAft>
                <a:spcPts val="0"/>
              </a:spcAft>
              <a:buClr>
                <a:schemeClr val="dk2"/>
              </a:buClr>
              <a:buSzPts val="1800"/>
              <a:buNone/>
              <a:defRPr sz="1800">
                <a:solidFill>
                  <a:schemeClr val="dk2"/>
                </a:solidFill>
              </a:defRPr>
            </a:lvl2pPr>
            <a:lvl3pPr lvl="2" algn="ctr">
              <a:lnSpc>
                <a:spcPct val="100000"/>
              </a:lnSpc>
              <a:spcBef>
                <a:spcPts val="0"/>
              </a:spcBef>
              <a:spcAft>
                <a:spcPts val="0"/>
              </a:spcAft>
              <a:buClr>
                <a:schemeClr val="dk2"/>
              </a:buClr>
              <a:buSzPts val="1800"/>
              <a:buNone/>
              <a:defRPr sz="1800">
                <a:solidFill>
                  <a:schemeClr val="dk2"/>
                </a:solidFill>
              </a:defRPr>
            </a:lvl3pPr>
            <a:lvl4pPr lvl="3" algn="ctr">
              <a:lnSpc>
                <a:spcPct val="100000"/>
              </a:lnSpc>
              <a:spcBef>
                <a:spcPts val="0"/>
              </a:spcBef>
              <a:spcAft>
                <a:spcPts val="0"/>
              </a:spcAft>
              <a:buClr>
                <a:schemeClr val="dk2"/>
              </a:buClr>
              <a:buSzPts val="1800"/>
              <a:buNone/>
              <a:defRPr sz="1800">
                <a:solidFill>
                  <a:schemeClr val="dk2"/>
                </a:solidFill>
              </a:defRPr>
            </a:lvl4pPr>
            <a:lvl5pPr lvl="4" algn="ctr">
              <a:lnSpc>
                <a:spcPct val="100000"/>
              </a:lnSpc>
              <a:spcBef>
                <a:spcPts val="0"/>
              </a:spcBef>
              <a:spcAft>
                <a:spcPts val="0"/>
              </a:spcAft>
              <a:buClr>
                <a:schemeClr val="dk2"/>
              </a:buClr>
              <a:buSzPts val="1800"/>
              <a:buNone/>
              <a:defRPr sz="1800">
                <a:solidFill>
                  <a:schemeClr val="dk2"/>
                </a:solidFill>
              </a:defRPr>
            </a:lvl5pPr>
            <a:lvl6pPr lvl="5" algn="ctr">
              <a:lnSpc>
                <a:spcPct val="100000"/>
              </a:lnSpc>
              <a:spcBef>
                <a:spcPts val="0"/>
              </a:spcBef>
              <a:spcAft>
                <a:spcPts val="0"/>
              </a:spcAft>
              <a:buClr>
                <a:schemeClr val="dk2"/>
              </a:buClr>
              <a:buSzPts val="1800"/>
              <a:buNone/>
              <a:defRPr sz="1800">
                <a:solidFill>
                  <a:schemeClr val="dk2"/>
                </a:solidFill>
              </a:defRPr>
            </a:lvl6pPr>
            <a:lvl7pPr lvl="6" algn="ctr">
              <a:lnSpc>
                <a:spcPct val="100000"/>
              </a:lnSpc>
              <a:spcBef>
                <a:spcPts val="0"/>
              </a:spcBef>
              <a:spcAft>
                <a:spcPts val="0"/>
              </a:spcAft>
              <a:buClr>
                <a:schemeClr val="dk2"/>
              </a:buClr>
              <a:buSzPts val="1800"/>
              <a:buNone/>
              <a:defRPr sz="1800">
                <a:solidFill>
                  <a:schemeClr val="dk2"/>
                </a:solidFill>
              </a:defRPr>
            </a:lvl7pPr>
            <a:lvl8pPr lvl="7" algn="ctr">
              <a:lnSpc>
                <a:spcPct val="100000"/>
              </a:lnSpc>
              <a:spcBef>
                <a:spcPts val="0"/>
              </a:spcBef>
              <a:spcAft>
                <a:spcPts val="0"/>
              </a:spcAft>
              <a:buClr>
                <a:schemeClr val="dk2"/>
              </a:buClr>
              <a:buSzPts val="1800"/>
              <a:buNone/>
              <a:defRPr sz="1800">
                <a:solidFill>
                  <a:schemeClr val="dk2"/>
                </a:solidFill>
              </a:defRPr>
            </a:lvl8pPr>
            <a:lvl9pPr lvl="8" algn="ctr">
              <a:lnSpc>
                <a:spcPct val="100000"/>
              </a:lnSpc>
              <a:spcBef>
                <a:spcPts val="0"/>
              </a:spcBef>
              <a:spcAft>
                <a:spcPts val="0"/>
              </a:spcAft>
              <a:buClr>
                <a:schemeClr val="dk2"/>
              </a:buClr>
              <a:buSzPts val="1800"/>
              <a:buNone/>
              <a:defRPr sz="1800">
                <a:solidFill>
                  <a:schemeClr val="dk2"/>
                </a:solidFill>
              </a:defRPr>
            </a:lvl9pPr>
          </a:lstStyle>
          <a:p/>
        </p:txBody>
      </p:sp>
      <p:sp>
        <p:nvSpPr>
          <p:cNvPr id="123" name="Google Shape;123;p19"/>
          <p:cNvSpPr txBox="1"/>
          <p:nvPr>
            <p:ph idx="1" type="subTitle"/>
          </p:nvPr>
        </p:nvSpPr>
        <p:spPr>
          <a:xfrm>
            <a:off x="3114750" y="2640476"/>
            <a:ext cx="2930700" cy="651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000"/>
              <a:buNone/>
              <a:defRPr sz="1000">
                <a:solidFill>
                  <a:schemeClr val="dk2"/>
                </a:solidFill>
              </a:defRPr>
            </a:lvl1pPr>
            <a:lvl2pPr lvl="1" algn="ctr">
              <a:lnSpc>
                <a:spcPct val="100000"/>
              </a:lnSpc>
              <a:spcBef>
                <a:spcPts val="0"/>
              </a:spcBef>
              <a:spcAft>
                <a:spcPts val="0"/>
              </a:spcAft>
              <a:buClr>
                <a:schemeClr val="dk2"/>
              </a:buClr>
              <a:buSzPts val="1000"/>
              <a:buNone/>
              <a:defRPr sz="1000">
                <a:solidFill>
                  <a:schemeClr val="dk2"/>
                </a:solidFill>
              </a:defRPr>
            </a:lvl2pPr>
            <a:lvl3pPr lvl="2" algn="ctr">
              <a:lnSpc>
                <a:spcPct val="100000"/>
              </a:lnSpc>
              <a:spcBef>
                <a:spcPts val="0"/>
              </a:spcBef>
              <a:spcAft>
                <a:spcPts val="0"/>
              </a:spcAft>
              <a:buClr>
                <a:schemeClr val="dk2"/>
              </a:buClr>
              <a:buSzPts val="1000"/>
              <a:buNone/>
              <a:defRPr sz="1000">
                <a:solidFill>
                  <a:schemeClr val="dk2"/>
                </a:solidFill>
              </a:defRPr>
            </a:lvl3pPr>
            <a:lvl4pPr lvl="3" algn="ctr">
              <a:lnSpc>
                <a:spcPct val="100000"/>
              </a:lnSpc>
              <a:spcBef>
                <a:spcPts val="0"/>
              </a:spcBef>
              <a:spcAft>
                <a:spcPts val="0"/>
              </a:spcAft>
              <a:buClr>
                <a:schemeClr val="dk2"/>
              </a:buClr>
              <a:buSzPts val="1000"/>
              <a:buNone/>
              <a:defRPr sz="1000">
                <a:solidFill>
                  <a:schemeClr val="dk2"/>
                </a:solidFill>
              </a:defRPr>
            </a:lvl4pPr>
            <a:lvl5pPr lvl="4" algn="ctr">
              <a:lnSpc>
                <a:spcPct val="100000"/>
              </a:lnSpc>
              <a:spcBef>
                <a:spcPts val="0"/>
              </a:spcBef>
              <a:spcAft>
                <a:spcPts val="0"/>
              </a:spcAft>
              <a:buClr>
                <a:schemeClr val="dk2"/>
              </a:buClr>
              <a:buSzPts val="1000"/>
              <a:buNone/>
              <a:defRPr sz="1000">
                <a:solidFill>
                  <a:schemeClr val="dk2"/>
                </a:solidFill>
              </a:defRPr>
            </a:lvl5pPr>
            <a:lvl6pPr lvl="5" algn="ctr">
              <a:lnSpc>
                <a:spcPct val="100000"/>
              </a:lnSpc>
              <a:spcBef>
                <a:spcPts val="0"/>
              </a:spcBef>
              <a:spcAft>
                <a:spcPts val="0"/>
              </a:spcAft>
              <a:buClr>
                <a:schemeClr val="dk2"/>
              </a:buClr>
              <a:buSzPts val="1000"/>
              <a:buNone/>
              <a:defRPr sz="1000">
                <a:solidFill>
                  <a:schemeClr val="dk2"/>
                </a:solidFill>
              </a:defRPr>
            </a:lvl6pPr>
            <a:lvl7pPr lvl="6" algn="ctr">
              <a:lnSpc>
                <a:spcPct val="100000"/>
              </a:lnSpc>
              <a:spcBef>
                <a:spcPts val="0"/>
              </a:spcBef>
              <a:spcAft>
                <a:spcPts val="0"/>
              </a:spcAft>
              <a:buClr>
                <a:schemeClr val="dk2"/>
              </a:buClr>
              <a:buSzPts val="1000"/>
              <a:buNone/>
              <a:defRPr sz="1000">
                <a:solidFill>
                  <a:schemeClr val="dk2"/>
                </a:solidFill>
              </a:defRPr>
            </a:lvl7pPr>
            <a:lvl8pPr lvl="7" algn="ctr">
              <a:lnSpc>
                <a:spcPct val="100000"/>
              </a:lnSpc>
              <a:spcBef>
                <a:spcPts val="0"/>
              </a:spcBef>
              <a:spcAft>
                <a:spcPts val="0"/>
              </a:spcAft>
              <a:buClr>
                <a:schemeClr val="dk2"/>
              </a:buClr>
              <a:buSzPts val="1000"/>
              <a:buNone/>
              <a:defRPr sz="1000">
                <a:solidFill>
                  <a:schemeClr val="dk2"/>
                </a:solidFill>
              </a:defRPr>
            </a:lvl8pPr>
            <a:lvl9pPr lvl="8" algn="ctr">
              <a:lnSpc>
                <a:spcPct val="100000"/>
              </a:lnSpc>
              <a:spcBef>
                <a:spcPts val="0"/>
              </a:spcBef>
              <a:spcAft>
                <a:spcPts val="0"/>
              </a:spcAft>
              <a:buClr>
                <a:schemeClr val="dk2"/>
              </a:buClr>
              <a:buSzPts val="1000"/>
              <a:buNone/>
              <a:defRPr sz="1000">
                <a:solidFill>
                  <a:schemeClr val="dk2"/>
                </a:solidFill>
              </a:defRPr>
            </a:lvl9pPr>
          </a:lstStyle>
          <a:p/>
        </p:txBody>
      </p:sp>
      <p:cxnSp>
        <p:nvCxnSpPr>
          <p:cNvPr id="124" name="Google Shape;124;p19"/>
          <p:cNvCxnSpPr/>
          <p:nvPr/>
        </p:nvCxnSpPr>
        <p:spPr>
          <a:xfrm>
            <a:off x="3681150" y="2571750"/>
            <a:ext cx="1797900" cy="0"/>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05C4C4"/>
            </a:gs>
            <a:gs pos="100000">
              <a:srgbClr val="613FB8"/>
            </a:gs>
          </a:gsLst>
          <a:lin ang="54007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rgbClr val="FFFFFF"/>
              </a:buClr>
              <a:buSzPts val="2800"/>
              <a:buFont typeface="Squada One"/>
              <a:buNone/>
              <a:defRPr sz="2800">
                <a:solidFill>
                  <a:srgbClr val="FFFFFF"/>
                </a:solidFill>
                <a:latin typeface="Squada One"/>
                <a:ea typeface="Squada One"/>
                <a:cs typeface="Squada One"/>
                <a:sym typeface="Squada One"/>
              </a:defRPr>
            </a:lvl1pPr>
            <a:lvl2pPr lvl="1">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2pPr>
            <a:lvl3pPr lvl="2">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3pPr>
            <a:lvl4pPr lvl="3">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4pPr>
            <a:lvl5pPr lvl="4">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5pPr>
            <a:lvl6pPr lvl="5">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6pPr>
            <a:lvl7pPr lvl="6">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7pPr>
            <a:lvl8pPr lvl="7">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8pPr>
            <a:lvl9pPr lvl="8">
              <a:spcBef>
                <a:spcPts val="0"/>
              </a:spcBef>
              <a:spcAft>
                <a:spcPts val="0"/>
              </a:spcAft>
              <a:buClr>
                <a:srgbClr val="FFFFFF"/>
              </a:buClr>
              <a:buSzPts val="2800"/>
              <a:buFont typeface="Righteous"/>
              <a:buNone/>
              <a:defRPr sz="2800">
                <a:solidFill>
                  <a:srgbClr val="FFFFFF"/>
                </a:solidFill>
                <a:latin typeface="Righteous"/>
                <a:ea typeface="Righteous"/>
                <a:cs typeface="Righteous"/>
                <a:sym typeface="Righteou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rgbClr val="FFFFFF"/>
              </a:buClr>
              <a:buSzPts val="1800"/>
              <a:buFont typeface="Roboto Condensed Light"/>
              <a:buChar char="●"/>
              <a:defRPr sz="1800">
                <a:solidFill>
                  <a:srgbClr val="FFFFFF"/>
                </a:solidFill>
                <a:latin typeface="Roboto Condensed Light"/>
                <a:ea typeface="Roboto Condensed Light"/>
                <a:cs typeface="Roboto Condensed Light"/>
                <a:sym typeface="Roboto Condensed Light"/>
              </a:defRPr>
            </a:lvl1pPr>
            <a:lvl2pPr indent="-317500" lvl="1" marL="9144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2pPr>
            <a:lvl3pPr indent="-317500" lvl="2" marL="13716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3pPr>
            <a:lvl4pPr indent="-317500" lvl="3" marL="18288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4pPr>
            <a:lvl5pPr indent="-317500" lvl="4" marL="22860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5pPr>
            <a:lvl6pPr indent="-317500" lvl="5" marL="27432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6pPr>
            <a:lvl7pPr indent="-317500" lvl="6" marL="32004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7pPr>
            <a:lvl8pPr indent="-317500" lvl="7" marL="3657600">
              <a:lnSpc>
                <a:spcPct val="115000"/>
              </a:lnSpc>
              <a:spcBef>
                <a:spcPts val="1600"/>
              </a:spcBef>
              <a:spcAft>
                <a:spcPts val="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8pPr>
            <a:lvl9pPr indent="-317500" lvl="8" marL="4114800">
              <a:lnSpc>
                <a:spcPct val="115000"/>
              </a:lnSpc>
              <a:spcBef>
                <a:spcPts val="1600"/>
              </a:spcBef>
              <a:spcAft>
                <a:spcPts val="1600"/>
              </a:spcAft>
              <a:buClr>
                <a:srgbClr val="FFFFFF"/>
              </a:buClr>
              <a:buSzPts val="1400"/>
              <a:buFont typeface="Roboto Condensed Light"/>
              <a:buChar char="■"/>
              <a:defRPr>
                <a:solidFill>
                  <a:srgbClr val="FFFFFF"/>
                </a:solidFill>
                <a:latin typeface="Roboto Condensed Light"/>
                <a:ea typeface="Roboto Condensed Light"/>
                <a:cs typeface="Roboto Condensed Light"/>
                <a:sym typeface="Roboto Condensed Light"/>
              </a:defRPr>
            </a:lvl9pPr>
          </a:lstStyle>
          <a:p/>
        </p:txBody>
      </p:sp>
      <p:pic>
        <p:nvPicPr>
          <p:cNvPr id="8" name="Google Shape;8;p1"/>
          <p:cNvPicPr preferRelativeResize="0"/>
          <p:nvPr/>
        </p:nvPicPr>
        <p:blipFill>
          <a:blip r:embed="rId1">
            <a:alphaModFix/>
          </a:blip>
          <a:stretch>
            <a:fillRect/>
          </a:stretch>
        </p:blipFill>
        <p:spPr>
          <a:xfrm>
            <a:off x="623438" y="0"/>
            <a:ext cx="7897132"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128" name="Shape 128"/>
        <p:cNvGrpSpPr/>
        <p:nvPr/>
      </p:nvGrpSpPr>
      <p:grpSpPr>
        <a:xfrm>
          <a:off x="0" y="0"/>
          <a:ext cx="0" cy="0"/>
          <a:chOff x="0" y="0"/>
          <a:chExt cx="0" cy="0"/>
        </a:xfrm>
      </p:grpSpPr>
      <p:sp>
        <p:nvSpPr>
          <p:cNvPr id="129" name="Google Shape;129;p20"/>
          <p:cNvSpPr txBox="1"/>
          <p:nvPr>
            <p:ph idx="4294967295" type="ctrTitle"/>
          </p:nvPr>
        </p:nvSpPr>
        <p:spPr>
          <a:xfrm>
            <a:off x="536575" y="2857370"/>
            <a:ext cx="8229600" cy="914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2"/>
              </a:buClr>
              <a:buSzPts val="6000"/>
              <a:buNone/>
            </a:pPr>
            <a:r>
              <a:rPr lang="fr" sz="6000">
                <a:solidFill>
                  <a:schemeClr val="dk2"/>
                </a:solidFill>
              </a:rPr>
              <a:t>FAKEBANK</a:t>
            </a:r>
            <a:endParaRPr/>
          </a:p>
        </p:txBody>
      </p:sp>
      <p:sp>
        <p:nvSpPr>
          <p:cNvPr id="130" name="Google Shape;130;p20"/>
          <p:cNvSpPr txBox="1"/>
          <p:nvPr/>
        </p:nvSpPr>
        <p:spPr>
          <a:xfrm>
            <a:off x="536575" y="3771770"/>
            <a:ext cx="822960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fr" sz="1800" u="none" cap="none" strike="noStrike">
                <a:solidFill>
                  <a:srgbClr val="FFFFFF"/>
                </a:solidFill>
                <a:latin typeface="Arial"/>
                <a:ea typeface="Arial"/>
                <a:cs typeface="Arial"/>
                <a:sym typeface="Arial"/>
              </a:rPr>
              <a:t>Architecture hexagonale &amp; micro-services avec Java / Spring Boot</a:t>
            </a:r>
            <a:endParaRPr/>
          </a:p>
        </p:txBody>
      </p:sp>
      <p:sp>
        <p:nvSpPr>
          <p:cNvPr id="131" name="Google Shape;131;p20"/>
          <p:cNvSpPr txBox="1"/>
          <p:nvPr/>
        </p:nvSpPr>
        <p:spPr>
          <a:xfrm>
            <a:off x="993775" y="4503290"/>
            <a:ext cx="7315200" cy="640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FFFFFF"/>
                </a:solidFill>
                <a:latin typeface="Arial"/>
                <a:ea typeface="Arial"/>
                <a:cs typeface="Arial"/>
                <a:sym typeface="Arial"/>
              </a:rPr>
              <a:t>Enzo DA CUNHA ALVES · Grégory MAJSTOROVIC · Joris MICHEL · Léa PATEAU</a:t>
            </a:r>
            <a:endParaRPr/>
          </a:p>
          <a:p>
            <a:pPr indent="0" lvl="0" marL="0" marR="0" rtl="0" algn="ctr">
              <a:lnSpc>
                <a:spcPct val="100000"/>
              </a:lnSpc>
              <a:spcBef>
                <a:spcPts val="40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Architecture logicielle — MD2I 2025/2027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135" name="Shape 135"/>
        <p:cNvGrpSpPr/>
        <p:nvPr/>
      </p:nvGrpSpPr>
      <p:grpSpPr>
        <a:xfrm>
          <a:off x="0" y="0"/>
          <a:ext cx="0" cy="0"/>
          <a:chOff x="0" y="0"/>
          <a:chExt cx="0" cy="0"/>
        </a:xfrm>
      </p:grpSpPr>
      <p:sp>
        <p:nvSpPr>
          <p:cNvPr id="136" name="Google Shape;136;p21"/>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SUJET D'ÉTUDE</a:t>
            </a:r>
            <a:endParaRPr/>
          </a:p>
        </p:txBody>
      </p:sp>
      <p:sp>
        <p:nvSpPr>
          <p:cNvPr id="137" name="Google Shape;137;p21"/>
          <p:cNvSpPr txBox="1"/>
          <p:nvPr/>
        </p:nvSpPr>
        <p:spPr>
          <a:xfrm>
            <a:off x="749808" y="1371600"/>
            <a:ext cx="42063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fr" sz="1300" u="none" cap="none" strike="noStrike">
                <a:solidFill>
                  <a:srgbClr val="FFFFFF"/>
                </a:solidFill>
                <a:latin typeface="Arial"/>
                <a:ea typeface="Arial"/>
                <a:cs typeface="Arial"/>
                <a:sym typeface="Arial"/>
              </a:rPr>
              <a:t>Simulation d'une application bancaire construite en </a:t>
            </a:r>
            <a:r>
              <a:rPr b="1" i="0" lang="fr" sz="1300" u="none" cap="none" strike="noStrike">
                <a:solidFill>
                  <a:srgbClr val="FFFFFF"/>
                </a:solidFill>
                <a:latin typeface="Arial"/>
                <a:ea typeface="Arial"/>
                <a:cs typeface="Arial"/>
                <a:sym typeface="Arial"/>
              </a:rPr>
              <a:t>microservices autonomes</a:t>
            </a:r>
            <a:r>
              <a:rPr b="0" i="0" lang="fr" sz="1300" u="none" cap="none" strike="noStrike">
                <a:solidFill>
                  <a:srgbClr val="FFFFFF"/>
                </a:solidFill>
                <a:latin typeface="Arial"/>
                <a:ea typeface="Arial"/>
                <a:cs typeface="Arial"/>
                <a:sym typeface="Arial"/>
              </a:rPr>
              <a:t> (stand-alone) : chacun démarre seul, avec son port et sa base de données.</a:t>
            </a:r>
            <a:endParaRPr/>
          </a:p>
        </p:txBody>
      </p:sp>
      <p:sp>
        <p:nvSpPr>
          <p:cNvPr id="138" name="Google Shape;138;p21"/>
          <p:cNvSpPr/>
          <p:nvPr/>
        </p:nvSpPr>
        <p:spPr>
          <a:xfrm>
            <a:off x="808329" y="2298801"/>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ignin.png" id="139" name="Google Shape;139;p21"/>
          <p:cNvPicPr preferRelativeResize="0"/>
          <p:nvPr/>
        </p:nvPicPr>
        <p:blipFill rotWithShape="1">
          <a:blip r:embed="rId3">
            <a:alphaModFix/>
          </a:blip>
          <a:srcRect b="0" l="0" r="0" t="0"/>
          <a:stretch/>
        </p:blipFill>
        <p:spPr>
          <a:xfrm>
            <a:off x="896112" y="2386584"/>
            <a:ext cx="274320" cy="274320"/>
          </a:xfrm>
          <a:prstGeom prst="rect">
            <a:avLst/>
          </a:prstGeom>
          <a:noFill/>
          <a:ln>
            <a:noFill/>
          </a:ln>
        </p:spPr>
      </p:pic>
      <p:sp>
        <p:nvSpPr>
          <p:cNvPr id="140" name="Google Shape;140;p21"/>
          <p:cNvSpPr txBox="1"/>
          <p:nvPr/>
        </p:nvSpPr>
        <p:spPr>
          <a:xfrm>
            <a:off x="1417320" y="2331720"/>
            <a:ext cx="3566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lang="fr" sz="1200">
                <a:solidFill>
                  <a:srgbClr val="FFFFFF"/>
                </a:solidFill>
              </a:rPr>
              <a:t>C</a:t>
            </a:r>
            <a:r>
              <a:rPr b="0" i="0" lang="fr" sz="1200" u="none" cap="none" strike="noStrike">
                <a:solidFill>
                  <a:srgbClr val="FFFFFF"/>
                </a:solidFill>
                <a:latin typeface="Arial"/>
                <a:ea typeface="Arial"/>
                <a:cs typeface="Arial"/>
                <a:sym typeface="Arial"/>
              </a:rPr>
              <a:t>onnexion sécurisée (JWT)</a:t>
            </a:r>
            <a:endParaRPr/>
          </a:p>
        </p:txBody>
      </p:sp>
      <p:sp>
        <p:nvSpPr>
          <p:cNvPr id="141" name="Google Shape;141;p21"/>
          <p:cNvSpPr/>
          <p:nvPr/>
        </p:nvSpPr>
        <p:spPr>
          <a:xfrm>
            <a:off x="808329" y="2865729"/>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21"/>
          <p:cNvSpPr txBox="1"/>
          <p:nvPr/>
        </p:nvSpPr>
        <p:spPr>
          <a:xfrm>
            <a:off x="1417320" y="2898648"/>
            <a:ext cx="3566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lang="fr" sz="1200">
                <a:solidFill>
                  <a:srgbClr val="FFFFFF"/>
                </a:solidFill>
              </a:rPr>
              <a:t>Gestion des clients</a:t>
            </a:r>
            <a:endParaRPr/>
          </a:p>
        </p:txBody>
      </p:sp>
      <p:sp>
        <p:nvSpPr>
          <p:cNvPr id="143" name="Google Shape;143;p21"/>
          <p:cNvSpPr/>
          <p:nvPr/>
        </p:nvSpPr>
        <p:spPr>
          <a:xfrm>
            <a:off x="808329" y="3432657"/>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money.png" id="144" name="Google Shape;144;p21"/>
          <p:cNvPicPr preferRelativeResize="0"/>
          <p:nvPr/>
        </p:nvPicPr>
        <p:blipFill rotWithShape="1">
          <a:blip r:embed="rId4">
            <a:alphaModFix/>
          </a:blip>
          <a:srcRect b="0" l="0" r="0" t="0"/>
          <a:stretch/>
        </p:blipFill>
        <p:spPr>
          <a:xfrm>
            <a:off x="896112" y="3520440"/>
            <a:ext cx="274320" cy="274320"/>
          </a:xfrm>
          <a:prstGeom prst="rect">
            <a:avLst/>
          </a:prstGeom>
          <a:noFill/>
          <a:ln>
            <a:noFill/>
          </a:ln>
        </p:spPr>
      </p:pic>
      <p:sp>
        <p:nvSpPr>
          <p:cNvPr id="145" name="Google Shape;145;p21"/>
          <p:cNvSpPr txBox="1"/>
          <p:nvPr/>
        </p:nvSpPr>
        <p:spPr>
          <a:xfrm>
            <a:off x="1417320" y="3465576"/>
            <a:ext cx="3566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rgbClr val="FFFFFF"/>
                </a:solidFill>
                <a:latin typeface="Arial"/>
                <a:ea typeface="Arial"/>
                <a:cs typeface="Arial"/>
                <a:sym typeface="Arial"/>
              </a:rPr>
              <a:t>Dépôts</a:t>
            </a:r>
            <a:r>
              <a:rPr lang="fr" sz="1200">
                <a:solidFill>
                  <a:srgbClr val="FFFFFF"/>
                </a:solidFill>
              </a:rPr>
              <a:t>,</a:t>
            </a:r>
            <a:r>
              <a:rPr b="0" i="0" lang="fr" sz="1200" u="none" cap="none" strike="noStrike">
                <a:solidFill>
                  <a:srgbClr val="FFFFFF"/>
                </a:solidFill>
                <a:latin typeface="Arial"/>
                <a:ea typeface="Arial"/>
                <a:cs typeface="Arial"/>
                <a:sym typeface="Arial"/>
              </a:rPr>
              <a:t> retraits </a:t>
            </a:r>
            <a:r>
              <a:rPr lang="fr" sz="1200">
                <a:solidFill>
                  <a:srgbClr val="FFFFFF"/>
                </a:solidFill>
              </a:rPr>
              <a:t>et accès aux comptes</a:t>
            </a:r>
            <a:endParaRPr/>
          </a:p>
        </p:txBody>
      </p:sp>
      <p:sp>
        <p:nvSpPr>
          <p:cNvPr id="146" name="Google Shape;146;p21"/>
          <p:cNvSpPr/>
          <p:nvPr/>
        </p:nvSpPr>
        <p:spPr>
          <a:xfrm>
            <a:off x="808329" y="3999585"/>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istory.png" id="147" name="Google Shape;147;p21"/>
          <p:cNvPicPr preferRelativeResize="0"/>
          <p:nvPr/>
        </p:nvPicPr>
        <p:blipFill rotWithShape="1">
          <a:blip r:embed="rId5">
            <a:alphaModFix/>
          </a:blip>
          <a:srcRect b="0" l="0" r="0" t="0"/>
          <a:stretch/>
        </p:blipFill>
        <p:spPr>
          <a:xfrm>
            <a:off x="896112" y="4087368"/>
            <a:ext cx="274320" cy="274320"/>
          </a:xfrm>
          <a:prstGeom prst="rect">
            <a:avLst/>
          </a:prstGeom>
          <a:noFill/>
          <a:ln>
            <a:noFill/>
          </a:ln>
        </p:spPr>
      </p:pic>
      <p:sp>
        <p:nvSpPr>
          <p:cNvPr id="148" name="Google Shape;148;p21"/>
          <p:cNvSpPr txBox="1"/>
          <p:nvPr/>
        </p:nvSpPr>
        <p:spPr>
          <a:xfrm>
            <a:off x="1417320" y="4032504"/>
            <a:ext cx="3566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rgbClr val="FFFFFF"/>
                </a:solidFill>
                <a:latin typeface="Arial"/>
                <a:ea typeface="Arial"/>
                <a:cs typeface="Arial"/>
                <a:sym typeface="Arial"/>
              </a:rPr>
              <a:t>Historique des transactions</a:t>
            </a:r>
            <a:endParaRPr/>
          </a:p>
        </p:txBody>
      </p:sp>
      <p:sp>
        <p:nvSpPr>
          <p:cNvPr id="149" name="Google Shape;149;p21"/>
          <p:cNvSpPr/>
          <p:nvPr/>
        </p:nvSpPr>
        <p:spPr>
          <a:xfrm>
            <a:off x="5486400" y="1417320"/>
            <a:ext cx="1600200" cy="1371600"/>
          </a:xfrm>
          <a:prstGeom prst="hexagon">
            <a:avLst>
              <a:gd fmla="val 25000" name="adj"/>
              <a:gd fmla="val 115470" name="vf"/>
            </a:avLst>
          </a:prstGeom>
          <a:solidFill>
            <a:srgbClr val="FFFFFF">
              <a:alpha val="18040"/>
            </a:srgbClr>
          </a:solidFill>
          <a:ln cap="flat" cmpd="sng" w="12700">
            <a:solidFill>
              <a:srgbClr val="FFFFFF"/>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3000"/>
              <a:buFont typeface="Arial"/>
              <a:buNone/>
            </a:pPr>
            <a:r>
              <a:rPr b="1" i="0" lang="fr" sz="3000" u="none" cap="none" strike="noStrike">
                <a:solidFill>
                  <a:srgbClr val="FFFFFF"/>
                </a:solidFill>
                <a:latin typeface="Arial"/>
                <a:ea typeface="Arial"/>
                <a:cs typeface="Arial"/>
                <a:sym typeface="Arial"/>
              </a:rPr>
              <a:t>4</a:t>
            </a:r>
            <a:endParaRPr/>
          </a:p>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micro-services</a:t>
            </a:r>
            <a:br>
              <a:rPr b="0" i="0" lang="fr" sz="1000" u="none" cap="none" strike="noStrike">
                <a:solidFill>
                  <a:srgbClr val="FFFFFF"/>
                </a:solidFill>
                <a:latin typeface="Arial"/>
                <a:ea typeface="Arial"/>
                <a:cs typeface="Arial"/>
                <a:sym typeface="Arial"/>
              </a:rPr>
            </a:br>
            <a:r>
              <a:rPr b="0" i="0" lang="fr" sz="1000" u="none" cap="none" strike="noStrike">
                <a:solidFill>
                  <a:srgbClr val="FFFFFF"/>
                </a:solidFill>
                <a:latin typeface="Arial"/>
                <a:ea typeface="Arial"/>
                <a:cs typeface="Arial"/>
                <a:sym typeface="Arial"/>
              </a:rPr>
              <a:t>métier</a:t>
            </a:r>
            <a:endParaRPr/>
          </a:p>
        </p:txBody>
      </p:sp>
      <p:sp>
        <p:nvSpPr>
          <p:cNvPr id="150" name="Google Shape;150;p21"/>
          <p:cNvSpPr/>
          <p:nvPr/>
        </p:nvSpPr>
        <p:spPr>
          <a:xfrm>
            <a:off x="6903720" y="2240280"/>
            <a:ext cx="1600200" cy="1371600"/>
          </a:xfrm>
          <a:prstGeom prst="hexagon">
            <a:avLst>
              <a:gd fmla="val 25000" name="adj"/>
              <a:gd fmla="val 115470" name="vf"/>
            </a:avLst>
          </a:prstGeom>
          <a:solidFill>
            <a:srgbClr val="FFFFFF">
              <a:alpha val="18040"/>
            </a:srgbClr>
          </a:solidFill>
          <a:ln cap="flat" cmpd="sng" w="12700">
            <a:solidFill>
              <a:srgbClr val="FFFFFF"/>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3000"/>
              <a:buFont typeface="Arial"/>
              <a:buNone/>
            </a:pPr>
            <a:r>
              <a:rPr b="1" i="0" lang="fr" sz="3000" u="none" cap="none" strike="noStrike">
                <a:solidFill>
                  <a:srgbClr val="FFFFFF"/>
                </a:solidFill>
                <a:latin typeface="Arial"/>
                <a:ea typeface="Arial"/>
                <a:cs typeface="Arial"/>
                <a:sym typeface="Arial"/>
              </a:rPr>
              <a:t>1</a:t>
            </a:r>
            <a:endParaRPr/>
          </a:p>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API Gateway</a:t>
            </a:r>
            <a:endParaRPr/>
          </a:p>
        </p:txBody>
      </p:sp>
      <p:sp>
        <p:nvSpPr>
          <p:cNvPr id="151" name="Google Shape;151;p21"/>
          <p:cNvSpPr/>
          <p:nvPr/>
        </p:nvSpPr>
        <p:spPr>
          <a:xfrm>
            <a:off x="5486400" y="3063240"/>
            <a:ext cx="1600200" cy="1371600"/>
          </a:xfrm>
          <a:prstGeom prst="hexagon">
            <a:avLst>
              <a:gd fmla="val 25000" name="adj"/>
              <a:gd fmla="val 115470" name="vf"/>
            </a:avLst>
          </a:prstGeom>
          <a:solidFill>
            <a:srgbClr val="FFFFFF">
              <a:alpha val="18040"/>
            </a:srgbClr>
          </a:solidFill>
          <a:ln cap="flat" cmpd="sng" w="12700">
            <a:solidFill>
              <a:srgbClr val="FFFFFF"/>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3000"/>
              <a:buFont typeface="Arial"/>
              <a:buNone/>
            </a:pPr>
            <a:r>
              <a:rPr b="1" i="0" lang="fr" sz="3000" u="none" cap="none" strike="noStrike">
                <a:solidFill>
                  <a:srgbClr val="FFFFFF"/>
                </a:solidFill>
                <a:latin typeface="Arial"/>
                <a:ea typeface="Arial"/>
                <a:cs typeface="Arial"/>
                <a:sym typeface="Arial"/>
              </a:rPr>
              <a:t>3</a:t>
            </a:r>
            <a:endParaRPr/>
          </a:p>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bases H2</a:t>
            </a:r>
            <a:br>
              <a:rPr b="0" i="0" lang="fr" sz="1000" u="none" cap="none" strike="noStrike">
                <a:solidFill>
                  <a:srgbClr val="FFFFFF"/>
                </a:solidFill>
                <a:latin typeface="Arial"/>
                <a:ea typeface="Arial"/>
                <a:cs typeface="Arial"/>
                <a:sym typeface="Arial"/>
              </a:rPr>
            </a:br>
            <a:r>
              <a:rPr b="0" i="0" lang="fr" sz="1000" u="none" cap="none" strike="noStrike">
                <a:solidFill>
                  <a:srgbClr val="FFFFFF"/>
                </a:solidFill>
                <a:latin typeface="Arial"/>
                <a:ea typeface="Arial"/>
                <a:cs typeface="Arial"/>
                <a:sym typeface="Arial"/>
              </a:rPr>
              <a:t>indépendantes</a:t>
            </a:r>
            <a:endParaRPr/>
          </a:p>
        </p:txBody>
      </p:sp>
      <p:pic>
        <p:nvPicPr>
          <p:cNvPr id="152" name="Google Shape;152;p21" title="11258076.png"/>
          <p:cNvPicPr preferRelativeResize="0"/>
          <p:nvPr/>
        </p:nvPicPr>
        <p:blipFill>
          <a:blip r:embed="rId6">
            <a:alphaModFix/>
          </a:blip>
          <a:stretch>
            <a:fillRect/>
          </a:stretch>
        </p:blipFill>
        <p:spPr>
          <a:xfrm>
            <a:off x="827460" y="2873978"/>
            <a:ext cx="411600" cy="411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156" name="Shape 156"/>
        <p:cNvGrpSpPr/>
        <p:nvPr/>
      </p:nvGrpSpPr>
      <p:grpSpPr>
        <a:xfrm>
          <a:off x="0" y="0"/>
          <a:ext cx="0" cy="0"/>
          <a:chOff x="0" y="0"/>
          <a:chExt cx="0" cy="0"/>
        </a:xfrm>
      </p:grpSpPr>
      <p:sp>
        <p:nvSpPr>
          <p:cNvPr id="157" name="Google Shape;157;p22"/>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ÉQUIPE</a:t>
            </a:r>
            <a:endParaRPr/>
          </a:p>
        </p:txBody>
      </p:sp>
      <p:sp>
        <p:nvSpPr>
          <p:cNvPr id="158" name="Google Shape;158;p22"/>
          <p:cNvSpPr/>
          <p:nvPr/>
        </p:nvSpPr>
        <p:spPr>
          <a:xfrm>
            <a:off x="170825" y="1347725"/>
            <a:ext cx="1582500" cy="723600"/>
          </a:xfrm>
          <a:prstGeom prst="roundRect">
            <a:avLst>
              <a:gd fmla="val 16667" name="adj"/>
            </a:avLst>
          </a:prstGeom>
          <a:solidFill>
            <a:srgbClr val="613F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2"/>
                </a:solidFill>
              </a:rPr>
              <a:t>JORIS</a:t>
            </a:r>
            <a:endParaRPr b="1">
              <a:solidFill>
                <a:schemeClr val="dk2"/>
              </a:solidFill>
            </a:endParaRPr>
          </a:p>
        </p:txBody>
      </p:sp>
      <p:sp>
        <p:nvSpPr>
          <p:cNvPr id="159" name="Google Shape;159;p22"/>
          <p:cNvSpPr/>
          <p:nvPr/>
        </p:nvSpPr>
        <p:spPr>
          <a:xfrm>
            <a:off x="170825" y="2209950"/>
            <a:ext cx="1582500" cy="723600"/>
          </a:xfrm>
          <a:prstGeom prst="roundRect">
            <a:avLst>
              <a:gd fmla="val 16667" name="adj"/>
            </a:avLst>
          </a:prstGeom>
          <a:solidFill>
            <a:srgbClr val="613F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2"/>
                </a:solidFill>
              </a:rPr>
              <a:t>LÉA</a:t>
            </a:r>
            <a:endParaRPr b="1">
              <a:solidFill>
                <a:schemeClr val="dk2"/>
              </a:solidFill>
            </a:endParaRPr>
          </a:p>
        </p:txBody>
      </p:sp>
      <p:sp>
        <p:nvSpPr>
          <p:cNvPr id="160" name="Google Shape;160;p22"/>
          <p:cNvSpPr/>
          <p:nvPr/>
        </p:nvSpPr>
        <p:spPr>
          <a:xfrm>
            <a:off x="170825" y="3072175"/>
            <a:ext cx="1582500" cy="723600"/>
          </a:xfrm>
          <a:prstGeom prst="roundRect">
            <a:avLst>
              <a:gd fmla="val 16667" name="adj"/>
            </a:avLst>
          </a:prstGeom>
          <a:solidFill>
            <a:srgbClr val="613F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2"/>
                </a:solidFill>
              </a:rPr>
              <a:t>ENZO</a:t>
            </a:r>
            <a:endParaRPr b="1">
              <a:solidFill>
                <a:schemeClr val="dk2"/>
              </a:solidFill>
            </a:endParaRPr>
          </a:p>
        </p:txBody>
      </p:sp>
      <p:sp>
        <p:nvSpPr>
          <p:cNvPr id="161" name="Google Shape;161;p22"/>
          <p:cNvSpPr/>
          <p:nvPr/>
        </p:nvSpPr>
        <p:spPr>
          <a:xfrm>
            <a:off x="170825" y="3972175"/>
            <a:ext cx="1582500" cy="723600"/>
          </a:xfrm>
          <a:prstGeom prst="roundRect">
            <a:avLst>
              <a:gd fmla="val 16667" name="adj"/>
            </a:avLst>
          </a:prstGeom>
          <a:solidFill>
            <a:srgbClr val="613F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dk2"/>
                </a:solidFill>
              </a:rPr>
              <a:t>GRÉGORY</a:t>
            </a:r>
            <a:endParaRPr b="1">
              <a:solidFill>
                <a:schemeClr val="dk2"/>
              </a:solidFill>
            </a:endParaRPr>
          </a:p>
        </p:txBody>
      </p:sp>
      <p:sp>
        <p:nvSpPr>
          <p:cNvPr id="162" name="Google Shape;162;p22"/>
          <p:cNvSpPr/>
          <p:nvPr/>
        </p:nvSpPr>
        <p:spPr>
          <a:xfrm>
            <a:off x="1923000" y="1323725"/>
            <a:ext cx="23400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200">
                <a:solidFill>
                  <a:schemeClr val="dk2"/>
                </a:solidFill>
              </a:rPr>
              <a:t>Adaptateurs &amp; BDD</a:t>
            </a:r>
            <a:endParaRPr b="1" sz="1200">
              <a:solidFill>
                <a:schemeClr val="dk2"/>
              </a:solidFill>
            </a:endParaRPr>
          </a:p>
        </p:txBody>
      </p:sp>
      <p:sp>
        <p:nvSpPr>
          <p:cNvPr id="163" name="Google Shape;163;p22"/>
          <p:cNvSpPr/>
          <p:nvPr/>
        </p:nvSpPr>
        <p:spPr>
          <a:xfrm>
            <a:off x="4432675" y="1323725"/>
            <a:ext cx="45588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2"/>
                </a:solidFill>
              </a:rPr>
              <a:t>Bases H2 + adaptateurs + CORS</a:t>
            </a:r>
            <a:endParaRPr sz="1200">
              <a:solidFill>
                <a:schemeClr val="dk2"/>
              </a:solidFill>
            </a:endParaRPr>
          </a:p>
        </p:txBody>
      </p:sp>
      <p:sp>
        <p:nvSpPr>
          <p:cNvPr id="164" name="Google Shape;164;p22"/>
          <p:cNvSpPr/>
          <p:nvPr/>
        </p:nvSpPr>
        <p:spPr>
          <a:xfrm>
            <a:off x="1923000" y="2199725"/>
            <a:ext cx="23400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200">
                <a:solidFill>
                  <a:schemeClr val="dk2"/>
                </a:solidFill>
              </a:rPr>
              <a:t>Account</a:t>
            </a:r>
            <a:endParaRPr b="1" sz="1200">
              <a:solidFill>
                <a:schemeClr val="dk2"/>
              </a:solidFill>
            </a:endParaRPr>
          </a:p>
        </p:txBody>
      </p:sp>
      <p:sp>
        <p:nvSpPr>
          <p:cNvPr id="165" name="Google Shape;165;p22"/>
          <p:cNvSpPr/>
          <p:nvPr/>
        </p:nvSpPr>
        <p:spPr>
          <a:xfrm>
            <a:off x="4432675" y="2199725"/>
            <a:ext cx="45588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2"/>
                </a:solidFill>
              </a:rPr>
              <a:t>Structure, logique métier dans le domaine, exceptions, routes, liaison gateway</a:t>
            </a:r>
            <a:endParaRPr sz="1200">
              <a:solidFill>
                <a:schemeClr val="dk2"/>
              </a:solidFill>
            </a:endParaRPr>
          </a:p>
        </p:txBody>
      </p:sp>
      <p:sp>
        <p:nvSpPr>
          <p:cNvPr id="166" name="Google Shape;166;p22"/>
          <p:cNvSpPr/>
          <p:nvPr/>
        </p:nvSpPr>
        <p:spPr>
          <a:xfrm>
            <a:off x="4432675" y="3087029"/>
            <a:ext cx="45588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2"/>
                </a:solidFill>
              </a:rPr>
              <a:t>Structure, logique métier dans le domaine, exceptions, routes, liaison gateway</a:t>
            </a:r>
            <a:endParaRPr sz="1200">
              <a:solidFill>
                <a:schemeClr val="dk2"/>
              </a:solidFill>
            </a:endParaRPr>
          </a:p>
        </p:txBody>
      </p:sp>
      <p:sp>
        <p:nvSpPr>
          <p:cNvPr id="167" name="Google Shape;167;p22"/>
          <p:cNvSpPr/>
          <p:nvPr/>
        </p:nvSpPr>
        <p:spPr>
          <a:xfrm>
            <a:off x="4432675" y="3974329"/>
            <a:ext cx="45588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fr" sz="1200">
                <a:solidFill>
                  <a:schemeClr val="dk2"/>
                </a:solidFill>
              </a:rPr>
              <a:t>front (dépôt séparé), correctifs CORS</a:t>
            </a:r>
            <a:endParaRPr sz="1200">
              <a:solidFill>
                <a:schemeClr val="dk2"/>
              </a:solidFill>
            </a:endParaRPr>
          </a:p>
        </p:txBody>
      </p:sp>
      <p:sp>
        <p:nvSpPr>
          <p:cNvPr id="168" name="Google Shape;168;p22"/>
          <p:cNvSpPr/>
          <p:nvPr/>
        </p:nvSpPr>
        <p:spPr>
          <a:xfrm>
            <a:off x="1923000" y="3075725"/>
            <a:ext cx="23400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200">
                <a:solidFill>
                  <a:schemeClr val="dk2"/>
                </a:solidFill>
              </a:rPr>
              <a:t>Transaction et client</a:t>
            </a:r>
            <a:endParaRPr b="1" sz="1200">
              <a:solidFill>
                <a:schemeClr val="dk2"/>
              </a:solidFill>
            </a:endParaRPr>
          </a:p>
        </p:txBody>
      </p:sp>
      <p:sp>
        <p:nvSpPr>
          <p:cNvPr id="169" name="Google Shape;169;p22"/>
          <p:cNvSpPr/>
          <p:nvPr/>
        </p:nvSpPr>
        <p:spPr>
          <a:xfrm>
            <a:off x="1923000" y="3974325"/>
            <a:ext cx="2340000" cy="723600"/>
          </a:xfrm>
          <a:prstGeom prst="roundRect">
            <a:avLst>
              <a:gd fmla="val 16667" name="adj"/>
            </a:avLst>
          </a:prstGeom>
          <a:solidFill>
            <a:srgbClr val="30539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200">
                <a:solidFill>
                  <a:schemeClr val="dk2"/>
                </a:solidFill>
              </a:rPr>
              <a:t>Front</a:t>
            </a:r>
            <a:endParaRPr b="1"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173" name="Shape 173"/>
        <p:cNvGrpSpPr/>
        <p:nvPr/>
      </p:nvGrpSpPr>
      <p:grpSpPr>
        <a:xfrm>
          <a:off x="0" y="0"/>
          <a:ext cx="0" cy="0"/>
          <a:chOff x="0" y="0"/>
          <a:chExt cx="0" cy="0"/>
        </a:xfrm>
      </p:grpSpPr>
      <p:sp>
        <p:nvSpPr>
          <p:cNvPr id="174" name="Google Shape;174;p23"/>
          <p:cNvSpPr txBox="1"/>
          <p:nvPr>
            <p:ph idx="8" type="ctrTitle"/>
          </p:nvPr>
        </p:nvSpPr>
        <p:spPr>
          <a:xfrm>
            <a:off x="1122278" y="401450"/>
            <a:ext cx="6899400" cy="94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SOMMAIRE</a:t>
            </a:r>
            <a:endParaRPr/>
          </a:p>
        </p:txBody>
      </p:sp>
      <p:sp>
        <p:nvSpPr>
          <p:cNvPr id="175" name="Google Shape;175;p23"/>
          <p:cNvSpPr txBox="1"/>
          <p:nvPr>
            <p:ph type="ctrTitle"/>
          </p:nvPr>
        </p:nvSpPr>
        <p:spPr>
          <a:xfrm>
            <a:off x="1690457" y="2040013"/>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OUTILS &amp; GESTION</a:t>
            </a:r>
            <a:endParaRPr/>
          </a:p>
        </p:txBody>
      </p:sp>
      <p:sp>
        <p:nvSpPr>
          <p:cNvPr id="176" name="Google Shape;176;p23"/>
          <p:cNvSpPr txBox="1"/>
          <p:nvPr>
            <p:ph idx="1" type="subTitle"/>
          </p:nvPr>
        </p:nvSpPr>
        <p:spPr>
          <a:xfrm>
            <a:off x="2051807" y="2501475"/>
            <a:ext cx="19065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Présentation de JAVA/Spring et de notre gestion de la BDD, des tests et des exceptions</a:t>
            </a:r>
            <a:endParaRPr/>
          </a:p>
        </p:txBody>
      </p:sp>
      <p:sp>
        <p:nvSpPr>
          <p:cNvPr id="177" name="Google Shape;177;p23"/>
          <p:cNvSpPr txBox="1"/>
          <p:nvPr>
            <p:ph idx="9" type="title"/>
          </p:nvPr>
        </p:nvSpPr>
        <p:spPr>
          <a:xfrm>
            <a:off x="2128157" y="1619437"/>
            <a:ext cx="17538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01</a:t>
            </a:r>
            <a:endParaRPr/>
          </a:p>
        </p:txBody>
      </p:sp>
      <p:sp>
        <p:nvSpPr>
          <p:cNvPr id="178" name="Google Shape;178;p23"/>
          <p:cNvSpPr txBox="1"/>
          <p:nvPr>
            <p:ph idx="2" type="ctrTitle"/>
          </p:nvPr>
        </p:nvSpPr>
        <p:spPr>
          <a:xfrm>
            <a:off x="241873" y="3594113"/>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ADAPTERS &amp; INDÉPENDANCE TECHNIQUE</a:t>
            </a:r>
            <a:endParaRPr/>
          </a:p>
        </p:txBody>
      </p:sp>
      <p:sp>
        <p:nvSpPr>
          <p:cNvPr id="179" name="Google Shape;179;p23"/>
          <p:cNvSpPr txBox="1"/>
          <p:nvPr>
            <p:ph idx="3" type="subTitle"/>
          </p:nvPr>
        </p:nvSpPr>
        <p:spPr>
          <a:xfrm>
            <a:off x="603223" y="4055575"/>
            <a:ext cx="19065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Implémentation des adaptateurs</a:t>
            </a:r>
            <a:endParaRPr/>
          </a:p>
          <a:p>
            <a:pPr indent="0" lvl="0" marL="0" rtl="0" algn="ctr">
              <a:spcBef>
                <a:spcPts val="0"/>
              </a:spcBef>
              <a:spcAft>
                <a:spcPts val="0"/>
              </a:spcAft>
              <a:buNone/>
            </a:pPr>
            <a:r>
              <a:t/>
            </a:r>
            <a:endParaRPr/>
          </a:p>
        </p:txBody>
      </p:sp>
      <p:sp>
        <p:nvSpPr>
          <p:cNvPr id="180" name="Google Shape;180;p23"/>
          <p:cNvSpPr txBox="1"/>
          <p:nvPr>
            <p:ph idx="13" type="title"/>
          </p:nvPr>
        </p:nvSpPr>
        <p:spPr>
          <a:xfrm>
            <a:off x="679573" y="3173537"/>
            <a:ext cx="17538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03</a:t>
            </a:r>
            <a:endParaRPr/>
          </a:p>
        </p:txBody>
      </p:sp>
      <p:sp>
        <p:nvSpPr>
          <p:cNvPr id="181" name="Google Shape;181;p23"/>
          <p:cNvSpPr txBox="1"/>
          <p:nvPr>
            <p:ph idx="4" type="ctrTitle"/>
          </p:nvPr>
        </p:nvSpPr>
        <p:spPr>
          <a:xfrm>
            <a:off x="4824350" y="2250898"/>
            <a:ext cx="2629200" cy="36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MICROSERVICES</a:t>
            </a:r>
            <a:endParaRPr/>
          </a:p>
        </p:txBody>
      </p:sp>
      <p:sp>
        <p:nvSpPr>
          <p:cNvPr id="182" name="Google Shape;182;p23"/>
          <p:cNvSpPr txBox="1"/>
          <p:nvPr>
            <p:ph idx="5" type="subTitle"/>
          </p:nvPr>
        </p:nvSpPr>
        <p:spPr>
          <a:xfrm>
            <a:off x="5185707" y="2506444"/>
            <a:ext cx="19065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Présentation de nos microservices avec détails du microservice account</a:t>
            </a:r>
            <a:endParaRPr/>
          </a:p>
          <a:p>
            <a:pPr indent="0" lvl="0" marL="0" rtl="0" algn="ctr">
              <a:spcBef>
                <a:spcPts val="0"/>
              </a:spcBef>
              <a:spcAft>
                <a:spcPts val="0"/>
              </a:spcAft>
              <a:buNone/>
            </a:pPr>
            <a:r>
              <a:t/>
            </a:r>
            <a:endParaRPr/>
          </a:p>
        </p:txBody>
      </p:sp>
      <p:sp>
        <p:nvSpPr>
          <p:cNvPr id="183" name="Google Shape;183;p23"/>
          <p:cNvSpPr txBox="1"/>
          <p:nvPr>
            <p:ph idx="14" type="title"/>
          </p:nvPr>
        </p:nvSpPr>
        <p:spPr>
          <a:xfrm>
            <a:off x="5262057" y="1619437"/>
            <a:ext cx="17538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02</a:t>
            </a:r>
            <a:endParaRPr/>
          </a:p>
        </p:txBody>
      </p:sp>
      <p:sp>
        <p:nvSpPr>
          <p:cNvPr id="184" name="Google Shape;184;p23"/>
          <p:cNvSpPr txBox="1"/>
          <p:nvPr>
            <p:ph idx="6" type="ctrTitle"/>
          </p:nvPr>
        </p:nvSpPr>
        <p:spPr>
          <a:xfrm>
            <a:off x="3375773" y="3594113"/>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DÉMONSTRATION</a:t>
            </a:r>
            <a:endParaRPr/>
          </a:p>
        </p:txBody>
      </p:sp>
      <p:sp>
        <p:nvSpPr>
          <p:cNvPr id="185" name="Google Shape;185;p23"/>
          <p:cNvSpPr txBox="1"/>
          <p:nvPr>
            <p:ph idx="7" type="subTitle"/>
          </p:nvPr>
        </p:nvSpPr>
        <p:spPr>
          <a:xfrm>
            <a:off x="3737123" y="4055575"/>
            <a:ext cx="19065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Démonstration </a:t>
            </a:r>
            <a:r>
              <a:rPr lang="fr"/>
              <a:t>de l’application</a:t>
            </a:r>
            <a:endParaRPr/>
          </a:p>
        </p:txBody>
      </p:sp>
      <p:sp>
        <p:nvSpPr>
          <p:cNvPr id="186" name="Google Shape;186;p23"/>
          <p:cNvSpPr txBox="1"/>
          <p:nvPr>
            <p:ph idx="15" type="title"/>
          </p:nvPr>
        </p:nvSpPr>
        <p:spPr>
          <a:xfrm>
            <a:off x="3813473" y="3173537"/>
            <a:ext cx="17538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04</a:t>
            </a:r>
            <a:endParaRPr/>
          </a:p>
        </p:txBody>
      </p:sp>
      <p:sp>
        <p:nvSpPr>
          <p:cNvPr id="187" name="Google Shape;187;p23"/>
          <p:cNvSpPr txBox="1"/>
          <p:nvPr>
            <p:ph idx="2" type="ctrTitle"/>
          </p:nvPr>
        </p:nvSpPr>
        <p:spPr>
          <a:xfrm>
            <a:off x="6218697" y="3604034"/>
            <a:ext cx="2629200" cy="57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ESPRIT CRITIQUE</a:t>
            </a:r>
            <a:endParaRPr/>
          </a:p>
        </p:txBody>
      </p:sp>
      <p:sp>
        <p:nvSpPr>
          <p:cNvPr id="188" name="Google Shape;188;p23"/>
          <p:cNvSpPr txBox="1"/>
          <p:nvPr>
            <p:ph idx="3" type="subTitle"/>
          </p:nvPr>
        </p:nvSpPr>
        <p:spPr>
          <a:xfrm>
            <a:off x="6580047" y="4065497"/>
            <a:ext cx="1906500" cy="36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Notre vision</a:t>
            </a:r>
            <a:endParaRPr/>
          </a:p>
        </p:txBody>
      </p:sp>
      <p:sp>
        <p:nvSpPr>
          <p:cNvPr id="189" name="Google Shape;189;p23"/>
          <p:cNvSpPr txBox="1"/>
          <p:nvPr>
            <p:ph idx="13" type="title"/>
          </p:nvPr>
        </p:nvSpPr>
        <p:spPr>
          <a:xfrm>
            <a:off x="6656397" y="3183459"/>
            <a:ext cx="1753800" cy="57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05</a:t>
            </a:r>
            <a:endParaRPr/>
          </a:p>
        </p:txBody>
      </p:sp>
      <p:cxnSp>
        <p:nvCxnSpPr>
          <p:cNvPr id="190" name="Google Shape;190;p23"/>
          <p:cNvCxnSpPr/>
          <p:nvPr/>
        </p:nvCxnSpPr>
        <p:spPr>
          <a:xfrm flipH="1">
            <a:off x="745250" y="3796150"/>
            <a:ext cx="7461600" cy="141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194" name="Shape 194"/>
        <p:cNvGrpSpPr/>
        <p:nvPr/>
      </p:nvGrpSpPr>
      <p:grpSpPr>
        <a:xfrm>
          <a:off x="0" y="0"/>
          <a:ext cx="0" cy="0"/>
          <a:chOff x="0" y="0"/>
          <a:chExt cx="0" cy="0"/>
        </a:xfrm>
      </p:grpSpPr>
      <p:sp>
        <p:nvSpPr>
          <p:cNvPr id="195" name="Google Shape;195;p24"/>
          <p:cNvSpPr txBox="1"/>
          <p:nvPr>
            <p:ph type="ctrTitle"/>
          </p:nvPr>
        </p:nvSpPr>
        <p:spPr>
          <a:xfrm>
            <a:off x="365760" y="2354550"/>
            <a:ext cx="42978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fr" sz="3200"/>
              <a:t>OUTILS &amp; GESTION</a:t>
            </a:r>
            <a:endParaRPr/>
          </a:p>
        </p:txBody>
      </p:sp>
      <p:sp>
        <p:nvSpPr>
          <p:cNvPr id="196" name="Google Shape;196;p24"/>
          <p:cNvSpPr txBox="1"/>
          <p:nvPr/>
        </p:nvSpPr>
        <p:spPr>
          <a:xfrm>
            <a:off x="457200" y="1097280"/>
            <a:ext cx="2286000" cy="96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fr" sz="6000" u="none" cap="none" strike="noStrike">
                <a:solidFill>
                  <a:srgbClr val="FFFFFF"/>
                </a:solidFill>
                <a:latin typeface="Arial"/>
                <a:ea typeface="Arial"/>
                <a:cs typeface="Arial"/>
                <a:sym typeface="Arial"/>
              </a:rPr>
              <a:t>01</a:t>
            </a:r>
            <a:endParaRPr/>
          </a:p>
        </p:txBody>
      </p:sp>
      <p:sp>
        <p:nvSpPr>
          <p:cNvPr id="197" name="Google Shape;197;p24"/>
          <p:cNvSpPr txBox="1"/>
          <p:nvPr/>
        </p:nvSpPr>
        <p:spPr>
          <a:xfrm>
            <a:off x="4892040" y="1600200"/>
            <a:ext cx="3108900" cy="2194500"/>
          </a:xfrm>
          <a:prstGeom prst="rect">
            <a:avLst/>
          </a:prstGeom>
          <a:noFill/>
          <a:ln>
            <a:noFill/>
          </a:ln>
        </p:spPr>
        <p:txBody>
          <a:bodyPr anchorCtr="0" anchor="ctr" bIns="0" lIns="0" spcFirstLastPara="1" rIns="0" wrap="square" tIns="0">
            <a:noAutofit/>
          </a:bodyPr>
          <a:lstStyle/>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Java &amp; Spring Boot</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Hibernate / JPA</a:t>
            </a:r>
            <a:endParaRPr sz="1300">
              <a:solidFill>
                <a:srgbClr val="FFFFFF"/>
              </a:solidFill>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Base de données H2</a:t>
            </a:r>
            <a:endParaRPr b="0" i="0" sz="1300" u="none" cap="none" strike="noStrike">
              <a:solidFill>
                <a:srgbClr val="FFFFFF"/>
              </a:solidFill>
              <a:latin typeface="Arial"/>
              <a:ea typeface="Arial"/>
              <a:cs typeface="Arial"/>
              <a:sym typeface="Arial"/>
            </a:endParaRPr>
          </a:p>
          <a:p>
            <a:pPr indent="-182880" lvl="0" marL="182880" marR="0" rtl="0" algn="l">
              <a:lnSpc>
                <a:spcPct val="100000"/>
              </a:lnSpc>
              <a:spcBef>
                <a:spcPts val="800"/>
              </a:spcBef>
              <a:spcAft>
                <a:spcPts val="0"/>
              </a:spcAft>
              <a:buClr>
                <a:schemeClr val="dk2"/>
              </a:buClr>
              <a:buSzPts val="1300"/>
              <a:buChar char="•"/>
            </a:pPr>
            <a:r>
              <a:rPr lang="fr" sz="1300">
                <a:solidFill>
                  <a:srgbClr val="FFFFFF"/>
                </a:solidFill>
              </a:rPr>
              <a:t>Tests</a:t>
            </a:r>
            <a:endParaRPr sz="1300">
              <a:solidFill>
                <a:srgbClr val="FFFFFF"/>
              </a:solidFill>
            </a:endParaRPr>
          </a:p>
          <a:p>
            <a:pPr indent="-182880" lvl="0" marL="182880" marR="0" rtl="0" algn="l">
              <a:lnSpc>
                <a:spcPct val="100000"/>
              </a:lnSpc>
              <a:spcBef>
                <a:spcPts val="800"/>
              </a:spcBef>
              <a:spcAft>
                <a:spcPts val="0"/>
              </a:spcAft>
              <a:buClr>
                <a:schemeClr val="dk2"/>
              </a:buClr>
              <a:buSzPts val="1300"/>
              <a:buChar char="•"/>
            </a:pPr>
            <a:r>
              <a:rPr lang="fr" sz="1300">
                <a:solidFill>
                  <a:srgbClr val="FFFFFF"/>
                </a:solidFill>
              </a:rPr>
              <a:t>Gestion des exceptions</a:t>
            </a:r>
            <a:endParaRPr sz="1300">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01" name="Shape 201"/>
        <p:cNvGrpSpPr/>
        <p:nvPr/>
      </p:nvGrpSpPr>
      <p:grpSpPr>
        <a:xfrm>
          <a:off x="0" y="0"/>
          <a:ext cx="0" cy="0"/>
          <a:chOff x="0" y="0"/>
          <a:chExt cx="0" cy="0"/>
        </a:xfrm>
      </p:grpSpPr>
      <p:sp>
        <p:nvSpPr>
          <p:cNvPr id="202" name="Google Shape;202;p25"/>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JAVA &amp; SPRING BOOT</a:t>
            </a:r>
            <a:endParaRPr/>
          </a:p>
        </p:txBody>
      </p:sp>
      <p:sp>
        <p:nvSpPr>
          <p:cNvPr id="203" name="Google Shape;203;p25"/>
          <p:cNvSpPr/>
          <p:nvPr/>
        </p:nvSpPr>
        <p:spPr>
          <a:xfrm>
            <a:off x="548640" y="1417320"/>
            <a:ext cx="3840600" cy="14172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25"/>
          <p:cNvSpPr/>
          <p:nvPr/>
        </p:nvSpPr>
        <p:spPr>
          <a:xfrm>
            <a:off x="737006" y="1761134"/>
            <a:ext cx="674700" cy="674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java.png" id="205" name="Google Shape;205;p25"/>
          <p:cNvPicPr preferRelativeResize="0"/>
          <p:nvPr/>
        </p:nvPicPr>
        <p:blipFill rotWithShape="1">
          <a:blip r:embed="rId3">
            <a:alphaModFix/>
          </a:blip>
          <a:srcRect b="0" l="0" r="0" t="0"/>
          <a:stretch/>
        </p:blipFill>
        <p:spPr>
          <a:xfrm>
            <a:off x="868680" y="1892808"/>
            <a:ext cx="411480" cy="411480"/>
          </a:xfrm>
          <a:prstGeom prst="rect">
            <a:avLst/>
          </a:prstGeom>
          <a:noFill/>
          <a:ln>
            <a:noFill/>
          </a:ln>
        </p:spPr>
      </p:pic>
      <p:sp>
        <p:nvSpPr>
          <p:cNvPr id="206" name="Google Shape;206;p25"/>
          <p:cNvSpPr txBox="1"/>
          <p:nvPr/>
        </p:nvSpPr>
        <p:spPr>
          <a:xfrm>
            <a:off x="1691640" y="1581912"/>
            <a:ext cx="25602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FFFFF"/>
                </a:solidFill>
                <a:latin typeface="Arial"/>
                <a:ea typeface="Arial"/>
                <a:cs typeface="Arial"/>
                <a:sym typeface="Arial"/>
              </a:rPr>
              <a:t>JAVA 21</a:t>
            </a:r>
            <a:endParaRPr/>
          </a:p>
        </p:txBody>
      </p:sp>
      <p:sp>
        <p:nvSpPr>
          <p:cNvPr id="207" name="Google Shape;207;p25"/>
          <p:cNvSpPr txBox="1"/>
          <p:nvPr/>
        </p:nvSpPr>
        <p:spPr>
          <a:xfrm>
            <a:off x="1691640" y="1920240"/>
            <a:ext cx="25602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Langage reconnu pour les applications métier lourdes et sécurisées.</a:t>
            </a:r>
            <a:endParaRPr/>
          </a:p>
        </p:txBody>
      </p:sp>
      <p:sp>
        <p:nvSpPr>
          <p:cNvPr id="208" name="Google Shape;208;p25"/>
          <p:cNvSpPr/>
          <p:nvPr/>
        </p:nvSpPr>
        <p:spPr>
          <a:xfrm>
            <a:off x="4663440" y="1417320"/>
            <a:ext cx="3840600" cy="14172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25"/>
          <p:cNvSpPr/>
          <p:nvPr/>
        </p:nvSpPr>
        <p:spPr>
          <a:xfrm>
            <a:off x="4851806" y="1761134"/>
            <a:ext cx="674700" cy="674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pring.png" id="210" name="Google Shape;210;p25"/>
          <p:cNvPicPr preferRelativeResize="0"/>
          <p:nvPr/>
        </p:nvPicPr>
        <p:blipFill rotWithShape="1">
          <a:blip r:embed="rId4">
            <a:alphaModFix/>
          </a:blip>
          <a:srcRect b="0" l="0" r="0" t="0"/>
          <a:stretch/>
        </p:blipFill>
        <p:spPr>
          <a:xfrm>
            <a:off x="4983479" y="1892808"/>
            <a:ext cx="411480" cy="411480"/>
          </a:xfrm>
          <a:prstGeom prst="rect">
            <a:avLst/>
          </a:prstGeom>
          <a:noFill/>
          <a:ln>
            <a:noFill/>
          </a:ln>
        </p:spPr>
      </p:pic>
      <p:sp>
        <p:nvSpPr>
          <p:cNvPr id="211" name="Google Shape;211;p25"/>
          <p:cNvSpPr txBox="1"/>
          <p:nvPr/>
        </p:nvSpPr>
        <p:spPr>
          <a:xfrm>
            <a:off x="5806440" y="1581912"/>
            <a:ext cx="25602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FFFFF"/>
                </a:solidFill>
                <a:latin typeface="Arial"/>
                <a:ea typeface="Arial"/>
                <a:cs typeface="Arial"/>
                <a:sym typeface="Arial"/>
              </a:rPr>
              <a:t>SPRING</a:t>
            </a:r>
            <a:endParaRPr/>
          </a:p>
        </p:txBody>
      </p:sp>
      <p:sp>
        <p:nvSpPr>
          <p:cNvPr id="212" name="Google Shape;212;p25"/>
          <p:cNvSpPr txBox="1"/>
          <p:nvPr/>
        </p:nvSpPr>
        <p:spPr>
          <a:xfrm>
            <a:off x="5806440" y="1920240"/>
            <a:ext cx="25602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Gère « l'autour » : routes, sécurité, appels HTTP. Plus rapide que Java vanilla, pousse aux bonnes pratiques.</a:t>
            </a:r>
            <a:endParaRPr/>
          </a:p>
        </p:txBody>
      </p:sp>
      <p:sp>
        <p:nvSpPr>
          <p:cNvPr id="213" name="Google Shape;213;p25"/>
          <p:cNvSpPr/>
          <p:nvPr/>
        </p:nvSpPr>
        <p:spPr>
          <a:xfrm>
            <a:off x="548640" y="3063240"/>
            <a:ext cx="3840600" cy="14172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25"/>
          <p:cNvSpPr/>
          <p:nvPr/>
        </p:nvSpPr>
        <p:spPr>
          <a:xfrm>
            <a:off x="737006" y="3407054"/>
            <a:ext cx="674700" cy="674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boot.png" id="215" name="Google Shape;215;p25"/>
          <p:cNvPicPr preferRelativeResize="0"/>
          <p:nvPr/>
        </p:nvPicPr>
        <p:blipFill rotWithShape="1">
          <a:blip r:embed="rId5">
            <a:alphaModFix/>
          </a:blip>
          <a:srcRect b="0" l="0" r="0" t="0"/>
          <a:stretch/>
        </p:blipFill>
        <p:spPr>
          <a:xfrm>
            <a:off x="868680" y="3538728"/>
            <a:ext cx="411480" cy="411480"/>
          </a:xfrm>
          <a:prstGeom prst="rect">
            <a:avLst/>
          </a:prstGeom>
          <a:noFill/>
          <a:ln>
            <a:noFill/>
          </a:ln>
        </p:spPr>
      </p:pic>
      <p:sp>
        <p:nvSpPr>
          <p:cNvPr id="216" name="Google Shape;216;p25"/>
          <p:cNvSpPr txBox="1"/>
          <p:nvPr/>
        </p:nvSpPr>
        <p:spPr>
          <a:xfrm>
            <a:off x="1691640" y="3227832"/>
            <a:ext cx="25602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FFFFF"/>
                </a:solidFill>
                <a:latin typeface="Arial"/>
                <a:ea typeface="Arial"/>
                <a:cs typeface="Arial"/>
                <a:sym typeface="Arial"/>
              </a:rPr>
              <a:t>SPRING BOOT</a:t>
            </a:r>
            <a:endParaRPr/>
          </a:p>
        </p:txBody>
      </p:sp>
      <p:sp>
        <p:nvSpPr>
          <p:cNvPr id="217" name="Google Shape;217;p25"/>
          <p:cNvSpPr txBox="1"/>
          <p:nvPr/>
        </p:nvSpPr>
        <p:spPr>
          <a:xfrm>
            <a:off x="1691640" y="3566160"/>
            <a:ext cx="25602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Serveur Tomcat embarqué dans l'exécutable : chaque service démarre tout seul.</a:t>
            </a:r>
            <a:endParaRPr/>
          </a:p>
        </p:txBody>
      </p:sp>
      <p:sp>
        <p:nvSpPr>
          <p:cNvPr id="218" name="Google Shape;218;p25"/>
          <p:cNvSpPr/>
          <p:nvPr/>
        </p:nvSpPr>
        <p:spPr>
          <a:xfrm>
            <a:off x="4663440" y="3063240"/>
            <a:ext cx="3840600" cy="14172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25"/>
          <p:cNvSpPr/>
          <p:nvPr/>
        </p:nvSpPr>
        <p:spPr>
          <a:xfrm>
            <a:off x="4851806" y="3407054"/>
            <a:ext cx="674700" cy="674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ibernate.png" id="220" name="Google Shape;220;p25"/>
          <p:cNvPicPr preferRelativeResize="0"/>
          <p:nvPr/>
        </p:nvPicPr>
        <p:blipFill rotWithShape="1">
          <a:blip r:embed="rId6">
            <a:alphaModFix/>
          </a:blip>
          <a:srcRect b="0" l="0" r="0" t="0"/>
          <a:stretch/>
        </p:blipFill>
        <p:spPr>
          <a:xfrm>
            <a:off x="4983479" y="3538728"/>
            <a:ext cx="411480" cy="411480"/>
          </a:xfrm>
          <a:prstGeom prst="rect">
            <a:avLst/>
          </a:prstGeom>
          <a:noFill/>
          <a:ln>
            <a:noFill/>
          </a:ln>
        </p:spPr>
      </p:pic>
      <p:sp>
        <p:nvSpPr>
          <p:cNvPr id="221" name="Google Shape;221;p25"/>
          <p:cNvSpPr txBox="1"/>
          <p:nvPr/>
        </p:nvSpPr>
        <p:spPr>
          <a:xfrm>
            <a:off x="5806440" y="3227832"/>
            <a:ext cx="25602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rgbClr val="FFFFFF"/>
                </a:solidFill>
                <a:latin typeface="Arial"/>
                <a:ea typeface="Arial"/>
                <a:cs typeface="Arial"/>
                <a:sym typeface="Arial"/>
              </a:rPr>
              <a:t>HIBERNATE / JPA</a:t>
            </a:r>
            <a:endParaRPr/>
          </a:p>
        </p:txBody>
      </p:sp>
      <p:sp>
        <p:nvSpPr>
          <p:cNvPr id="222" name="Google Shape;222;p25"/>
          <p:cNvSpPr txBox="1"/>
          <p:nvPr/>
        </p:nvSpPr>
        <p:spPr>
          <a:xfrm>
            <a:off x="5806440" y="3566160"/>
            <a:ext cx="25602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ORM : JPA = norme (</a:t>
            </a:r>
            <a:r>
              <a:rPr b="1" i="0" lang="fr" sz="1012" u="none" cap="none" strike="noStrike">
                <a:solidFill>
                  <a:srgbClr val="D7FFFA"/>
                </a:solidFill>
                <a:latin typeface="Courier New"/>
                <a:ea typeface="Courier New"/>
                <a:cs typeface="Courier New"/>
                <a:sym typeface="Courier New"/>
              </a:rPr>
              <a:t>@Entity</a:t>
            </a:r>
            <a:r>
              <a:rPr b="0" i="0" lang="fr" sz="1100" u="none" cap="none" strike="noStrike">
                <a:solidFill>
                  <a:srgbClr val="FFFFFF"/>
                </a:solidFill>
                <a:latin typeface="Arial"/>
                <a:ea typeface="Arial"/>
                <a:cs typeface="Arial"/>
                <a:sym typeface="Arial"/>
              </a:rPr>
              <a:t>, </a:t>
            </a:r>
            <a:r>
              <a:rPr b="1" i="0" lang="fr" sz="1012" u="none" cap="none" strike="noStrike">
                <a:solidFill>
                  <a:srgbClr val="D7FFFA"/>
                </a:solidFill>
                <a:latin typeface="Courier New"/>
                <a:ea typeface="Courier New"/>
                <a:cs typeface="Courier New"/>
                <a:sym typeface="Courier New"/>
              </a:rPr>
              <a:t>@Id</a:t>
            </a:r>
            <a:r>
              <a:rPr b="0" i="0" lang="fr" sz="1100" u="none" cap="none" strike="noStrike">
                <a:solidFill>
                  <a:srgbClr val="FFFFFF"/>
                </a:solidFill>
                <a:latin typeface="Arial"/>
                <a:ea typeface="Arial"/>
                <a:cs typeface="Arial"/>
                <a:sym typeface="Arial"/>
              </a:rPr>
              <a:t>), Hibernate = implémentation. Spring Data génère les requêtes.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26" name="Shape 226"/>
        <p:cNvGrpSpPr/>
        <p:nvPr/>
      </p:nvGrpSpPr>
      <p:grpSpPr>
        <a:xfrm>
          <a:off x="0" y="0"/>
          <a:ext cx="0" cy="0"/>
          <a:chOff x="0" y="0"/>
          <a:chExt cx="0" cy="0"/>
        </a:xfrm>
      </p:grpSpPr>
      <p:sp>
        <p:nvSpPr>
          <p:cNvPr id="227" name="Google Shape;227;p26"/>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BASE DE DONNÉES H2</a:t>
            </a:r>
            <a:endParaRPr/>
          </a:p>
        </p:txBody>
      </p:sp>
      <p:sp>
        <p:nvSpPr>
          <p:cNvPr id="228" name="Google Shape;228;p26"/>
          <p:cNvSpPr txBox="1"/>
          <p:nvPr/>
        </p:nvSpPr>
        <p:spPr>
          <a:xfrm>
            <a:off x="749808" y="1463040"/>
            <a:ext cx="3566100" cy="29262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chemeClr val="dk2"/>
              </a:buClr>
              <a:buSzPts val="1250"/>
              <a:buFont typeface="Arial"/>
              <a:buChar char="•"/>
            </a:pPr>
            <a:r>
              <a:rPr b="0" i="0" lang="fr" sz="1250" u="none" cap="none" strike="noStrike">
                <a:solidFill>
                  <a:srgbClr val="FFFFFF"/>
                </a:solidFill>
                <a:latin typeface="Arial"/>
                <a:ea typeface="Arial"/>
                <a:cs typeface="Arial"/>
                <a:sym typeface="Arial"/>
              </a:rPr>
              <a:t>Base </a:t>
            </a:r>
            <a:r>
              <a:rPr b="1" i="0" lang="fr" sz="1250" u="none" cap="none" strike="noStrike">
                <a:solidFill>
                  <a:srgbClr val="FFFFFF"/>
                </a:solidFill>
                <a:latin typeface="Arial"/>
                <a:ea typeface="Arial"/>
                <a:cs typeface="Arial"/>
                <a:sym typeface="Arial"/>
              </a:rPr>
              <a:t>embarquée</a:t>
            </a:r>
            <a:r>
              <a:rPr b="0" i="0" lang="fr" sz="1250" u="none" cap="none" strike="noStrike">
                <a:solidFill>
                  <a:srgbClr val="FFFFFF"/>
                </a:solidFill>
                <a:latin typeface="Arial"/>
                <a:ea typeface="Arial"/>
                <a:cs typeface="Arial"/>
                <a:sym typeface="Arial"/>
              </a:rPr>
              <a:t> : aucune installation, parfaite pour une démo</a:t>
            </a:r>
            <a:endParaRPr/>
          </a:p>
          <a:p>
            <a:pPr indent="-182880" lvl="0" marL="182880" marR="0" rtl="0" algn="l">
              <a:lnSpc>
                <a:spcPct val="100000"/>
              </a:lnSpc>
              <a:spcBef>
                <a:spcPts val="1000"/>
              </a:spcBef>
              <a:spcAft>
                <a:spcPts val="0"/>
              </a:spcAft>
              <a:buClr>
                <a:schemeClr val="dk2"/>
              </a:buClr>
              <a:buSzPts val="1250"/>
              <a:buFont typeface="Arial"/>
              <a:buChar char="•"/>
            </a:pPr>
            <a:r>
              <a:rPr b="1" i="0" lang="fr" sz="1250" u="none" cap="none" strike="noStrike">
                <a:solidFill>
                  <a:srgbClr val="FFFFFF"/>
                </a:solidFill>
                <a:latin typeface="Arial"/>
                <a:ea typeface="Arial"/>
                <a:cs typeface="Arial"/>
                <a:sym typeface="Arial"/>
              </a:rPr>
              <a:t>Une base par microservice</a:t>
            </a:r>
            <a:r>
              <a:rPr b="0" i="0" lang="fr" sz="1250" u="none" cap="none" strike="noStrike">
                <a:solidFill>
                  <a:srgbClr val="FFFFFF"/>
                </a:solidFill>
                <a:latin typeface="Arial"/>
                <a:ea typeface="Arial"/>
                <a:cs typeface="Arial"/>
                <a:sym typeface="Arial"/>
              </a:rPr>
              <a:t> (client, account, transaction)</a:t>
            </a:r>
            <a:endParaRPr/>
          </a:p>
          <a:p>
            <a:pPr indent="-182880" lvl="0" marL="182880" marR="0" rtl="0" algn="l">
              <a:lnSpc>
                <a:spcPct val="100000"/>
              </a:lnSpc>
              <a:spcBef>
                <a:spcPts val="1000"/>
              </a:spcBef>
              <a:spcAft>
                <a:spcPts val="0"/>
              </a:spcAft>
              <a:buClr>
                <a:schemeClr val="dk2"/>
              </a:buClr>
              <a:buSzPts val="1250"/>
              <a:buFont typeface="Arial"/>
              <a:buChar char="•"/>
            </a:pPr>
            <a:r>
              <a:rPr b="0" i="0" lang="fr" sz="1250" u="none" cap="none" strike="noStrike">
                <a:solidFill>
                  <a:srgbClr val="FFFFFF"/>
                </a:solidFill>
                <a:latin typeface="Arial"/>
                <a:ea typeface="Arial"/>
                <a:cs typeface="Arial"/>
                <a:sym typeface="Arial"/>
              </a:rPr>
              <a:t>Données d'exemple </a:t>
            </a:r>
            <a:r>
              <a:rPr b="1" i="0" lang="fr" sz="1250" u="none" cap="none" strike="noStrike">
                <a:solidFill>
                  <a:srgbClr val="FFFFFF"/>
                </a:solidFill>
                <a:latin typeface="Arial"/>
                <a:ea typeface="Arial"/>
                <a:cs typeface="Arial"/>
                <a:sym typeface="Arial"/>
              </a:rPr>
              <a:t>réinitialisées à chaque démarrage</a:t>
            </a:r>
            <a:r>
              <a:rPr b="0" i="0" lang="fr" sz="1250" u="none" cap="none" strike="noStrike">
                <a:solidFill>
                  <a:srgbClr val="FFFFFF"/>
                </a:solidFill>
                <a:latin typeface="Arial"/>
                <a:ea typeface="Arial"/>
                <a:cs typeface="Arial"/>
                <a:sym typeface="Arial"/>
              </a:rPr>
              <a:t> via </a:t>
            </a:r>
            <a:r>
              <a:rPr b="1" i="0" lang="fr" sz="1150" u="none" cap="none" strike="noStrike">
                <a:solidFill>
                  <a:srgbClr val="D7FFFA"/>
                </a:solidFill>
                <a:latin typeface="Courier New"/>
                <a:ea typeface="Courier New"/>
                <a:cs typeface="Courier New"/>
                <a:sym typeface="Courier New"/>
              </a:rPr>
              <a:t>data.sql</a:t>
            </a:r>
            <a:endParaRPr/>
          </a:p>
        </p:txBody>
      </p:sp>
      <p:sp>
        <p:nvSpPr>
          <p:cNvPr id="229" name="Google Shape;229;p26"/>
          <p:cNvSpPr/>
          <p:nvPr/>
        </p:nvSpPr>
        <p:spPr>
          <a:xfrm>
            <a:off x="4572000" y="1325880"/>
            <a:ext cx="4023300" cy="14631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26"/>
          <p:cNvSpPr txBox="1"/>
          <p:nvPr/>
        </p:nvSpPr>
        <p:spPr>
          <a:xfrm>
            <a:off x="4709160" y="1399032"/>
            <a:ext cx="37491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account-service · application.properties</a:t>
            </a:r>
            <a:endParaRPr/>
          </a:p>
        </p:txBody>
      </p:sp>
      <p:sp>
        <p:nvSpPr>
          <p:cNvPr id="231" name="Google Shape;231;p26"/>
          <p:cNvSpPr txBox="1"/>
          <p:nvPr/>
        </p:nvSpPr>
        <p:spPr>
          <a:xfrm>
            <a:off x="4709160" y="1627632"/>
            <a:ext cx="37491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spring.datasource.url=jdbc:h2:file:./database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spring.jpa.hibernate.ddl-auto=update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spring.sql.init.mode=always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spring.jpa.defer-datasource-initialization=true</a:t>
            </a:r>
            <a:endParaRPr/>
          </a:p>
        </p:txBody>
      </p:sp>
      <p:sp>
        <p:nvSpPr>
          <p:cNvPr id="232" name="Google Shape;232;p26"/>
          <p:cNvSpPr/>
          <p:nvPr/>
        </p:nvSpPr>
        <p:spPr>
          <a:xfrm>
            <a:off x="4572000" y="2926080"/>
            <a:ext cx="4023300" cy="16002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3" name="Google Shape;233;p26"/>
          <p:cNvSpPr txBox="1"/>
          <p:nvPr/>
        </p:nvSpPr>
        <p:spPr>
          <a:xfrm>
            <a:off x="4709160" y="2999232"/>
            <a:ext cx="37491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data.sql</a:t>
            </a:r>
            <a:endParaRPr/>
          </a:p>
        </p:txBody>
      </p:sp>
      <p:sp>
        <p:nvSpPr>
          <p:cNvPr id="234" name="Google Shape;234;p26"/>
          <p:cNvSpPr txBox="1"/>
          <p:nvPr/>
        </p:nvSpPr>
        <p:spPr>
          <a:xfrm>
            <a:off x="4709160" y="3227832"/>
            <a:ext cx="3749100" cy="785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TRUNCATE TABLE account;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INSERT INTO account (iban, client_id, balance,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type, overdraft, taxed)</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VALUES ('FR458512369', 'C001', 15520.00,</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'CURRENT', -50.00, NULL);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38" name="Shape 238"/>
        <p:cNvGrpSpPr/>
        <p:nvPr/>
      </p:nvGrpSpPr>
      <p:grpSpPr>
        <a:xfrm>
          <a:off x="0" y="0"/>
          <a:ext cx="0" cy="0"/>
          <a:chOff x="0" y="0"/>
          <a:chExt cx="0" cy="0"/>
        </a:xfrm>
      </p:grpSpPr>
      <p:sp>
        <p:nvSpPr>
          <p:cNvPr id="239" name="Google Shape;239;p27"/>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GESTION DES EXCEPTIONS</a:t>
            </a:r>
            <a:endParaRPr/>
          </a:p>
        </p:txBody>
      </p:sp>
      <p:graphicFrame>
        <p:nvGraphicFramePr>
          <p:cNvPr id="240" name="Google Shape;240;p27"/>
          <p:cNvGraphicFramePr/>
          <p:nvPr/>
        </p:nvGraphicFramePr>
        <p:xfrm>
          <a:off x="548640" y="1371600"/>
          <a:ext cx="3000000" cy="3000000"/>
        </p:xfrm>
        <a:graphic>
          <a:graphicData uri="http://schemas.openxmlformats.org/drawingml/2006/table">
            <a:tbl>
              <a:tblPr>
                <a:noFill/>
                <a:tableStyleId>{6624C829-EBDE-4DD2-B66A-5790EC324022}</a:tableStyleId>
              </a:tblPr>
              <a:tblGrid>
                <a:gridCol w="3108950"/>
                <a:gridCol w="914400"/>
              </a:tblGrid>
              <a:tr h="384050">
                <a:tc>
                  <a:txBody>
                    <a:bodyPr/>
                    <a:lstStyle/>
                    <a:p>
                      <a:pPr indent="0" lvl="0" marL="0" marR="0" rtl="0" algn="l">
                        <a:lnSpc>
                          <a:spcPct val="100000"/>
                        </a:lnSpc>
                        <a:spcBef>
                          <a:spcPts val="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EXCEPTION</a:t>
                      </a:r>
                      <a:endParaRPr/>
                    </a:p>
                  </a:txBody>
                  <a:tcPr marT="27425" marB="27425" marR="91450" marL="109725" anchor="ctr">
                    <a:solidFill>
                      <a:srgbClr val="613FB8"/>
                    </a:solidFill>
                  </a:tcPr>
                </a:tc>
                <a:tc>
                  <a:txBody>
                    <a:bodyPr/>
                    <a:lstStyle/>
                    <a:p>
                      <a:pPr indent="0" lvl="0" marL="0" marR="0" rtl="0" algn="ctr">
                        <a:lnSpc>
                          <a:spcPct val="100000"/>
                        </a:lnSpc>
                        <a:spcBef>
                          <a:spcPts val="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CODE HTTP</a:t>
                      </a:r>
                      <a:endParaRPr/>
                    </a:p>
                  </a:txBody>
                  <a:tcPr marT="27425" marB="27425" marR="91450" marL="109725" anchor="ctr">
                    <a:solidFill>
                      <a:srgbClr val="613FB8"/>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InvalidAmountException</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400</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OverdraftExceededException</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400</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JSON mal formé</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400</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ForbiddenException</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403</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AccountNotFoundException</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404</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AccountAlreadyExistsException</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409</a:t>
                      </a:r>
                      <a:endParaRPr/>
                    </a:p>
                  </a:txBody>
                  <a:tcPr marT="27425" marB="27425" marR="91450" marL="109725" anchor="ctr">
                    <a:solidFill>
                      <a:srgbClr val="2A1570">
                        <a:alpha val="70200"/>
                      </a:srgbClr>
                    </a:solidFill>
                  </a:tcPr>
                </a:tc>
              </a:tr>
              <a:tr h="384050">
                <a:tc>
                  <a:txBody>
                    <a:bodyPr/>
                    <a:lstStyle/>
                    <a:p>
                      <a:pPr indent="0" lvl="0" marL="0" marR="0" rtl="0" algn="l">
                        <a:lnSpc>
                          <a:spcPct val="100000"/>
                        </a:lnSpc>
                        <a:spcBef>
                          <a:spcPts val="0"/>
                        </a:spcBef>
                        <a:spcAft>
                          <a:spcPts val="0"/>
                        </a:spcAft>
                        <a:buClr>
                          <a:srgbClr val="000000"/>
                        </a:buClr>
                        <a:buSzPts val="1000"/>
                        <a:buFont typeface="Arial"/>
                        <a:buNone/>
                      </a:pPr>
                      <a:r>
                        <a:rPr i="0" lang="fr" sz="1000" u="none" cap="none" strike="noStrike">
                          <a:solidFill>
                            <a:srgbClr val="FFFFFF"/>
                          </a:solidFill>
                        </a:rPr>
                        <a:t>Exception (imprévue)</a:t>
                      </a:r>
                      <a:endParaRPr/>
                    </a:p>
                  </a:txBody>
                  <a:tcPr marT="27425" marB="27425" marR="91450" marL="109725" anchor="ctr">
                    <a:solidFill>
                      <a:srgbClr val="2A1570">
                        <a:alpha val="70200"/>
                      </a:srgbClr>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00D6C0"/>
                          </a:solidFill>
                          <a:latin typeface="Arial"/>
                          <a:ea typeface="Arial"/>
                          <a:cs typeface="Arial"/>
                          <a:sym typeface="Arial"/>
                        </a:rPr>
                        <a:t>500</a:t>
                      </a:r>
                      <a:endParaRPr/>
                    </a:p>
                  </a:txBody>
                  <a:tcPr marT="27425" marB="27425" marR="91450" marL="109725" anchor="ctr">
                    <a:solidFill>
                      <a:srgbClr val="2A1570">
                        <a:alpha val="70200"/>
                      </a:srgbClr>
                    </a:solidFill>
                  </a:tcPr>
                </a:tc>
              </a:tr>
            </a:tbl>
          </a:graphicData>
        </a:graphic>
      </p:graphicFrame>
      <p:sp>
        <p:nvSpPr>
          <p:cNvPr id="241" name="Google Shape;241;p27"/>
          <p:cNvSpPr/>
          <p:nvPr/>
        </p:nvSpPr>
        <p:spPr>
          <a:xfrm>
            <a:off x="4937760" y="1371600"/>
            <a:ext cx="3703200" cy="5487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Le domaine lève</a:t>
            </a:r>
            <a:r>
              <a:rPr b="0" i="0" lang="fr" sz="1000" u="none" cap="none" strike="noStrike">
                <a:solidFill>
                  <a:srgbClr val="FFFFFF"/>
                </a:solidFill>
                <a:latin typeface="Arial"/>
                <a:ea typeface="Arial"/>
                <a:cs typeface="Arial"/>
                <a:sym typeface="Arial"/>
              </a:rPr>
              <a:t> · </a:t>
            </a:r>
            <a:r>
              <a:rPr lang="fr" sz="1000">
                <a:solidFill>
                  <a:schemeClr val="dk2"/>
                </a:solidFill>
              </a:rPr>
              <a:t>InvalidAmountException</a:t>
            </a:r>
            <a:endParaRPr/>
          </a:p>
        </p:txBody>
      </p:sp>
      <p:cxnSp>
        <p:nvCxnSpPr>
          <p:cNvPr id="242" name="Google Shape;242;p27"/>
          <p:cNvCxnSpPr/>
          <p:nvPr/>
        </p:nvCxnSpPr>
        <p:spPr>
          <a:xfrm>
            <a:off x="6766560" y="1920240"/>
            <a:ext cx="0" cy="1647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43" name="Google Shape;243;p27"/>
          <p:cNvSpPr/>
          <p:nvPr/>
        </p:nvSpPr>
        <p:spPr>
          <a:xfrm>
            <a:off x="4937760" y="2084832"/>
            <a:ext cx="3703200" cy="5487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@ControllerAdvice capture</a:t>
            </a:r>
            <a:r>
              <a:rPr b="0" i="0" lang="fr" sz="1000" u="none" cap="none" strike="noStrike">
                <a:solidFill>
                  <a:srgbClr val="FFFFFF"/>
                </a:solidFill>
                <a:latin typeface="Arial"/>
                <a:ea typeface="Arial"/>
                <a:cs typeface="Arial"/>
                <a:sym typeface="Arial"/>
              </a:rPr>
              <a:t> · GlobalExceptionHandler</a:t>
            </a:r>
            <a:endParaRPr/>
          </a:p>
        </p:txBody>
      </p:sp>
      <p:cxnSp>
        <p:nvCxnSpPr>
          <p:cNvPr id="244" name="Google Shape;244;p27"/>
          <p:cNvCxnSpPr/>
          <p:nvPr/>
        </p:nvCxnSpPr>
        <p:spPr>
          <a:xfrm>
            <a:off x="6766560" y="2633472"/>
            <a:ext cx="0" cy="1647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45" name="Google Shape;245;p27"/>
          <p:cNvSpPr/>
          <p:nvPr/>
        </p:nvSpPr>
        <p:spPr>
          <a:xfrm>
            <a:off x="4937760" y="2798064"/>
            <a:ext cx="3703200" cy="5487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137150" spcFirstLastPara="1" rIns="137150" wrap="square" tIns="36575">
            <a:noAutofit/>
          </a:bodyPr>
          <a:lstStyle/>
          <a:p>
            <a:pPr indent="0" lvl="0" marL="0" marR="0" rtl="0" algn="l">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Réponse JSON claire</a:t>
            </a:r>
            <a:r>
              <a:rPr b="0" i="0" lang="fr" sz="1000" u="none" cap="none" strike="noStrike">
                <a:solidFill>
                  <a:srgbClr val="FFFFFF"/>
                </a:solidFill>
                <a:latin typeface="Arial"/>
                <a:ea typeface="Arial"/>
                <a:cs typeface="Arial"/>
                <a:sym typeface="Arial"/>
              </a:rPr>
              <a:t> · status + message</a:t>
            </a:r>
            <a:endParaRPr/>
          </a:p>
        </p:txBody>
      </p:sp>
      <p:sp>
        <p:nvSpPr>
          <p:cNvPr id="246" name="Google Shape;246;p27"/>
          <p:cNvSpPr/>
          <p:nvPr/>
        </p:nvSpPr>
        <p:spPr>
          <a:xfrm>
            <a:off x="4937760" y="3611880"/>
            <a:ext cx="3703200" cy="9600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27"/>
          <p:cNvSpPr txBox="1"/>
          <p:nvPr/>
        </p:nvSpPr>
        <p:spPr>
          <a:xfrm>
            <a:off x="5074920" y="3703320"/>
            <a:ext cx="342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EDE7FF"/>
                </a:solidFill>
                <a:latin typeface="Courier New"/>
                <a:ea typeface="Courier New"/>
                <a:cs typeface="Courier New"/>
                <a:sym typeface="Courier New"/>
              </a:rPr>
              <a:t>HTTP 400</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EDE7FF"/>
                </a:solidFill>
                <a:latin typeface="Courier New"/>
                <a:ea typeface="Courier New"/>
                <a:cs typeface="Courier New"/>
                <a:sym typeface="Courier New"/>
              </a:rPr>
              <a:t>{ </a:t>
            </a:r>
            <a:r>
              <a:rPr b="0" i="0" lang="fr" sz="900" u="none" cap="none" strike="noStrike">
                <a:solidFill>
                  <a:srgbClr val="00D6C0"/>
                </a:solidFill>
                <a:latin typeface="Courier New"/>
                <a:ea typeface="Courier New"/>
                <a:cs typeface="Courier New"/>
                <a:sym typeface="Courier New"/>
              </a:rPr>
              <a:t>"status"</a:t>
            </a:r>
            <a:r>
              <a:rPr b="0" i="0" lang="fr" sz="900" u="none" cap="none" strike="noStrike">
                <a:solidFill>
                  <a:srgbClr val="EDE7FF"/>
                </a:solidFill>
                <a:latin typeface="Courier New"/>
                <a:ea typeface="Courier New"/>
                <a:cs typeface="Courier New"/>
                <a:sym typeface="Courier New"/>
              </a:rPr>
              <a:t>: 400,</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EDE7FF"/>
                </a:solidFill>
                <a:latin typeface="Courier New"/>
                <a:ea typeface="Courier New"/>
                <a:cs typeface="Courier New"/>
                <a:sym typeface="Courier New"/>
              </a:rPr>
              <a:t>  </a:t>
            </a:r>
            <a:r>
              <a:rPr b="0" i="0" lang="fr" sz="900" u="none" cap="none" strike="noStrike">
                <a:solidFill>
                  <a:srgbClr val="00D6C0"/>
                </a:solidFill>
                <a:latin typeface="Courier New"/>
                <a:ea typeface="Courier New"/>
                <a:cs typeface="Courier New"/>
                <a:sym typeface="Courier New"/>
              </a:rPr>
              <a:t>"error"</a:t>
            </a:r>
            <a:r>
              <a:rPr b="0" i="0" lang="fr" sz="900" u="none" cap="none" strike="noStrike">
                <a:solidFill>
                  <a:srgbClr val="EDE7FF"/>
                </a:solidFill>
                <a:latin typeface="Courier New"/>
                <a:ea typeface="Courier New"/>
                <a:cs typeface="Courier New"/>
                <a:sym typeface="Courier New"/>
              </a:rPr>
              <a:t>: </a:t>
            </a:r>
            <a:r>
              <a:rPr b="0" i="0" lang="fr" sz="900" u="none" cap="none" strike="noStrike">
                <a:solidFill>
                  <a:srgbClr val="00D6C0"/>
                </a:solidFill>
                <a:latin typeface="Courier New"/>
                <a:ea typeface="Courier New"/>
                <a:cs typeface="Courier New"/>
                <a:sym typeface="Courier New"/>
              </a:rPr>
              <a:t>"</a:t>
            </a:r>
            <a:r>
              <a:rPr lang="fr" sz="900">
                <a:solidFill>
                  <a:srgbClr val="00D6C0"/>
                </a:solidFill>
                <a:latin typeface="Courier New"/>
                <a:ea typeface="Courier New"/>
                <a:cs typeface="Courier New"/>
                <a:sym typeface="Courier New"/>
              </a:rPr>
              <a:t>Le montant initial pour ouvrir un compte ne peut pas être négatif</a:t>
            </a:r>
            <a:r>
              <a:rPr b="0" i="0" lang="fr" sz="900" u="none" cap="none" strike="noStrike">
                <a:solidFill>
                  <a:srgbClr val="00D6C0"/>
                </a:solidFill>
                <a:latin typeface="Courier New"/>
                <a:ea typeface="Courier New"/>
                <a:cs typeface="Courier New"/>
                <a:sym typeface="Courier New"/>
              </a:rPr>
              <a:t>."</a:t>
            </a:r>
            <a:r>
              <a:rPr b="0" i="0" lang="fr" sz="900" u="none" cap="none" strike="noStrike">
                <a:solidFill>
                  <a:srgbClr val="EDE7FF"/>
                </a:solidFill>
                <a:latin typeface="Courier New"/>
                <a:ea typeface="Courier New"/>
                <a:cs typeface="Courier New"/>
                <a:sym typeface="Courier New"/>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51" name="Shape 251"/>
        <p:cNvGrpSpPr/>
        <p:nvPr/>
      </p:nvGrpSpPr>
      <p:grpSpPr>
        <a:xfrm>
          <a:off x="0" y="0"/>
          <a:ext cx="0" cy="0"/>
          <a:chOff x="0" y="0"/>
          <a:chExt cx="0" cy="0"/>
        </a:xfrm>
      </p:grpSpPr>
      <p:sp>
        <p:nvSpPr>
          <p:cNvPr id="252" name="Google Shape;252;p28"/>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TESTS AUTOMATISÉS</a:t>
            </a:r>
            <a:endParaRPr/>
          </a:p>
        </p:txBody>
      </p:sp>
      <p:sp>
        <p:nvSpPr>
          <p:cNvPr id="253" name="Google Shape;253;p28"/>
          <p:cNvSpPr/>
          <p:nvPr/>
        </p:nvSpPr>
        <p:spPr>
          <a:xfrm>
            <a:off x="640080" y="1417320"/>
            <a:ext cx="1737300" cy="1508700"/>
          </a:xfrm>
          <a:prstGeom prst="hexagon">
            <a:avLst>
              <a:gd fmla="val 25000" name="adj"/>
              <a:gd fmla="val 115470" name="vf"/>
            </a:avLst>
          </a:prstGeom>
          <a:solidFill>
            <a:srgbClr val="FFFFFF">
              <a:alpha val="18040"/>
            </a:srgbClr>
          </a:solidFill>
          <a:ln cap="flat" cmpd="sng" w="12700">
            <a:solidFill>
              <a:srgbClr val="FFFFFF"/>
            </a:solidFill>
            <a:prstDash val="solid"/>
            <a:round/>
            <a:headEnd len="sm" w="sm" type="none"/>
            <a:tailEnd len="sm" w="sm" type="none"/>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Clr>
                <a:srgbClr val="000000"/>
              </a:buClr>
              <a:buSzPts val="3600"/>
              <a:buFont typeface="Arial"/>
              <a:buNone/>
            </a:pPr>
            <a:r>
              <a:rPr b="1" i="0" lang="fr" sz="3600" u="none" cap="none" strike="noStrike">
                <a:solidFill>
                  <a:srgbClr val="FFFFFF"/>
                </a:solidFill>
                <a:latin typeface="Arial"/>
                <a:ea typeface="Arial"/>
                <a:cs typeface="Arial"/>
                <a:sym typeface="Arial"/>
              </a:rPr>
              <a:t>9</a:t>
            </a:r>
            <a:endParaRPr/>
          </a:p>
          <a:p>
            <a:pPr indent="0" lvl="0" marL="0" marR="0" rtl="0" algn="ctr">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tests unitaires</a:t>
            </a:r>
            <a:endParaRPr/>
          </a:p>
        </p:txBody>
      </p:sp>
      <p:sp>
        <p:nvSpPr>
          <p:cNvPr id="254" name="Google Shape;254;p28"/>
          <p:cNvSpPr txBox="1"/>
          <p:nvPr/>
        </p:nvSpPr>
        <p:spPr>
          <a:xfrm>
            <a:off x="2606040" y="1463040"/>
            <a:ext cx="2194500" cy="14631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chemeClr val="dk2"/>
              </a:buClr>
              <a:buSzPts val="1150"/>
              <a:buFont typeface="Arial"/>
              <a:buChar char="•"/>
            </a:pPr>
            <a:r>
              <a:rPr b="1" i="0" lang="fr" sz="1150" u="none" cap="none" strike="noStrike">
                <a:solidFill>
                  <a:srgbClr val="FFFFFF"/>
                </a:solidFill>
                <a:latin typeface="Arial"/>
                <a:ea typeface="Arial"/>
                <a:cs typeface="Arial"/>
                <a:sym typeface="Arial"/>
              </a:rPr>
              <a:t>JUnit 5</a:t>
            </a:r>
            <a:r>
              <a:rPr b="0" i="0" lang="fr" sz="1150" u="none" cap="none" strike="noStrike">
                <a:solidFill>
                  <a:srgbClr val="FFFFFF"/>
                </a:solidFill>
                <a:latin typeface="Arial"/>
                <a:ea typeface="Arial"/>
                <a:cs typeface="Arial"/>
                <a:sym typeface="Arial"/>
              </a:rPr>
              <a:t> pour les assertions</a:t>
            </a:r>
            <a:endParaRPr/>
          </a:p>
          <a:p>
            <a:pPr indent="-182880" lvl="0" marL="182880" marR="0" rtl="0" algn="l">
              <a:lnSpc>
                <a:spcPct val="100000"/>
              </a:lnSpc>
              <a:spcBef>
                <a:spcPts val="600"/>
              </a:spcBef>
              <a:spcAft>
                <a:spcPts val="0"/>
              </a:spcAft>
              <a:buClr>
                <a:schemeClr val="dk2"/>
              </a:buClr>
              <a:buSzPts val="1150"/>
              <a:buFont typeface="Arial"/>
              <a:buChar char="•"/>
            </a:pPr>
            <a:r>
              <a:rPr b="1" i="0" lang="fr" sz="1150" u="none" cap="none" strike="noStrike">
                <a:solidFill>
                  <a:srgbClr val="FFFFFF"/>
                </a:solidFill>
                <a:latin typeface="Arial"/>
                <a:ea typeface="Arial"/>
                <a:cs typeface="Arial"/>
                <a:sym typeface="Arial"/>
              </a:rPr>
              <a:t>Mockito</a:t>
            </a:r>
            <a:r>
              <a:rPr b="0" i="0" lang="fr" sz="1150" u="none" cap="none" strike="noStrike">
                <a:solidFill>
                  <a:srgbClr val="FFFFFF"/>
                </a:solidFill>
                <a:latin typeface="Arial"/>
                <a:ea typeface="Arial"/>
                <a:cs typeface="Arial"/>
                <a:sym typeface="Arial"/>
              </a:rPr>
              <a:t> pour simuler les ports OUT</a:t>
            </a:r>
            <a:endParaRPr/>
          </a:p>
          <a:p>
            <a:pPr indent="-182880" lvl="0" marL="182880" marR="0" rtl="0" algn="l">
              <a:lnSpc>
                <a:spcPct val="100000"/>
              </a:lnSpc>
              <a:spcBef>
                <a:spcPts val="600"/>
              </a:spcBef>
              <a:spcAft>
                <a:spcPts val="0"/>
              </a:spcAft>
              <a:buClr>
                <a:schemeClr val="dk2"/>
              </a:buClr>
              <a:buSzPts val="1150"/>
              <a:buFont typeface="Arial"/>
              <a:buChar char="•"/>
            </a:pPr>
            <a:r>
              <a:rPr b="0" i="0" lang="fr" sz="1150" u="none" cap="none" strike="noStrike">
                <a:solidFill>
                  <a:srgbClr val="FFFFFF"/>
                </a:solidFill>
                <a:latin typeface="Arial"/>
                <a:ea typeface="Arial"/>
                <a:cs typeface="Arial"/>
                <a:sym typeface="Arial"/>
              </a:rPr>
              <a:t>Aucune base nécessaire</a:t>
            </a:r>
            <a:endParaRPr/>
          </a:p>
        </p:txBody>
      </p:sp>
      <p:sp>
        <p:nvSpPr>
          <p:cNvPr id="255" name="Google Shape;255;p28"/>
          <p:cNvSpPr/>
          <p:nvPr/>
        </p:nvSpPr>
        <p:spPr>
          <a:xfrm>
            <a:off x="640080" y="315468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Consulter un compte</a:t>
            </a:r>
            <a:endParaRPr/>
          </a:p>
        </p:txBody>
      </p:sp>
      <p:sp>
        <p:nvSpPr>
          <p:cNvPr id="256" name="Google Shape;256;p28"/>
          <p:cNvSpPr/>
          <p:nvPr/>
        </p:nvSpPr>
        <p:spPr>
          <a:xfrm>
            <a:off x="2743200" y="315468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Compte introuvable → 404</a:t>
            </a:r>
            <a:endParaRPr/>
          </a:p>
        </p:txBody>
      </p:sp>
      <p:sp>
        <p:nvSpPr>
          <p:cNvPr id="257" name="Google Shape;257;p28"/>
          <p:cNvSpPr/>
          <p:nvPr/>
        </p:nvSpPr>
        <p:spPr>
          <a:xfrm>
            <a:off x="640080" y="365760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Accès à un autre client → 403</a:t>
            </a:r>
            <a:endParaRPr/>
          </a:p>
        </p:txBody>
      </p:sp>
      <p:sp>
        <p:nvSpPr>
          <p:cNvPr id="258" name="Google Shape;258;p28"/>
          <p:cNvSpPr/>
          <p:nvPr/>
        </p:nvSpPr>
        <p:spPr>
          <a:xfrm>
            <a:off x="2743200" y="365760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Dépôt / retrait + sauvegarde</a:t>
            </a:r>
            <a:endParaRPr/>
          </a:p>
        </p:txBody>
      </p:sp>
      <p:sp>
        <p:nvSpPr>
          <p:cNvPr id="259" name="Google Shape;259;p28"/>
          <p:cNvSpPr/>
          <p:nvPr/>
        </p:nvSpPr>
        <p:spPr>
          <a:xfrm>
            <a:off x="640080" y="416052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Montant négatif refusé</a:t>
            </a:r>
            <a:endParaRPr/>
          </a:p>
        </p:txBody>
      </p:sp>
      <p:sp>
        <p:nvSpPr>
          <p:cNvPr id="260" name="Google Shape;260;p28"/>
          <p:cNvSpPr/>
          <p:nvPr/>
        </p:nvSpPr>
        <p:spPr>
          <a:xfrm>
            <a:off x="2743200" y="4160520"/>
            <a:ext cx="1965900" cy="4116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45700" spcFirstLastPara="1" rIns="45700" wrap="square" tIns="36575">
            <a:noAutofit/>
          </a:bodyPr>
          <a:lstStyle/>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Pas de sauvegarde si échec</a:t>
            </a:r>
            <a:endParaRPr/>
          </a:p>
        </p:txBody>
      </p:sp>
      <p:sp>
        <p:nvSpPr>
          <p:cNvPr id="261" name="Google Shape;261;p28"/>
          <p:cNvSpPr/>
          <p:nvPr/>
        </p:nvSpPr>
        <p:spPr>
          <a:xfrm>
            <a:off x="5029200" y="1325880"/>
            <a:ext cx="3612000" cy="32919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28"/>
          <p:cNvSpPr txBox="1"/>
          <p:nvPr/>
        </p:nvSpPr>
        <p:spPr>
          <a:xfrm>
            <a:off x="5166360" y="1399032"/>
            <a:ext cx="33375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CurrentAccountServiceTest.java</a:t>
            </a:r>
            <a:endParaRPr/>
          </a:p>
        </p:txBody>
      </p:sp>
      <p:sp>
        <p:nvSpPr>
          <p:cNvPr id="263" name="Google Shape;263;p28"/>
          <p:cNvSpPr txBox="1"/>
          <p:nvPr/>
        </p:nvSpPr>
        <p:spPr>
          <a:xfrm>
            <a:off x="5166360" y="1627632"/>
            <a:ext cx="3337500" cy="184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5B2CA"/>
                </a:solidFill>
                <a:latin typeface="Courier New"/>
                <a:ea typeface="Courier New"/>
                <a:cs typeface="Courier New"/>
                <a:sym typeface="Courier New"/>
              </a:rPr>
              <a:t>@ExtendWith</a:t>
            </a:r>
            <a:r>
              <a:rPr b="0" i="0" lang="fr" sz="750" u="none" cap="none" strike="noStrike">
                <a:solidFill>
                  <a:srgbClr val="EDE7FF"/>
                </a:solidFill>
                <a:latin typeface="Courier New"/>
                <a:ea typeface="Courier New"/>
                <a:cs typeface="Courier New"/>
                <a:sym typeface="Courier New"/>
              </a:rPr>
              <a:t>(MockitoExtension.</a:t>
            </a:r>
            <a:r>
              <a:rPr b="1" i="0" lang="fr" sz="750" u="none" cap="none" strike="noStrike">
                <a:solidFill>
                  <a:srgbClr val="9BA2FF"/>
                </a:solidFill>
                <a:latin typeface="Courier New"/>
                <a:ea typeface="Courier New"/>
                <a:cs typeface="Courier New"/>
                <a:sym typeface="Courier New"/>
              </a:rPr>
              <a:t>class</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class</a:t>
            </a:r>
            <a:r>
              <a:rPr b="0" i="0" lang="fr" sz="750" u="none" cap="none" strike="noStrike">
                <a:solidFill>
                  <a:srgbClr val="EDE7FF"/>
                </a:solidFill>
                <a:latin typeface="Courier New"/>
                <a:ea typeface="Courier New"/>
                <a:cs typeface="Courier New"/>
                <a:sym typeface="Courier New"/>
              </a:rPr>
              <a:t> CurrentAccountServiceTest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E5B2CA"/>
                </a:solidFill>
                <a:latin typeface="Courier New"/>
                <a:ea typeface="Courier New"/>
                <a:cs typeface="Courier New"/>
                <a:sym typeface="Courier New"/>
              </a:rPr>
              <a:t>@Mock</a:t>
            </a:r>
            <a:r>
              <a:rPr b="0" i="0" lang="fr" sz="750" u="none" cap="none" strike="noStrike">
                <a:solidFill>
                  <a:srgbClr val="EDE7FF"/>
                </a:solidFill>
                <a:latin typeface="Courier New"/>
                <a:ea typeface="Courier New"/>
                <a:cs typeface="Courier New"/>
                <a:sym typeface="Courier New"/>
              </a:rPr>
              <a:t>  CurrentAccountRepository repository;</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E5B2CA"/>
                </a:solidFill>
                <a:latin typeface="Courier New"/>
                <a:ea typeface="Courier New"/>
                <a:cs typeface="Courier New"/>
                <a:sym typeface="Courier New"/>
              </a:rPr>
              <a:t>@InjectMocks</a:t>
            </a:r>
            <a:r>
              <a:rPr b="0" i="0" lang="fr" sz="750" u="none" cap="none" strike="noStrike">
                <a:solidFill>
                  <a:srgbClr val="EDE7FF"/>
                </a:solidFill>
                <a:latin typeface="Courier New"/>
                <a:ea typeface="Courier New"/>
                <a:cs typeface="Courier New"/>
                <a:sym typeface="Courier New"/>
              </a:rPr>
              <a:t> CurrentAccountService service;</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E5B2CA"/>
                </a:solidFill>
                <a:latin typeface="Courier New"/>
                <a:ea typeface="Courier New"/>
                <a:cs typeface="Courier New"/>
                <a:sym typeface="Courier New"/>
              </a:rPr>
              <a:t>@Test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void</a:t>
            </a:r>
            <a:r>
              <a:rPr b="0" i="0" lang="fr" sz="750" u="none" cap="none" strike="noStrike">
                <a:solidFill>
                  <a:srgbClr val="EDE7FF"/>
                </a:solidFill>
                <a:latin typeface="Courier New"/>
                <a:ea typeface="Courier New"/>
                <a:cs typeface="Courier New"/>
                <a:sym typeface="Courier New"/>
              </a:rPr>
              <a:t> shouldThrowForbiddenException()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account = </a:t>
            </a:r>
            <a:r>
              <a:rPr b="1" i="0" lang="fr" sz="750" u="none" cap="none" strike="noStrike">
                <a:solidFill>
                  <a:srgbClr val="9BA2FF"/>
                </a:solidFill>
                <a:latin typeface="Courier New"/>
                <a:ea typeface="Courier New"/>
                <a:cs typeface="Courier New"/>
                <a:sym typeface="Courier New"/>
              </a:rPr>
              <a:t>new</a:t>
            </a:r>
            <a:r>
              <a:rPr b="0" i="0" lang="fr" sz="750" u="none" cap="none" strike="noStrike">
                <a:solidFill>
                  <a:srgbClr val="EDE7FF"/>
                </a:solidFill>
                <a:latin typeface="Courier New"/>
                <a:ea typeface="Courier New"/>
                <a:cs typeface="Courier New"/>
                <a:sym typeface="Courier New"/>
              </a:rPr>
              <a:t> CurrentAccount(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00D6C0"/>
                </a:solidFill>
                <a:latin typeface="Courier New"/>
                <a:ea typeface="Courier New"/>
                <a:cs typeface="Courier New"/>
                <a:sym typeface="Courier New"/>
              </a:rPr>
              <a:t>"FR1"</a:t>
            </a: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00D6C0"/>
                </a:solidFill>
                <a:latin typeface="Courier New"/>
                <a:ea typeface="Courier New"/>
                <a:cs typeface="Courier New"/>
                <a:sym typeface="Courier New"/>
              </a:rPr>
              <a:t>"client1"</a:t>
            </a:r>
            <a:r>
              <a:rPr b="0" i="0" lang="fr" sz="750" u="none" cap="none" strike="noStrike">
                <a:solidFill>
                  <a:srgbClr val="EDE7FF"/>
                </a:solidFill>
                <a:latin typeface="Courier New"/>
                <a:ea typeface="Courier New"/>
                <a:cs typeface="Courier New"/>
                <a:sym typeface="Courier New"/>
              </a:rPr>
              <a:t>, 1000, -500);</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when(repository.findByIban(</a:t>
            </a:r>
            <a:r>
              <a:rPr b="0" i="0" lang="fr" sz="750" u="none" cap="none" strike="noStrike">
                <a:solidFill>
                  <a:srgbClr val="00D6C0"/>
                </a:solidFill>
                <a:latin typeface="Courier New"/>
                <a:ea typeface="Courier New"/>
                <a:cs typeface="Courier New"/>
                <a:sym typeface="Courier New"/>
              </a:rPr>
              <a:t>"FR1"</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.thenReturn(</a:t>
            </a:r>
            <a:r>
              <a:rPr b="1" i="0" lang="fr" sz="750" u="none" cap="none" strike="noStrike">
                <a:solidFill>
                  <a:srgbClr val="9BA2FF"/>
                </a:solidFill>
                <a:latin typeface="Courier New"/>
                <a:ea typeface="Courier New"/>
                <a:cs typeface="Courier New"/>
                <a:sym typeface="Courier New"/>
              </a:rPr>
              <a:t>Optional</a:t>
            </a:r>
            <a:r>
              <a:rPr b="0" i="0" lang="fr" sz="750" u="none" cap="none" strike="noStrike">
                <a:solidFill>
                  <a:srgbClr val="EDE7FF"/>
                </a:solidFill>
                <a:latin typeface="Courier New"/>
                <a:ea typeface="Courier New"/>
                <a:cs typeface="Courier New"/>
                <a:sym typeface="Courier New"/>
              </a:rPr>
              <a:t>.of(account));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assertThrows(ForbiddenException.</a:t>
            </a:r>
            <a:r>
              <a:rPr b="1" i="0" lang="fr" sz="750" u="none" cap="none" strike="noStrike">
                <a:solidFill>
                  <a:srgbClr val="9BA2FF"/>
                </a:solidFill>
                <a:latin typeface="Courier New"/>
                <a:ea typeface="Courier New"/>
                <a:cs typeface="Courier New"/>
                <a:sym typeface="Courier New"/>
              </a:rPr>
              <a:t>class</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 -&gt; service.getAccount(</a:t>
            </a:r>
            <a:r>
              <a:rPr b="0" i="0" lang="fr" sz="750" u="none" cap="none" strike="noStrike">
                <a:solidFill>
                  <a:srgbClr val="00D6C0"/>
                </a:solidFill>
                <a:latin typeface="Courier New"/>
                <a:ea typeface="Courier New"/>
                <a:cs typeface="Courier New"/>
                <a:sym typeface="Courier New"/>
              </a:rPr>
              <a:t>"FR1"</a:t>
            </a: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00D6C0"/>
                </a:solidFill>
                <a:latin typeface="Courier New"/>
                <a:ea typeface="Courier New"/>
                <a:cs typeface="Courier New"/>
                <a:sym typeface="Courier New"/>
              </a:rPr>
              <a:t>"client2"</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67" name="Shape 267"/>
        <p:cNvGrpSpPr/>
        <p:nvPr/>
      </p:nvGrpSpPr>
      <p:grpSpPr>
        <a:xfrm>
          <a:off x="0" y="0"/>
          <a:ext cx="0" cy="0"/>
          <a:chOff x="0" y="0"/>
          <a:chExt cx="0" cy="0"/>
        </a:xfrm>
      </p:grpSpPr>
      <p:sp>
        <p:nvSpPr>
          <p:cNvPr id="268" name="Google Shape;268;p29"/>
          <p:cNvSpPr txBox="1"/>
          <p:nvPr>
            <p:ph type="ctrTitle"/>
          </p:nvPr>
        </p:nvSpPr>
        <p:spPr>
          <a:xfrm>
            <a:off x="365760" y="2057400"/>
            <a:ext cx="42978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fr" sz="3200"/>
              <a:t>MICROSERVICES</a:t>
            </a:r>
            <a:endParaRPr/>
          </a:p>
        </p:txBody>
      </p:sp>
      <p:sp>
        <p:nvSpPr>
          <p:cNvPr id="269" name="Google Shape;269;p29"/>
          <p:cNvSpPr txBox="1"/>
          <p:nvPr/>
        </p:nvSpPr>
        <p:spPr>
          <a:xfrm>
            <a:off x="457200" y="1097280"/>
            <a:ext cx="2286000" cy="96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fr" sz="6000" u="none" cap="none" strike="noStrike">
                <a:solidFill>
                  <a:srgbClr val="FFFFFF"/>
                </a:solidFill>
                <a:latin typeface="Arial"/>
                <a:ea typeface="Arial"/>
                <a:cs typeface="Arial"/>
                <a:sym typeface="Arial"/>
              </a:rPr>
              <a:t>0</a:t>
            </a:r>
            <a:r>
              <a:rPr b="1" lang="fr" sz="6000">
                <a:solidFill>
                  <a:srgbClr val="FFFFFF"/>
                </a:solidFill>
              </a:rPr>
              <a:t>2</a:t>
            </a:r>
            <a:endParaRPr/>
          </a:p>
        </p:txBody>
      </p:sp>
      <p:sp>
        <p:nvSpPr>
          <p:cNvPr id="270" name="Google Shape;270;p29"/>
          <p:cNvSpPr txBox="1"/>
          <p:nvPr/>
        </p:nvSpPr>
        <p:spPr>
          <a:xfrm>
            <a:off x="4892040" y="1600200"/>
            <a:ext cx="3108900" cy="2194500"/>
          </a:xfrm>
          <a:prstGeom prst="rect">
            <a:avLst/>
          </a:prstGeom>
          <a:noFill/>
          <a:ln>
            <a:noFill/>
          </a:ln>
        </p:spPr>
        <p:txBody>
          <a:bodyPr anchorCtr="0" anchor="ctr" bIns="0" lIns="0" spcFirstLastPara="1" rIns="0" wrap="square" tIns="0">
            <a:noAutofit/>
          </a:bodyPr>
          <a:lstStyle/>
          <a:p>
            <a:pPr indent="-182880" lvl="0" marL="182880" marR="0" rtl="0" algn="l">
              <a:lnSpc>
                <a:spcPct val="100000"/>
              </a:lnSpc>
              <a:spcBef>
                <a:spcPts val="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Vue d’ensemble</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API Gateway</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Les services</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Focus : service Account</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Ports IN &amp; OUT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274" name="Shape 274"/>
        <p:cNvGrpSpPr/>
        <p:nvPr/>
      </p:nvGrpSpPr>
      <p:grpSpPr>
        <a:xfrm>
          <a:off x="0" y="0"/>
          <a:ext cx="0" cy="0"/>
          <a:chOff x="0" y="0"/>
          <a:chExt cx="0" cy="0"/>
        </a:xfrm>
      </p:grpSpPr>
      <p:sp>
        <p:nvSpPr>
          <p:cNvPr id="275" name="Google Shape;275;p30"/>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VUE D'ENSEMBLE</a:t>
            </a:r>
            <a:endParaRPr/>
          </a:p>
        </p:txBody>
      </p:sp>
      <p:sp>
        <p:nvSpPr>
          <p:cNvPr id="276" name="Google Shape;276;p30"/>
          <p:cNvSpPr/>
          <p:nvPr/>
        </p:nvSpPr>
        <p:spPr>
          <a:xfrm>
            <a:off x="411480" y="2560320"/>
            <a:ext cx="1326000" cy="731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FRONT</a:t>
            </a:r>
            <a:endParaRPr/>
          </a:p>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:4200</a:t>
            </a:r>
            <a:endParaRPr/>
          </a:p>
        </p:txBody>
      </p:sp>
      <p:sp>
        <p:nvSpPr>
          <p:cNvPr id="277" name="Google Shape;277;p30"/>
          <p:cNvSpPr/>
          <p:nvPr/>
        </p:nvSpPr>
        <p:spPr>
          <a:xfrm>
            <a:off x="2148840" y="2240280"/>
            <a:ext cx="1600200" cy="1371600"/>
          </a:xfrm>
          <a:prstGeom prst="hexagon">
            <a:avLst>
              <a:gd fmla="val 25000" name="adj"/>
              <a:gd fmla="val 115470" name="vf"/>
            </a:avLst>
          </a:prstGeom>
          <a:solidFill>
            <a:srgbClr val="613FB8">
              <a:alpha val="90200"/>
            </a:srgbClr>
          </a:solidFill>
          <a:ln cap="flat" cmpd="sng" w="25400">
            <a:solidFill>
              <a:srgbClr val="00D6C0"/>
            </a:solidFill>
            <a:prstDash val="solid"/>
            <a:round/>
            <a:headEnd len="sm" w="sm" type="none"/>
            <a:tailEnd len="sm" w="sm" type="none"/>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API GATEWAY</a:t>
            </a:r>
            <a:endParaRPr/>
          </a:p>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:8083 · JWT</a:t>
            </a:r>
            <a:endParaRPr/>
          </a:p>
        </p:txBody>
      </p:sp>
      <p:cxnSp>
        <p:nvCxnSpPr>
          <p:cNvPr id="278" name="Google Shape;278;p30"/>
          <p:cNvCxnSpPr/>
          <p:nvPr/>
        </p:nvCxnSpPr>
        <p:spPr>
          <a:xfrm>
            <a:off x="1737360" y="2926080"/>
            <a:ext cx="4116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79" name="Google Shape;279;p30"/>
          <p:cNvSpPr/>
          <p:nvPr/>
        </p:nvSpPr>
        <p:spPr>
          <a:xfrm>
            <a:off x="4526280" y="1371600"/>
            <a:ext cx="2331600" cy="5670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key.png" id="280" name="Google Shape;280;p30"/>
          <p:cNvPicPr preferRelativeResize="0"/>
          <p:nvPr/>
        </p:nvPicPr>
        <p:blipFill rotWithShape="1">
          <a:blip r:embed="rId3">
            <a:alphaModFix/>
          </a:blip>
          <a:srcRect b="0" l="0" r="0" t="0"/>
          <a:stretch/>
        </p:blipFill>
        <p:spPr>
          <a:xfrm>
            <a:off x="4645152" y="1517904"/>
            <a:ext cx="274320" cy="274320"/>
          </a:xfrm>
          <a:prstGeom prst="rect">
            <a:avLst/>
          </a:prstGeom>
          <a:noFill/>
          <a:ln>
            <a:noFill/>
          </a:ln>
        </p:spPr>
      </p:pic>
      <p:sp>
        <p:nvSpPr>
          <p:cNvPr id="281" name="Google Shape;281;p30"/>
          <p:cNvSpPr txBox="1"/>
          <p:nvPr/>
        </p:nvSpPr>
        <p:spPr>
          <a:xfrm>
            <a:off x="5029200" y="1408176"/>
            <a:ext cx="1783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auth-service</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:9001 · émet le JWT</a:t>
            </a:r>
            <a:endParaRPr/>
          </a:p>
        </p:txBody>
      </p:sp>
      <p:cxnSp>
        <p:nvCxnSpPr>
          <p:cNvPr id="282" name="Google Shape;282;p30"/>
          <p:cNvCxnSpPr/>
          <p:nvPr/>
        </p:nvCxnSpPr>
        <p:spPr>
          <a:xfrm flipH="1" rot="10800000">
            <a:off x="3749039" y="1654980"/>
            <a:ext cx="777300" cy="12711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83" name="Google Shape;283;p30"/>
          <p:cNvSpPr/>
          <p:nvPr/>
        </p:nvSpPr>
        <p:spPr>
          <a:xfrm>
            <a:off x="4526280" y="2194560"/>
            <a:ext cx="2331600" cy="5670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user.png" id="284" name="Google Shape;284;p30"/>
          <p:cNvPicPr preferRelativeResize="0"/>
          <p:nvPr/>
        </p:nvPicPr>
        <p:blipFill rotWithShape="1">
          <a:blip r:embed="rId4">
            <a:alphaModFix/>
          </a:blip>
          <a:srcRect b="0" l="0" r="0" t="0"/>
          <a:stretch/>
        </p:blipFill>
        <p:spPr>
          <a:xfrm>
            <a:off x="4645152" y="2340864"/>
            <a:ext cx="274320" cy="274320"/>
          </a:xfrm>
          <a:prstGeom prst="rect">
            <a:avLst/>
          </a:prstGeom>
          <a:noFill/>
          <a:ln>
            <a:noFill/>
          </a:ln>
        </p:spPr>
      </p:pic>
      <p:sp>
        <p:nvSpPr>
          <p:cNvPr id="285" name="Google Shape;285;p30"/>
          <p:cNvSpPr txBox="1"/>
          <p:nvPr/>
        </p:nvSpPr>
        <p:spPr>
          <a:xfrm>
            <a:off x="5029200" y="2231136"/>
            <a:ext cx="1783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client-service</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:8084 · clients</a:t>
            </a:r>
            <a:endParaRPr/>
          </a:p>
        </p:txBody>
      </p:sp>
      <p:cxnSp>
        <p:nvCxnSpPr>
          <p:cNvPr id="286" name="Google Shape;286;p30"/>
          <p:cNvCxnSpPr/>
          <p:nvPr/>
        </p:nvCxnSpPr>
        <p:spPr>
          <a:xfrm flipH="1" rot="10800000">
            <a:off x="3749039" y="2477880"/>
            <a:ext cx="777300" cy="4482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87" name="Google Shape;287;p30"/>
          <p:cNvSpPr/>
          <p:nvPr/>
        </p:nvSpPr>
        <p:spPr>
          <a:xfrm>
            <a:off x="7406640" y="2212848"/>
            <a:ext cx="822900" cy="548700"/>
          </a:xfrm>
          <a:prstGeom prst="can">
            <a:avLst>
              <a:gd fmla="val 25000" name="adj"/>
            </a:avLst>
          </a:prstGeom>
          <a:solidFill>
            <a:srgbClr val="FFFFFF">
              <a:alpha val="25100"/>
            </a:srgbClr>
          </a:solidFill>
          <a:ln cap="flat" cmpd="sng" w="12700">
            <a:solidFill>
              <a:srgbClr val="FFFFFF"/>
            </a:solidFill>
            <a:prstDash val="solid"/>
            <a:round/>
            <a:headEnd len="sm" w="sm" type="none"/>
            <a:tailEnd len="sm" w="sm" type="none"/>
          </a:ln>
        </p:spPr>
        <p:txBody>
          <a:bodyPr anchorCtr="0" anchor="b" bIns="36575" lIns="0" spcFirstLastPara="1" rIns="0" wrap="square" tIns="36575">
            <a:noAutofit/>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H2</a:t>
            </a:r>
            <a:endParaRPr/>
          </a:p>
        </p:txBody>
      </p:sp>
      <p:cxnSp>
        <p:nvCxnSpPr>
          <p:cNvPr id="288" name="Google Shape;288;p30"/>
          <p:cNvCxnSpPr/>
          <p:nvPr/>
        </p:nvCxnSpPr>
        <p:spPr>
          <a:xfrm>
            <a:off x="6858000" y="2478024"/>
            <a:ext cx="548700" cy="0"/>
          </a:xfrm>
          <a:prstGeom prst="straightConnector1">
            <a:avLst/>
          </a:prstGeom>
          <a:noFill/>
          <a:ln cap="flat" cmpd="sng" w="19050">
            <a:solidFill>
              <a:srgbClr val="FFFFFF"/>
            </a:solidFill>
            <a:prstDash val="solid"/>
            <a:round/>
            <a:headEnd len="sm" w="sm" type="none"/>
            <a:tailEnd len="sm" w="sm" type="none"/>
          </a:ln>
          <a:effectLst>
            <a:outerShdw blurRad="40000" rotWithShape="0" dir="5400000" dist="20000">
              <a:srgbClr val="000000">
                <a:alpha val="38040"/>
              </a:srgbClr>
            </a:outerShdw>
          </a:effectLst>
        </p:spPr>
      </p:cxnSp>
      <p:sp>
        <p:nvSpPr>
          <p:cNvPr id="289" name="Google Shape;289;p30"/>
          <p:cNvSpPr/>
          <p:nvPr/>
        </p:nvSpPr>
        <p:spPr>
          <a:xfrm>
            <a:off x="4526280" y="3017520"/>
            <a:ext cx="2331600" cy="567000"/>
          </a:xfrm>
          <a:prstGeom prst="roundRect">
            <a:avLst>
              <a:gd fmla="val 8000" name="adj"/>
            </a:avLst>
          </a:prstGeom>
          <a:solidFill>
            <a:srgbClr val="613FB8">
              <a:alpha val="85100"/>
            </a:srgbClr>
          </a:solidFill>
          <a:ln cap="flat" cmpd="sng" w="9525">
            <a:solidFill>
              <a:srgbClr val="00D6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wallet.png" id="290" name="Google Shape;290;p30"/>
          <p:cNvPicPr preferRelativeResize="0"/>
          <p:nvPr/>
        </p:nvPicPr>
        <p:blipFill rotWithShape="1">
          <a:blip r:embed="rId5">
            <a:alphaModFix/>
          </a:blip>
          <a:srcRect b="0" l="0" r="0" t="0"/>
          <a:stretch/>
        </p:blipFill>
        <p:spPr>
          <a:xfrm>
            <a:off x="4645152" y="3163824"/>
            <a:ext cx="274320" cy="274320"/>
          </a:xfrm>
          <a:prstGeom prst="rect">
            <a:avLst/>
          </a:prstGeom>
          <a:noFill/>
          <a:ln>
            <a:noFill/>
          </a:ln>
        </p:spPr>
      </p:pic>
      <p:sp>
        <p:nvSpPr>
          <p:cNvPr id="291" name="Google Shape;291;p30"/>
          <p:cNvSpPr txBox="1"/>
          <p:nvPr/>
        </p:nvSpPr>
        <p:spPr>
          <a:xfrm>
            <a:off x="5029200" y="3054096"/>
            <a:ext cx="1783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account-service</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:8082 · comptes</a:t>
            </a:r>
            <a:endParaRPr/>
          </a:p>
        </p:txBody>
      </p:sp>
      <p:cxnSp>
        <p:nvCxnSpPr>
          <p:cNvPr id="292" name="Google Shape;292;p30"/>
          <p:cNvCxnSpPr/>
          <p:nvPr/>
        </p:nvCxnSpPr>
        <p:spPr>
          <a:xfrm>
            <a:off x="3749039" y="2926080"/>
            <a:ext cx="777300" cy="3750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93" name="Google Shape;293;p30"/>
          <p:cNvSpPr/>
          <p:nvPr/>
        </p:nvSpPr>
        <p:spPr>
          <a:xfrm>
            <a:off x="7406640" y="3035808"/>
            <a:ext cx="822900" cy="548700"/>
          </a:xfrm>
          <a:prstGeom prst="can">
            <a:avLst>
              <a:gd fmla="val 25000" name="adj"/>
            </a:avLst>
          </a:prstGeom>
          <a:solidFill>
            <a:srgbClr val="FFFFFF">
              <a:alpha val="25100"/>
            </a:srgbClr>
          </a:solidFill>
          <a:ln cap="flat" cmpd="sng" w="12700">
            <a:solidFill>
              <a:srgbClr val="FFFFFF"/>
            </a:solidFill>
            <a:prstDash val="solid"/>
            <a:round/>
            <a:headEnd len="sm" w="sm" type="none"/>
            <a:tailEnd len="sm" w="sm" type="none"/>
          </a:ln>
        </p:spPr>
        <p:txBody>
          <a:bodyPr anchorCtr="0" anchor="b" bIns="36575" lIns="0" spcFirstLastPara="1" rIns="0" wrap="square" tIns="36575">
            <a:noAutofit/>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H2</a:t>
            </a:r>
            <a:endParaRPr/>
          </a:p>
        </p:txBody>
      </p:sp>
      <p:cxnSp>
        <p:nvCxnSpPr>
          <p:cNvPr id="294" name="Google Shape;294;p30"/>
          <p:cNvCxnSpPr/>
          <p:nvPr/>
        </p:nvCxnSpPr>
        <p:spPr>
          <a:xfrm>
            <a:off x="6858000" y="3300984"/>
            <a:ext cx="548700" cy="0"/>
          </a:xfrm>
          <a:prstGeom prst="straightConnector1">
            <a:avLst/>
          </a:prstGeom>
          <a:noFill/>
          <a:ln cap="flat" cmpd="sng" w="19050">
            <a:solidFill>
              <a:srgbClr val="FFFFFF"/>
            </a:solidFill>
            <a:prstDash val="solid"/>
            <a:round/>
            <a:headEnd len="sm" w="sm" type="none"/>
            <a:tailEnd len="sm" w="sm" type="none"/>
          </a:ln>
          <a:effectLst>
            <a:outerShdw blurRad="40000" rotWithShape="0" dir="5400000" dist="20000">
              <a:srgbClr val="000000">
                <a:alpha val="38040"/>
              </a:srgbClr>
            </a:outerShdw>
          </a:effectLst>
        </p:spPr>
      </p:cxnSp>
      <p:sp>
        <p:nvSpPr>
          <p:cNvPr id="295" name="Google Shape;295;p30"/>
          <p:cNvSpPr/>
          <p:nvPr/>
        </p:nvSpPr>
        <p:spPr>
          <a:xfrm>
            <a:off x="4526280" y="3840480"/>
            <a:ext cx="2331600" cy="5670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exchange.png" id="296" name="Google Shape;296;p30"/>
          <p:cNvPicPr preferRelativeResize="0"/>
          <p:nvPr/>
        </p:nvPicPr>
        <p:blipFill rotWithShape="1">
          <a:blip r:embed="rId6">
            <a:alphaModFix/>
          </a:blip>
          <a:srcRect b="0" l="0" r="0" t="0"/>
          <a:stretch/>
        </p:blipFill>
        <p:spPr>
          <a:xfrm>
            <a:off x="4645152" y="3986784"/>
            <a:ext cx="274320" cy="274320"/>
          </a:xfrm>
          <a:prstGeom prst="rect">
            <a:avLst/>
          </a:prstGeom>
          <a:noFill/>
          <a:ln>
            <a:noFill/>
          </a:ln>
        </p:spPr>
      </p:pic>
      <p:sp>
        <p:nvSpPr>
          <p:cNvPr id="297" name="Google Shape;297;p30"/>
          <p:cNvSpPr txBox="1"/>
          <p:nvPr/>
        </p:nvSpPr>
        <p:spPr>
          <a:xfrm>
            <a:off x="5029200" y="3877056"/>
            <a:ext cx="1783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transaction-service</a:t>
            </a:r>
            <a:endParaRPr/>
          </a:p>
          <a:p>
            <a:pPr indent="0" lvl="0" marL="0" marR="0" rtl="0" algn="l">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:8085 · historique</a:t>
            </a:r>
            <a:endParaRPr/>
          </a:p>
        </p:txBody>
      </p:sp>
      <p:cxnSp>
        <p:nvCxnSpPr>
          <p:cNvPr id="298" name="Google Shape;298;p30"/>
          <p:cNvCxnSpPr/>
          <p:nvPr/>
        </p:nvCxnSpPr>
        <p:spPr>
          <a:xfrm>
            <a:off x="3749039" y="2926080"/>
            <a:ext cx="777300" cy="11979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299" name="Google Shape;299;p30"/>
          <p:cNvSpPr/>
          <p:nvPr/>
        </p:nvSpPr>
        <p:spPr>
          <a:xfrm>
            <a:off x="7406640" y="3858768"/>
            <a:ext cx="822900" cy="548700"/>
          </a:xfrm>
          <a:prstGeom prst="can">
            <a:avLst>
              <a:gd fmla="val 25000" name="adj"/>
            </a:avLst>
          </a:prstGeom>
          <a:solidFill>
            <a:srgbClr val="FFFFFF">
              <a:alpha val="25100"/>
            </a:srgbClr>
          </a:solidFill>
          <a:ln cap="flat" cmpd="sng" w="12700">
            <a:solidFill>
              <a:srgbClr val="FFFFFF"/>
            </a:solidFill>
            <a:prstDash val="solid"/>
            <a:round/>
            <a:headEnd len="sm" w="sm" type="none"/>
            <a:tailEnd len="sm" w="sm" type="none"/>
          </a:ln>
        </p:spPr>
        <p:txBody>
          <a:bodyPr anchorCtr="0" anchor="b" bIns="36575" lIns="0" spcFirstLastPara="1" rIns="0" wrap="square" tIns="36575">
            <a:noAutofit/>
          </a:bodyPr>
          <a:lstStyle/>
          <a:p>
            <a:pPr indent="0" lvl="0" marL="0" marR="0" rtl="0" algn="ctr">
              <a:lnSpc>
                <a:spcPct val="100000"/>
              </a:lnSpc>
              <a:spcBef>
                <a:spcPts val="0"/>
              </a:spcBef>
              <a:spcAft>
                <a:spcPts val="0"/>
              </a:spcAft>
              <a:buClr>
                <a:srgbClr val="000000"/>
              </a:buClr>
              <a:buSzPts val="1000"/>
              <a:buFont typeface="Arial"/>
              <a:buNone/>
            </a:pPr>
            <a:r>
              <a:rPr b="1" i="0" lang="fr" sz="1000" u="none" cap="none" strike="noStrike">
                <a:solidFill>
                  <a:srgbClr val="FFFFFF"/>
                </a:solidFill>
                <a:latin typeface="Arial"/>
                <a:ea typeface="Arial"/>
                <a:cs typeface="Arial"/>
                <a:sym typeface="Arial"/>
              </a:rPr>
              <a:t>H2</a:t>
            </a:r>
            <a:endParaRPr/>
          </a:p>
        </p:txBody>
      </p:sp>
      <p:cxnSp>
        <p:nvCxnSpPr>
          <p:cNvPr id="300" name="Google Shape;300;p30"/>
          <p:cNvCxnSpPr/>
          <p:nvPr/>
        </p:nvCxnSpPr>
        <p:spPr>
          <a:xfrm>
            <a:off x="6858000" y="4123944"/>
            <a:ext cx="548700" cy="0"/>
          </a:xfrm>
          <a:prstGeom prst="straightConnector1">
            <a:avLst/>
          </a:prstGeom>
          <a:noFill/>
          <a:ln cap="flat" cmpd="sng" w="19050">
            <a:solidFill>
              <a:srgbClr val="FFFFFF"/>
            </a:solidFill>
            <a:prstDash val="solid"/>
            <a:round/>
            <a:headEnd len="sm" w="sm" type="none"/>
            <a:tailEnd len="sm" w="sm" type="none"/>
          </a:ln>
          <a:effectLst>
            <a:outerShdw blurRad="40000" rotWithShape="0" dir="5400000" dist="20000">
              <a:srgbClr val="000000">
                <a:alpha val="38040"/>
              </a:srgbClr>
            </a:outerShdw>
          </a:effectLst>
        </p:spPr>
      </p:cxnSp>
      <p:cxnSp>
        <p:nvCxnSpPr>
          <p:cNvPr id="301" name="Google Shape;301;p30"/>
          <p:cNvCxnSpPr/>
          <p:nvPr/>
        </p:nvCxnSpPr>
        <p:spPr>
          <a:xfrm>
            <a:off x="6309360" y="1938528"/>
            <a:ext cx="0" cy="255900"/>
          </a:xfrm>
          <a:prstGeom prst="straightConnector1">
            <a:avLst/>
          </a:prstGeom>
          <a:noFill/>
          <a:ln cap="flat" cmpd="sng" w="25400">
            <a:solidFill>
              <a:srgbClr val="00D6C0"/>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302" name="Google Shape;302;p30"/>
          <p:cNvCxnSpPr/>
          <p:nvPr/>
        </p:nvCxnSpPr>
        <p:spPr>
          <a:xfrm>
            <a:off x="6309360" y="3584448"/>
            <a:ext cx="0" cy="255900"/>
          </a:xfrm>
          <a:prstGeom prst="straightConnector1">
            <a:avLst/>
          </a:prstGeom>
          <a:noFill/>
          <a:ln cap="flat" cmpd="sng" w="25400">
            <a:solidFill>
              <a:srgbClr val="00D6C0"/>
            </a:solidFill>
            <a:prstDash val="solid"/>
            <a:round/>
            <a:headEnd len="sm" w="sm" type="none"/>
            <a:tailEnd len="med" w="med" type="triangle"/>
          </a:ln>
          <a:effectLst>
            <a:outerShdw blurRad="40000" rotWithShape="0" dir="5400000" dist="20000">
              <a:srgbClr val="000000">
                <a:alpha val="38040"/>
              </a:srgbClr>
            </a:outerShdw>
          </a:effectLst>
        </p:spPr>
      </p:cxnSp>
      <p:sp>
        <p:nvSpPr>
          <p:cNvPr id="303" name="Google Shape;303;p30"/>
          <p:cNvSpPr txBox="1"/>
          <p:nvPr/>
        </p:nvSpPr>
        <p:spPr>
          <a:xfrm>
            <a:off x="411480" y="3977639"/>
            <a:ext cx="35661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Flèches turquoise</a:t>
            </a:r>
            <a:r>
              <a:rPr b="0" i="0" lang="fr" sz="950" u="none" cap="none" strike="noStrike">
                <a:solidFill>
                  <a:srgbClr val="FFFFFF"/>
                </a:solidFill>
                <a:latin typeface="Arial"/>
                <a:ea typeface="Arial"/>
                <a:cs typeface="Arial"/>
                <a:sym typeface="Arial"/>
              </a:rPr>
              <a:t> : appels HTTP entre services</a:t>
            </a:r>
            <a:endParaRPr/>
          </a:p>
          <a:p>
            <a:pPr indent="0" lvl="0" marL="0" marR="0" rtl="0" algn="l">
              <a:lnSpc>
                <a:spcPct val="100000"/>
              </a:lnSpc>
              <a:spcBef>
                <a:spcPts val="100"/>
              </a:spcBef>
              <a:spcAft>
                <a:spcPts val="0"/>
              </a:spcAft>
              <a:buClr>
                <a:srgbClr val="000000"/>
              </a:buClr>
              <a:buSzPts val="950"/>
              <a:buFont typeface="Arial"/>
              <a:buNone/>
            </a:pPr>
            <a:r>
              <a:rPr b="0" i="0" lang="fr" sz="950" u="none" cap="none" strike="noStrike">
                <a:solidFill>
                  <a:srgbClr val="FFFFFF"/>
                </a:solidFill>
                <a:latin typeface="Arial"/>
                <a:ea typeface="Arial"/>
                <a:cs typeface="Arial"/>
                <a:sym typeface="Arial"/>
              </a:rPr>
              <a:t>auth → client (identifiants) · account → transaction (opérations)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07" name="Shape 307"/>
        <p:cNvGrpSpPr/>
        <p:nvPr/>
      </p:nvGrpSpPr>
      <p:grpSpPr>
        <a:xfrm>
          <a:off x="0" y="0"/>
          <a:ext cx="0" cy="0"/>
          <a:chOff x="0" y="0"/>
          <a:chExt cx="0" cy="0"/>
        </a:xfrm>
      </p:grpSpPr>
      <p:sp>
        <p:nvSpPr>
          <p:cNvPr id="308" name="Google Shape;308;p31"/>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API GATEWAY: LE ROUTEUR</a:t>
            </a:r>
            <a:endParaRPr/>
          </a:p>
        </p:txBody>
      </p:sp>
      <p:sp>
        <p:nvSpPr>
          <p:cNvPr id="309" name="Google Shape;309;p31"/>
          <p:cNvSpPr/>
          <p:nvPr/>
        </p:nvSpPr>
        <p:spPr>
          <a:xfrm>
            <a:off x="808329" y="1484985"/>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route.png" id="310" name="Google Shape;310;p31"/>
          <p:cNvPicPr preferRelativeResize="0"/>
          <p:nvPr/>
        </p:nvPicPr>
        <p:blipFill rotWithShape="1">
          <a:blip r:embed="rId3">
            <a:alphaModFix/>
          </a:blip>
          <a:srcRect b="0" l="0" r="0" t="0"/>
          <a:stretch/>
        </p:blipFill>
        <p:spPr>
          <a:xfrm>
            <a:off x="896112" y="1572768"/>
            <a:ext cx="274320" cy="274320"/>
          </a:xfrm>
          <a:prstGeom prst="rect">
            <a:avLst/>
          </a:prstGeom>
          <a:noFill/>
          <a:ln>
            <a:noFill/>
          </a:ln>
        </p:spPr>
      </p:pic>
      <p:sp>
        <p:nvSpPr>
          <p:cNvPr id="311" name="Google Shape;311;p31"/>
          <p:cNvSpPr txBox="1"/>
          <p:nvPr/>
        </p:nvSpPr>
        <p:spPr>
          <a:xfrm>
            <a:off x="1417320" y="1463040"/>
            <a:ext cx="3017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fr" sz="1150" u="none" cap="none" strike="noStrike">
                <a:solidFill>
                  <a:srgbClr val="FFFFFF"/>
                </a:solidFill>
                <a:latin typeface="Arial"/>
                <a:ea typeface="Arial"/>
                <a:cs typeface="Arial"/>
                <a:sym typeface="Arial"/>
              </a:rPr>
              <a:t>Intercepte</a:t>
            </a:r>
            <a:r>
              <a:rPr b="0" i="0" lang="fr" sz="1150" u="none" cap="none" strike="noStrike">
                <a:solidFill>
                  <a:srgbClr val="FFFFFF"/>
                </a:solidFill>
                <a:latin typeface="Arial"/>
                <a:ea typeface="Arial"/>
                <a:cs typeface="Arial"/>
                <a:sym typeface="Arial"/>
              </a:rPr>
              <a:t> toutes les requêtes et les </a:t>
            </a:r>
            <a:r>
              <a:rPr b="1" i="0" lang="fr" sz="1150" u="none" cap="none" strike="noStrike">
                <a:solidFill>
                  <a:srgbClr val="FFFFFF"/>
                </a:solidFill>
                <a:latin typeface="Arial"/>
                <a:ea typeface="Arial"/>
                <a:cs typeface="Arial"/>
                <a:sym typeface="Arial"/>
              </a:rPr>
              <a:t>aiguille</a:t>
            </a:r>
            <a:r>
              <a:rPr b="0" i="0" lang="fr" sz="1150" u="none" cap="none" strike="noStrike">
                <a:solidFill>
                  <a:srgbClr val="FFFFFF"/>
                </a:solidFill>
                <a:latin typeface="Arial"/>
                <a:ea typeface="Arial"/>
                <a:cs typeface="Arial"/>
                <a:sym typeface="Arial"/>
              </a:rPr>
              <a:t> vers le bon service</a:t>
            </a:r>
            <a:endParaRPr/>
          </a:p>
        </p:txBody>
      </p:sp>
      <p:sp>
        <p:nvSpPr>
          <p:cNvPr id="312" name="Google Shape;312;p31"/>
          <p:cNvSpPr/>
          <p:nvPr/>
        </p:nvSpPr>
        <p:spPr>
          <a:xfrm>
            <a:off x="808329" y="2234793"/>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hield.png" id="313" name="Google Shape;313;p31"/>
          <p:cNvPicPr preferRelativeResize="0"/>
          <p:nvPr/>
        </p:nvPicPr>
        <p:blipFill rotWithShape="1">
          <a:blip r:embed="rId4">
            <a:alphaModFix/>
          </a:blip>
          <a:srcRect b="0" l="0" r="0" t="0"/>
          <a:stretch/>
        </p:blipFill>
        <p:spPr>
          <a:xfrm>
            <a:off x="896112" y="2322576"/>
            <a:ext cx="274320" cy="274320"/>
          </a:xfrm>
          <a:prstGeom prst="rect">
            <a:avLst/>
          </a:prstGeom>
          <a:noFill/>
          <a:ln>
            <a:noFill/>
          </a:ln>
        </p:spPr>
      </p:pic>
      <p:sp>
        <p:nvSpPr>
          <p:cNvPr id="314" name="Google Shape;314;p31"/>
          <p:cNvSpPr txBox="1"/>
          <p:nvPr/>
        </p:nvSpPr>
        <p:spPr>
          <a:xfrm>
            <a:off x="1417320" y="2212848"/>
            <a:ext cx="3017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fr" sz="1150" u="none" cap="none" strike="noStrike">
                <a:solidFill>
                  <a:srgbClr val="FFFFFF"/>
                </a:solidFill>
                <a:latin typeface="Arial"/>
                <a:ea typeface="Arial"/>
                <a:cs typeface="Arial"/>
                <a:sym typeface="Arial"/>
              </a:rPr>
              <a:t>Vérifie l'autorisation</a:t>
            </a:r>
            <a:r>
              <a:rPr b="0" i="0" lang="fr" sz="1150" u="none" cap="none" strike="noStrike">
                <a:solidFill>
                  <a:srgbClr val="FFFFFF"/>
                </a:solidFill>
                <a:latin typeface="Arial"/>
                <a:ea typeface="Arial"/>
                <a:cs typeface="Arial"/>
                <a:sym typeface="Arial"/>
              </a:rPr>
              <a:t> : JWT valide + scope </a:t>
            </a:r>
            <a:r>
              <a:rPr b="1" i="0" lang="fr" sz="1058" u="none" cap="none" strike="noStrike">
                <a:solidFill>
                  <a:srgbClr val="D7FFFA"/>
                </a:solidFill>
                <a:latin typeface="Courier New"/>
                <a:ea typeface="Courier New"/>
                <a:cs typeface="Courier New"/>
                <a:sym typeface="Courier New"/>
              </a:rPr>
              <a:t>accounts:read</a:t>
            </a:r>
            <a:endParaRPr/>
          </a:p>
        </p:txBody>
      </p:sp>
      <p:sp>
        <p:nvSpPr>
          <p:cNvPr id="315" name="Google Shape;315;p31"/>
          <p:cNvSpPr/>
          <p:nvPr/>
        </p:nvSpPr>
        <p:spPr>
          <a:xfrm>
            <a:off x="808329" y="2984601"/>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lock.png" id="316" name="Google Shape;316;p31"/>
          <p:cNvPicPr preferRelativeResize="0"/>
          <p:nvPr/>
        </p:nvPicPr>
        <p:blipFill rotWithShape="1">
          <a:blip r:embed="rId5">
            <a:alphaModFix/>
          </a:blip>
          <a:srcRect b="0" l="0" r="0" t="0"/>
          <a:stretch/>
        </p:blipFill>
        <p:spPr>
          <a:xfrm>
            <a:off x="896112" y="3072384"/>
            <a:ext cx="274320" cy="274320"/>
          </a:xfrm>
          <a:prstGeom prst="rect">
            <a:avLst/>
          </a:prstGeom>
          <a:noFill/>
          <a:ln>
            <a:noFill/>
          </a:ln>
        </p:spPr>
      </p:pic>
      <p:sp>
        <p:nvSpPr>
          <p:cNvPr id="317" name="Google Shape;317;p31"/>
          <p:cNvSpPr txBox="1"/>
          <p:nvPr/>
        </p:nvSpPr>
        <p:spPr>
          <a:xfrm>
            <a:off x="1417320" y="2962656"/>
            <a:ext cx="3017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8"/>
              <a:buFont typeface="Arial"/>
              <a:buNone/>
            </a:pPr>
            <a:r>
              <a:rPr b="1" i="0" lang="fr" sz="1058" u="none" cap="none" strike="noStrike">
                <a:solidFill>
                  <a:srgbClr val="D7FFFA"/>
                </a:solidFill>
                <a:latin typeface="Courier New"/>
                <a:ea typeface="Courier New"/>
                <a:cs typeface="Courier New"/>
                <a:sym typeface="Courier New"/>
              </a:rPr>
              <a:t>/auth/**</a:t>
            </a:r>
            <a:r>
              <a:rPr b="0" i="0" lang="fr" sz="1150" u="none" cap="none" strike="noStrike">
                <a:solidFill>
                  <a:srgbClr val="FFFFFF"/>
                </a:solidFill>
                <a:latin typeface="Arial"/>
                <a:ea typeface="Arial"/>
                <a:cs typeface="Arial"/>
                <a:sym typeface="Arial"/>
              </a:rPr>
              <a:t> reste public (inscription, connexion)</a:t>
            </a:r>
            <a:endParaRPr/>
          </a:p>
        </p:txBody>
      </p:sp>
      <p:sp>
        <p:nvSpPr>
          <p:cNvPr id="318" name="Google Shape;318;p31"/>
          <p:cNvSpPr/>
          <p:nvPr/>
        </p:nvSpPr>
        <p:spPr>
          <a:xfrm>
            <a:off x="808329" y="3734409"/>
            <a:ext cx="450000" cy="4500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cogs.png" id="319" name="Google Shape;319;p31"/>
          <p:cNvPicPr preferRelativeResize="0"/>
          <p:nvPr/>
        </p:nvPicPr>
        <p:blipFill rotWithShape="1">
          <a:blip r:embed="rId6">
            <a:alphaModFix/>
          </a:blip>
          <a:srcRect b="0" l="0" r="0" t="0"/>
          <a:stretch/>
        </p:blipFill>
        <p:spPr>
          <a:xfrm>
            <a:off x="896112" y="3822192"/>
            <a:ext cx="274320" cy="274320"/>
          </a:xfrm>
          <a:prstGeom prst="rect">
            <a:avLst/>
          </a:prstGeom>
          <a:noFill/>
          <a:ln>
            <a:noFill/>
          </a:ln>
        </p:spPr>
      </p:pic>
      <p:sp>
        <p:nvSpPr>
          <p:cNvPr id="320" name="Google Shape;320;p31"/>
          <p:cNvSpPr txBox="1"/>
          <p:nvPr/>
        </p:nvSpPr>
        <p:spPr>
          <a:xfrm>
            <a:off x="1417320" y="3712464"/>
            <a:ext cx="3017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0" i="0" lang="fr" sz="1150" u="none" cap="none" strike="noStrike">
                <a:solidFill>
                  <a:srgbClr val="FFFFFF"/>
                </a:solidFill>
                <a:latin typeface="Arial"/>
                <a:ea typeface="Arial"/>
                <a:cs typeface="Arial"/>
                <a:sym typeface="Arial"/>
              </a:rPr>
              <a:t>Routes décrites dans un simple </a:t>
            </a:r>
            <a:r>
              <a:rPr b="1" i="0" lang="fr" sz="1150" u="none" cap="none" strike="noStrike">
                <a:solidFill>
                  <a:srgbClr val="FFFFFF"/>
                </a:solidFill>
                <a:latin typeface="Arial"/>
                <a:ea typeface="Arial"/>
                <a:cs typeface="Arial"/>
                <a:sym typeface="Arial"/>
              </a:rPr>
              <a:t>fichier de configuration</a:t>
            </a:r>
            <a:endParaRPr/>
          </a:p>
        </p:txBody>
      </p:sp>
      <p:sp>
        <p:nvSpPr>
          <p:cNvPr id="321" name="Google Shape;321;p31"/>
          <p:cNvSpPr/>
          <p:nvPr/>
        </p:nvSpPr>
        <p:spPr>
          <a:xfrm>
            <a:off x="4709160" y="1325880"/>
            <a:ext cx="3931800" cy="32460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31"/>
          <p:cNvSpPr txBox="1"/>
          <p:nvPr/>
        </p:nvSpPr>
        <p:spPr>
          <a:xfrm>
            <a:off x="4846320" y="1399032"/>
            <a:ext cx="36576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api-gateway · application.yml (extrait)</a:t>
            </a:r>
            <a:endParaRPr/>
          </a:p>
        </p:txBody>
      </p:sp>
      <p:sp>
        <p:nvSpPr>
          <p:cNvPr id="323" name="Google Shape;323;p31"/>
          <p:cNvSpPr txBox="1"/>
          <p:nvPr/>
        </p:nvSpPr>
        <p:spPr>
          <a:xfrm>
            <a:off x="4846320" y="1627632"/>
            <a:ext cx="3657600" cy="209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spring:</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cloud:</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gateway:</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routes: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id: auth-service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uri: http:</a:t>
            </a:r>
            <a:r>
              <a:rPr b="0" i="0" lang="fr" sz="850" u="none" cap="none" strike="noStrike">
                <a:solidFill>
                  <a:srgbClr val="9A8FC0"/>
                </a:solidFill>
                <a:latin typeface="Courier New"/>
                <a:ea typeface="Courier New"/>
                <a:cs typeface="Courier New"/>
                <a:sym typeface="Courier New"/>
              </a:rPr>
              <a:t>//localhost:9001</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predicates: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Path=/auth/**</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id: account-service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uri: http:</a:t>
            </a:r>
            <a:r>
              <a:rPr b="0" i="0" lang="fr" sz="850" u="none" cap="none" strike="noStrike">
                <a:solidFill>
                  <a:srgbClr val="9A8FC0"/>
                </a:solidFill>
                <a:latin typeface="Courier New"/>
                <a:ea typeface="Courier New"/>
                <a:cs typeface="Courier New"/>
                <a:sym typeface="Courier New"/>
              </a:rPr>
              <a:t>//localhost:8082</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predicates: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Path=/api/accounts/**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id: client-service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uri: http:</a:t>
            </a:r>
            <a:r>
              <a:rPr b="0" i="0" lang="fr" sz="850" u="none" cap="none" strike="noStrike">
                <a:solidFill>
                  <a:srgbClr val="9A8FC0"/>
                </a:solidFill>
                <a:latin typeface="Courier New"/>
                <a:ea typeface="Courier New"/>
                <a:cs typeface="Courier New"/>
                <a:sym typeface="Courier New"/>
              </a:rPr>
              <a:t>//localhost:8084</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predicates:</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Path=/api/clients/**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27" name="Shape 327"/>
        <p:cNvGrpSpPr/>
        <p:nvPr/>
      </p:nvGrpSpPr>
      <p:grpSpPr>
        <a:xfrm>
          <a:off x="0" y="0"/>
          <a:ext cx="0" cy="0"/>
          <a:chOff x="0" y="0"/>
          <a:chExt cx="0" cy="0"/>
        </a:xfrm>
      </p:grpSpPr>
      <p:sp>
        <p:nvSpPr>
          <p:cNvPr id="328" name="Google Shape;328;p32"/>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FOCUS : SERVICE ACCOUNT</a:t>
            </a:r>
            <a:endParaRPr/>
          </a:p>
        </p:txBody>
      </p:sp>
      <p:sp>
        <p:nvSpPr>
          <p:cNvPr id="329" name="Google Shape;329;p32"/>
          <p:cNvSpPr/>
          <p:nvPr/>
        </p:nvSpPr>
        <p:spPr>
          <a:xfrm>
            <a:off x="548640" y="1325880"/>
            <a:ext cx="4572000" cy="32919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32"/>
          <p:cNvSpPr txBox="1"/>
          <p:nvPr/>
        </p:nvSpPr>
        <p:spPr>
          <a:xfrm>
            <a:off x="685800" y="1417320"/>
            <a:ext cx="4297800" cy="2224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account-service/src/main/java/.../</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domain/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model/     Account, CurrentAccount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port/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in/     CurrentAccountUseCase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out/    CurrentAccountRepository</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TransactionRecorderPort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application/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service/   CurrentAccountService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exception/ AccountNotFoundException…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adapter/</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in/rest/   CurrentAccountAdapterIn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out/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persistence/  entity, mapper, repo</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 http/   TransactionServiceAdapterOut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controller/   CurrentAccountController</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config/       BeanConfiguration</a:t>
            </a:r>
            <a:endParaRPr/>
          </a:p>
        </p:txBody>
      </p:sp>
      <p:sp>
        <p:nvSpPr>
          <p:cNvPr id="331" name="Google Shape;331;p32"/>
          <p:cNvSpPr/>
          <p:nvPr/>
        </p:nvSpPr>
        <p:spPr>
          <a:xfrm>
            <a:off x="5349240" y="1371600"/>
            <a:ext cx="3291900" cy="914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32"/>
          <p:cNvSpPr txBox="1"/>
          <p:nvPr/>
        </p:nvSpPr>
        <p:spPr>
          <a:xfrm>
            <a:off x="5532120" y="1463040"/>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rgbClr val="FFFFFF"/>
                </a:solidFill>
                <a:latin typeface="Arial"/>
                <a:ea typeface="Arial"/>
                <a:cs typeface="Arial"/>
                <a:sym typeface="Arial"/>
              </a:rPr>
              <a:t>Cœur métier dans </a:t>
            </a:r>
            <a:r>
              <a:rPr b="1" i="0" lang="fr" sz="1200" u="none" cap="none" strike="noStrike">
                <a:solidFill>
                  <a:srgbClr val="FFFFFF"/>
                </a:solidFill>
                <a:latin typeface="Arial"/>
                <a:ea typeface="Arial"/>
                <a:cs typeface="Arial"/>
                <a:sym typeface="Arial"/>
              </a:rPr>
              <a:t>domain/</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Toute la logique métier y est regroupée.</a:t>
            </a:r>
            <a:endParaRPr/>
          </a:p>
        </p:txBody>
      </p:sp>
      <p:sp>
        <p:nvSpPr>
          <p:cNvPr id="333" name="Google Shape;333;p32"/>
          <p:cNvSpPr/>
          <p:nvPr/>
        </p:nvSpPr>
        <p:spPr>
          <a:xfrm>
            <a:off x="5349240" y="2450591"/>
            <a:ext cx="3291900" cy="914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32"/>
          <p:cNvSpPr txBox="1"/>
          <p:nvPr/>
        </p:nvSpPr>
        <p:spPr>
          <a:xfrm>
            <a:off x="5532120" y="2542032"/>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fr" sz="1200" u="none" cap="none" strike="noStrike">
                <a:solidFill>
                  <a:srgbClr val="FFFFFF"/>
                </a:solidFill>
                <a:latin typeface="Arial"/>
                <a:ea typeface="Arial"/>
                <a:cs typeface="Arial"/>
                <a:sym typeface="Arial"/>
              </a:rPr>
              <a:t>Aucune dépendance</a:t>
            </a:r>
            <a:r>
              <a:rPr b="0" i="0" lang="fr" sz="1200" u="none" cap="none" strike="noStrike">
                <a:solidFill>
                  <a:srgbClr val="FFFFFF"/>
                </a:solidFill>
                <a:latin typeface="Arial"/>
                <a:ea typeface="Arial"/>
                <a:cs typeface="Arial"/>
                <a:sym typeface="Arial"/>
              </a:rPr>
              <a:t> externe</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Ni Spring, ni JPA, ni base de données.</a:t>
            </a:r>
            <a:endParaRPr/>
          </a:p>
        </p:txBody>
      </p:sp>
      <p:sp>
        <p:nvSpPr>
          <p:cNvPr id="335" name="Google Shape;335;p32"/>
          <p:cNvSpPr/>
          <p:nvPr/>
        </p:nvSpPr>
        <p:spPr>
          <a:xfrm>
            <a:off x="5349240" y="3529584"/>
            <a:ext cx="3291900" cy="914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32"/>
          <p:cNvSpPr txBox="1"/>
          <p:nvPr/>
        </p:nvSpPr>
        <p:spPr>
          <a:xfrm>
            <a:off x="5532120" y="3621024"/>
            <a:ext cx="29718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fr" sz="1200" u="none" cap="none" strike="noStrike">
                <a:solidFill>
                  <a:srgbClr val="FFFFFF"/>
                </a:solidFill>
                <a:latin typeface="Arial"/>
                <a:ea typeface="Arial"/>
                <a:cs typeface="Arial"/>
                <a:sym typeface="Arial"/>
              </a:rPr>
              <a:t>Des </a:t>
            </a:r>
            <a:r>
              <a:rPr b="1" i="0" lang="fr" sz="1200" u="none" cap="none" strike="noStrike">
                <a:solidFill>
                  <a:srgbClr val="FFFFFF"/>
                </a:solidFill>
                <a:latin typeface="Arial"/>
                <a:ea typeface="Arial"/>
                <a:cs typeface="Arial"/>
                <a:sym typeface="Arial"/>
              </a:rPr>
              <a:t>POJO</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Objets Java simples, sans annotation de persistance : la donnée telle qu'elle est.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40" name="Shape 340"/>
        <p:cNvGrpSpPr/>
        <p:nvPr/>
      </p:nvGrpSpPr>
      <p:grpSpPr>
        <a:xfrm>
          <a:off x="0" y="0"/>
          <a:ext cx="0" cy="0"/>
          <a:chOff x="0" y="0"/>
          <a:chExt cx="0" cy="0"/>
        </a:xfrm>
      </p:grpSpPr>
      <p:sp>
        <p:nvSpPr>
          <p:cNvPr id="341" name="Google Shape;341;p33"/>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LE DOMAINE EN CODE</a:t>
            </a:r>
            <a:endParaRPr/>
          </a:p>
        </p:txBody>
      </p:sp>
      <p:sp>
        <p:nvSpPr>
          <p:cNvPr id="342" name="Google Shape;342;p33"/>
          <p:cNvSpPr/>
          <p:nvPr/>
        </p:nvSpPr>
        <p:spPr>
          <a:xfrm>
            <a:off x="502920" y="1325880"/>
            <a:ext cx="4846200" cy="32919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33"/>
          <p:cNvSpPr txBox="1"/>
          <p:nvPr/>
        </p:nvSpPr>
        <p:spPr>
          <a:xfrm>
            <a:off x="640080" y="1399032"/>
            <a:ext cx="45720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domain/model/CurrentAccount.java</a:t>
            </a:r>
            <a:endParaRPr/>
          </a:p>
        </p:txBody>
      </p:sp>
      <p:sp>
        <p:nvSpPr>
          <p:cNvPr id="344" name="Google Shape;344;p33"/>
          <p:cNvSpPr txBox="1"/>
          <p:nvPr/>
        </p:nvSpPr>
        <p:spPr>
          <a:xfrm>
            <a:off x="640080" y="1627632"/>
            <a:ext cx="4572000" cy="196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1" i="0" lang="fr" sz="850" u="none" cap="none" strike="noStrike">
                <a:solidFill>
                  <a:srgbClr val="9BA2FF"/>
                </a:solidFill>
                <a:latin typeface="Courier New"/>
                <a:ea typeface="Courier New"/>
                <a:cs typeface="Courier New"/>
                <a:sym typeface="Courier New"/>
              </a:rPr>
              <a:t>public</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class</a:t>
            </a:r>
            <a:r>
              <a:rPr b="0" i="0" lang="fr" sz="850" u="none" cap="none" strike="noStrike">
                <a:solidFill>
                  <a:srgbClr val="EDE7FF"/>
                </a:solidFill>
                <a:latin typeface="Courier New"/>
                <a:ea typeface="Courier New"/>
                <a:cs typeface="Courier New"/>
                <a:sym typeface="Courier New"/>
              </a:rPr>
              <a:t> CurrentAccount </a:t>
            </a:r>
            <a:r>
              <a:rPr b="1" i="0" lang="fr" sz="850" u="none" cap="none" strike="noStrike">
                <a:solidFill>
                  <a:srgbClr val="9BA2FF"/>
                </a:solidFill>
                <a:latin typeface="Courier New"/>
                <a:ea typeface="Courier New"/>
                <a:cs typeface="Courier New"/>
                <a:sym typeface="Courier New"/>
              </a:rPr>
              <a:t>extends</a:t>
            </a:r>
            <a:r>
              <a:rPr b="0" i="0" lang="fr" sz="850" u="none" cap="none" strike="noStrike">
                <a:solidFill>
                  <a:srgbClr val="EDE7FF"/>
                </a:solidFill>
                <a:latin typeface="Courier New"/>
                <a:ea typeface="Courier New"/>
                <a:cs typeface="Courier New"/>
                <a:sym typeface="Courier New"/>
              </a:rPr>
              <a:t> WithdrawalAccount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double</a:t>
            </a:r>
            <a:r>
              <a:rPr b="0" i="0" lang="fr" sz="850" u="none" cap="none" strike="noStrike">
                <a:solidFill>
                  <a:srgbClr val="EDE7FF"/>
                </a:solidFill>
                <a:latin typeface="Courier New"/>
                <a:ea typeface="Courier New"/>
                <a:cs typeface="Courier New"/>
                <a:sym typeface="Courier New"/>
              </a:rPr>
              <a:t> overdraft;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0" i="0" lang="fr" sz="850" u="none" cap="none" strike="noStrike">
                <a:solidFill>
                  <a:srgbClr val="E5B2CA"/>
                </a:solidFill>
                <a:latin typeface="Courier New"/>
                <a:ea typeface="Courier New"/>
                <a:cs typeface="Courier New"/>
                <a:sym typeface="Courier New"/>
              </a:rPr>
              <a:t>@Override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public</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void</a:t>
            </a:r>
            <a:r>
              <a:rPr b="0" i="0" lang="fr" sz="850" u="none" cap="none" strike="noStrike">
                <a:solidFill>
                  <a:srgbClr val="EDE7FF"/>
                </a:solidFill>
                <a:latin typeface="Courier New"/>
                <a:ea typeface="Courier New"/>
                <a:cs typeface="Courier New"/>
                <a:sym typeface="Courier New"/>
              </a:rPr>
              <a:t> withdraw(</a:t>
            </a:r>
            <a:r>
              <a:rPr b="1" i="0" lang="fr" sz="850" u="none" cap="none" strike="noStrike">
                <a:solidFill>
                  <a:srgbClr val="9BA2FF"/>
                </a:solidFill>
                <a:latin typeface="Courier New"/>
                <a:ea typeface="Courier New"/>
                <a:cs typeface="Courier New"/>
                <a:sym typeface="Courier New"/>
              </a:rPr>
              <a:t>double</a:t>
            </a:r>
            <a:r>
              <a:rPr b="0" i="0" lang="fr" sz="850" u="none" cap="none" strike="noStrike">
                <a:solidFill>
                  <a:srgbClr val="EDE7FF"/>
                </a:solidFill>
                <a:latin typeface="Courier New"/>
                <a:ea typeface="Courier New"/>
                <a:cs typeface="Courier New"/>
                <a:sym typeface="Courier New"/>
              </a:rPr>
              <a:t> amount)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if</a:t>
            </a:r>
            <a:r>
              <a:rPr b="0" i="0" lang="fr" sz="850" u="none" cap="none" strike="noStrike">
                <a:solidFill>
                  <a:srgbClr val="EDE7FF"/>
                </a:solidFill>
                <a:latin typeface="Courier New"/>
                <a:ea typeface="Courier New"/>
                <a:cs typeface="Courier New"/>
                <a:sym typeface="Courier New"/>
              </a:rPr>
              <a:t> (amount &lt;= 0)</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throw</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new</a:t>
            </a:r>
            <a:r>
              <a:rPr b="0" i="0" lang="fr" sz="850" u="none" cap="none" strike="noStrike">
                <a:solidFill>
                  <a:srgbClr val="EDE7FF"/>
                </a:solidFill>
                <a:latin typeface="Courier New"/>
                <a:ea typeface="Courier New"/>
                <a:cs typeface="Courier New"/>
                <a:sym typeface="Courier New"/>
              </a:rPr>
              <a:t> InvalidAmountException(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0" i="0" lang="fr" sz="850" u="none" cap="none" strike="noStrike">
                <a:solidFill>
                  <a:srgbClr val="00D6C0"/>
                </a:solidFill>
                <a:latin typeface="Courier New"/>
                <a:ea typeface="Courier New"/>
                <a:cs typeface="Courier New"/>
                <a:sym typeface="Courier New"/>
              </a:rPr>
              <a:t>"Le montant du retrait doit être &gt; 0."</a:t>
            </a:r>
            <a:r>
              <a:rPr b="0" i="0" lang="fr" sz="8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if</a:t>
            </a:r>
            <a:r>
              <a:rPr b="0" i="0" lang="fr" sz="850" u="none" cap="none" strike="noStrike">
                <a:solidFill>
                  <a:srgbClr val="EDE7FF"/>
                </a:solidFill>
                <a:latin typeface="Courier New"/>
                <a:ea typeface="Courier New"/>
                <a:cs typeface="Courier New"/>
                <a:sym typeface="Courier New"/>
              </a:rPr>
              <a:t> (balance - amount &lt; overdraft)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throw</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new</a:t>
            </a:r>
            <a:r>
              <a:rPr b="0" i="0" lang="fr" sz="850" u="none" cap="none" strike="noStrike">
                <a:solidFill>
                  <a:srgbClr val="EDE7FF"/>
                </a:solidFill>
                <a:latin typeface="Courier New"/>
                <a:ea typeface="Courier New"/>
                <a:cs typeface="Courier New"/>
                <a:sym typeface="Courier New"/>
              </a:rPr>
              <a:t> OverdraftExceededException();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balance -= amount;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a:t>
            </a:r>
            <a:endParaRPr/>
          </a:p>
        </p:txBody>
      </p:sp>
      <p:sp>
        <p:nvSpPr>
          <p:cNvPr id="345" name="Google Shape;345;p33"/>
          <p:cNvSpPr/>
          <p:nvPr/>
        </p:nvSpPr>
        <p:spPr>
          <a:xfrm>
            <a:off x="5760720" y="1371600"/>
            <a:ext cx="2834700" cy="6585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FFFFFF"/>
                </a:solidFill>
                <a:latin typeface="Arial"/>
                <a:ea typeface="Arial"/>
                <a:cs typeface="Arial"/>
                <a:sym typeface="Arial"/>
              </a:rPr>
              <a:t>Account</a:t>
            </a:r>
            <a:endParaRPr/>
          </a:p>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iban, clientId, balance · deposit()</a:t>
            </a:r>
            <a:endParaRPr/>
          </a:p>
        </p:txBody>
      </p:sp>
      <p:cxnSp>
        <p:nvCxnSpPr>
          <p:cNvPr id="346" name="Google Shape;346;p33"/>
          <p:cNvCxnSpPr/>
          <p:nvPr/>
        </p:nvCxnSpPr>
        <p:spPr>
          <a:xfrm>
            <a:off x="7178040" y="2029967"/>
            <a:ext cx="0" cy="3018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347" name="Google Shape;347;p33"/>
          <p:cNvSpPr/>
          <p:nvPr/>
        </p:nvSpPr>
        <p:spPr>
          <a:xfrm>
            <a:off x="5760720" y="2331720"/>
            <a:ext cx="2834700" cy="6585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FFFFFF"/>
                </a:solidFill>
                <a:latin typeface="Arial"/>
                <a:ea typeface="Arial"/>
                <a:cs typeface="Arial"/>
                <a:sym typeface="Arial"/>
              </a:rPr>
              <a:t>WithdrawalAccount</a:t>
            </a:r>
            <a:endParaRPr/>
          </a:p>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abstract withdraw()</a:t>
            </a:r>
            <a:endParaRPr/>
          </a:p>
        </p:txBody>
      </p:sp>
      <p:cxnSp>
        <p:nvCxnSpPr>
          <p:cNvPr id="348" name="Google Shape;348;p33"/>
          <p:cNvCxnSpPr/>
          <p:nvPr/>
        </p:nvCxnSpPr>
        <p:spPr>
          <a:xfrm>
            <a:off x="7178040" y="2990087"/>
            <a:ext cx="0" cy="3018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349" name="Google Shape;349;p33"/>
          <p:cNvSpPr/>
          <p:nvPr/>
        </p:nvSpPr>
        <p:spPr>
          <a:xfrm>
            <a:off x="5760720" y="3291840"/>
            <a:ext cx="2834700" cy="658500"/>
          </a:xfrm>
          <a:prstGeom prst="roundRect">
            <a:avLst>
              <a:gd fmla="val 8000" name="adj"/>
            </a:avLst>
          </a:prstGeom>
          <a:solidFill>
            <a:srgbClr val="613FB8">
              <a:alpha val="85100"/>
            </a:srgbClr>
          </a:solidFill>
          <a:ln cap="flat" cmpd="sng" w="9525">
            <a:solidFill>
              <a:srgbClr val="00D6C0"/>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FFFFFF"/>
                </a:solidFill>
                <a:latin typeface="Arial"/>
                <a:ea typeface="Arial"/>
                <a:cs typeface="Arial"/>
                <a:sym typeface="Arial"/>
              </a:rPr>
              <a:t>CurrentAccount</a:t>
            </a:r>
            <a:endParaRPr/>
          </a:p>
          <a:p>
            <a:pPr indent="0" lvl="0" marL="0" marR="0" rtl="0" algn="ctr">
              <a:lnSpc>
                <a:spcPct val="100000"/>
              </a:lnSpc>
              <a:spcBef>
                <a:spcPts val="0"/>
              </a:spcBef>
              <a:spcAft>
                <a:spcPts val="0"/>
              </a:spcAft>
              <a:buClr>
                <a:srgbClr val="000000"/>
              </a:buClr>
              <a:buSzPts val="900"/>
              <a:buFont typeface="Arial"/>
              <a:buNone/>
            </a:pPr>
            <a:r>
              <a:rPr b="0" i="0" lang="fr" sz="900" u="none" cap="none" strike="noStrike">
                <a:solidFill>
                  <a:srgbClr val="FFFFFF"/>
                </a:solidFill>
                <a:latin typeface="Arial"/>
                <a:ea typeface="Arial"/>
                <a:cs typeface="Arial"/>
                <a:sym typeface="Arial"/>
              </a:rPr>
              <a:t>découvert autorisé</a:t>
            </a:r>
            <a:endParaRPr/>
          </a:p>
        </p:txBody>
      </p:sp>
      <p:sp>
        <p:nvSpPr>
          <p:cNvPr id="350" name="Google Shape;350;p33"/>
          <p:cNvSpPr txBox="1"/>
          <p:nvPr/>
        </p:nvSpPr>
        <p:spPr>
          <a:xfrm>
            <a:off x="5760720" y="4206240"/>
            <a:ext cx="2834700" cy="41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Règles métier en </a:t>
            </a:r>
            <a:r>
              <a:rPr b="1" i="0" lang="fr" sz="1100" u="none" cap="none" strike="noStrike">
                <a:solidFill>
                  <a:srgbClr val="FFFFFF"/>
                </a:solidFill>
                <a:latin typeface="Arial"/>
                <a:ea typeface="Arial"/>
                <a:cs typeface="Arial"/>
                <a:sym typeface="Arial"/>
              </a:rPr>
              <a:t>Java pur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54" name="Shape 354"/>
        <p:cNvGrpSpPr/>
        <p:nvPr/>
      </p:nvGrpSpPr>
      <p:grpSpPr>
        <a:xfrm>
          <a:off x="0" y="0"/>
          <a:ext cx="0" cy="0"/>
          <a:chOff x="0" y="0"/>
          <a:chExt cx="0" cy="0"/>
        </a:xfrm>
      </p:grpSpPr>
      <p:sp>
        <p:nvSpPr>
          <p:cNvPr id="355" name="Google Shape;355;p34"/>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PORT IN : CAS MÉTIER</a:t>
            </a:r>
            <a:endParaRPr/>
          </a:p>
        </p:txBody>
      </p:sp>
      <p:sp>
        <p:nvSpPr>
          <p:cNvPr id="356" name="Google Shape;356;p34"/>
          <p:cNvSpPr txBox="1"/>
          <p:nvPr/>
        </p:nvSpPr>
        <p:spPr>
          <a:xfrm>
            <a:off x="749808" y="1417320"/>
            <a:ext cx="3383400" cy="31089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E5B2CA"/>
              </a:buClr>
              <a:buSzPts val="1200"/>
              <a:buFont typeface="Arial"/>
              <a:buChar char="•"/>
            </a:pPr>
            <a:r>
              <a:rPr b="0" i="0" lang="fr" sz="1200" u="none" cap="none" strike="noStrike">
                <a:solidFill>
                  <a:srgbClr val="FFFFFF"/>
                </a:solidFill>
                <a:latin typeface="Arial"/>
                <a:ea typeface="Arial"/>
                <a:cs typeface="Arial"/>
                <a:sym typeface="Arial"/>
              </a:rPr>
              <a:t>Un port IN = </a:t>
            </a:r>
            <a:r>
              <a:rPr b="1" i="0" lang="fr" sz="1200" u="none" cap="none" strike="noStrike">
                <a:solidFill>
                  <a:srgbClr val="FFFFFF"/>
                </a:solidFill>
                <a:latin typeface="Arial"/>
                <a:ea typeface="Arial"/>
                <a:cs typeface="Arial"/>
                <a:sym typeface="Arial"/>
              </a:rPr>
              <a:t>une action concrète</a:t>
            </a:r>
            <a:r>
              <a:rPr b="0" i="0" lang="fr" sz="1200" u="none" cap="none" strike="noStrike">
                <a:solidFill>
                  <a:srgbClr val="FFFFFF"/>
                </a:solidFill>
                <a:latin typeface="Arial"/>
                <a:ea typeface="Arial"/>
                <a:cs typeface="Arial"/>
                <a:sym typeface="Arial"/>
              </a:rPr>
              <a:t> demandée par le métier</a:t>
            </a:r>
            <a:endParaRPr/>
          </a:p>
          <a:p>
            <a:pPr indent="-182880" lvl="0" marL="182880" marR="0" rtl="0" algn="l">
              <a:lnSpc>
                <a:spcPct val="100000"/>
              </a:lnSpc>
              <a:spcBef>
                <a:spcPts val="1000"/>
              </a:spcBef>
              <a:spcAft>
                <a:spcPts val="0"/>
              </a:spcAft>
              <a:buClr>
                <a:srgbClr val="E5B2CA"/>
              </a:buClr>
              <a:buSzPts val="1200"/>
              <a:buFont typeface="Arial"/>
              <a:buChar char="•"/>
            </a:pPr>
            <a:r>
              <a:rPr b="0" i="0" lang="fr" sz="1200" u="none" cap="none" strike="noStrike">
                <a:solidFill>
                  <a:srgbClr val="FFFFFF"/>
                </a:solidFill>
                <a:latin typeface="Arial"/>
                <a:ea typeface="Arial"/>
                <a:cs typeface="Arial"/>
                <a:sym typeface="Arial"/>
              </a:rPr>
              <a:t>Exemple : « je veux voir le compte n°XXX » → </a:t>
            </a:r>
            <a:r>
              <a:rPr b="1" i="0" lang="fr" sz="1104" u="none" cap="none" strike="noStrike">
                <a:solidFill>
                  <a:srgbClr val="D7FFFA"/>
                </a:solidFill>
                <a:latin typeface="Courier New"/>
                <a:ea typeface="Courier New"/>
                <a:cs typeface="Courier New"/>
                <a:sym typeface="Courier New"/>
              </a:rPr>
              <a:t>getAccount(iban, clientId)</a:t>
            </a:r>
            <a:endParaRPr/>
          </a:p>
          <a:p>
            <a:pPr indent="-182880" lvl="0" marL="182880" marR="0" rtl="0" algn="l">
              <a:lnSpc>
                <a:spcPct val="100000"/>
              </a:lnSpc>
              <a:spcBef>
                <a:spcPts val="1000"/>
              </a:spcBef>
              <a:spcAft>
                <a:spcPts val="0"/>
              </a:spcAft>
              <a:buClr>
                <a:srgbClr val="E5B2CA"/>
              </a:buClr>
              <a:buSzPts val="1200"/>
              <a:buFont typeface="Arial"/>
              <a:buChar char="•"/>
            </a:pPr>
            <a:r>
              <a:rPr b="0" i="0" lang="fr" sz="1200" u="none" cap="none" strike="noStrike">
                <a:solidFill>
                  <a:srgbClr val="FFFFFF"/>
                </a:solidFill>
                <a:latin typeface="Arial"/>
                <a:ea typeface="Arial"/>
                <a:cs typeface="Arial"/>
                <a:sym typeface="Arial"/>
              </a:rPr>
              <a:t>Aucun lien avec la technique ou la base de données</a:t>
            </a:r>
            <a:endParaRPr/>
          </a:p>
          <a:p>
            <a:pPr indent="-182880" lvl="0" marL="182880" marR="0" rtl="0" algn="l">
              <a:lnSpc>
                <a:spcPct val="100000"/>
              </a:lnSpc>
              <a:spcBef>
                <a:spcPts val="1000"/>
              </a:spcBef>
              <a:spcAft>
                <a:spcPts val="0"/>
              </a:spcAft>
              <a:buClr>
                <a:srgbClr val="E5B2CA"/>
              </a:buClr>
              <a:buSzPts val="1200"/>
              <a:buFont typeface="Arial"/>
              <a:buChar char="•"/>
            </a:pPr>
            <a:r>
              <a:rPr b="0" i="0" lang="fr" sz="1200" u="none" cap="none" strike="noStrike">
                <a:solidFill>
                  <a:srgbClr val="FFFFFF"/>
                </a:solidFill>
                <a:latin typeface="Arial"/>
                <a:ea typeface="Arial"/>
                <a:cs typeface="Arial"/>
                <a:sym typeface="Arial"/>
              </a:rPr>
              <a:t>Le service </a:t>
            </a:r>
            <a:r>
              <a:rPr b="1" i="0" lang="fr" sz="1200" u="none" cap="none" strike="noStrike">
                <a:solidFill>
                  <a:srgbClr val="FFFFFF"/>
                </a:solidFill>
                <a:latin typeface="Arial"/>
                <a:ea typeface="Arial"/>
                <a:cs typeface="Arial"/>
                <a:sym typeface="Arial"/>
              </a:rPr>
              <a:t>implémente</a:t>
            </a:r>
            <a:r>
              <a:rPr b="0" i="0" lang="fr" sz="1200" u="none" cap="none" strike="noStrike">
                <a:solidFill>
                  <a:srgbClr val="FFFFFF"/>
                </a:solidFill>
                <a:latin typeface="Arial"/>
                <a:ea typeface="Arial"/>
                <a:cs typeface="Arial"/>
                <a:sym typeface="Arial"/>
              </a:rPr>
              <a:t> le port : il répond précisément au besoin, sans divergence</a:t>
            </a:r>
            <a:endParaRPr/>
          </a:p>
        </p:txBody>
      </p:sp>
      <p:sp>
        <p:nvSpPr>
          <p:cNvPr id="357" name="Google Shape;357;p34"/>
          <p:cNvSpPr/>
          <p:nvPr/>
        </p:nvSpPr>
        <p:spPr>
          <a:xfrm>
            <a:off x="4343400" y="1325880"/>
            <a:ext cx="4297800" cy="14172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34"/>
          <p:cNvSpPr txBox="1"/>
          <p:nvPr/>
        </p:nvSpPr>
        <p:spPr>
          <a:xfrm>
            <a:off x="4480560" y="1399032"/>
            <a:ext cx="40233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domain/port/in/CurrentAccountUseCase.java</a:t>
            </a:r>
            <a:endParaRPr/>
          </a:p>
        </p:txBody>
      </p:sp>
      <p:sp>
        <p:nvSpPr>
          <p:cNvPr id="359" name="Google Shape;359;p34"/>
          <p:cNvSpPr txBox="1"/>
          <p:nvPr/>
        </p:nvSpPr>
        <p:spPr>
          <a:xfrm>
            <a:off x="4480560" y="1627632"/>
            <a:ext cx="4023300" cy="8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interface</a:t>
            </a:r>
            <a:r>
              <a:rPr b="0" i="0" lang="fr" sz="750" u="none" cap="none" strike="noStrike">
                <a:solidFill>
                  <a:srgbClr val="EDE7FF"/>
                </a:solidFill>
                <a:latin typeface="Courier New"/>
                <a:ea typeface="Courier New"/>
                <a:cs typeface="Courier New"/>
                <a:sym typeface="Courier New"/>
              </a:rPr>
              <a:t> CurrentAccountUseCase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create(...);</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List</a:t>
            </a:r>
            <a:r>
              <a:rPr b="0" i="0" lang="fr" sz="750" u="none" cap="none" strike="noStrike">
                <a:solidFill>
                  <a:srgbClr val="EDE7FF"/>
                </a:solidFill>
                <a:latin typeface="Courier New"/>
                <a:ea typeface="Courier New"/>
                <a:cs typeface="Courier New"/>
                <a:sym typeface="Courier New"/>
              </a:rPr>
              <a:t>&lt;CurrentAccount&gt; getAccounts(</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getAccount(</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void</a:t>
            </a:r>
            <a:r>
              <a:rPr b="0" i="0" lang="fr" sz="750" u="none" cap="none" strike="noStrike">
                <a:solidFill>
                  <a:srgbClr val="EDE7FF"/>
                </a:solidFill>
                <a:latin typeface="Courier New"/>
                <a:ea typeface="Courier New"/>
                <a:cs typeface="Courier New"/>
                <a:sym typeface="Courier New"/>
              </a:rPr>
              <a:t> deposit(</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 </a:t>
            </a:r>
            <a:r>
              <a:rPr b="1" i="0" lang="fr" sz="750" u="none" cap="none" strike="noStrike">
                <a:solidFill>
                  <a:srgbClr val="9BA2FF"/>
                </a:solidFill>
                <a:latin typeface="Courier New"/>
                <a:ea typeface="Courier New"/>
                <a:cs typeface="Courier New"/>
                <a:sym typeface="Courier New"/>
              </a:rPr>
              <a:t>double</a:t>
            </a:r>
            <a:r>
              <a:rPr b="0" i="0" lang="fr" sz="750" u="none" cap="none" strike="noStrike">
                <a:solidFill>
                  <a:srgbClr val="EDE7FF"/>
                </a:solidFill>
                <a:latin typeface="Courier New"/>
                <a:ea typeface="Courier New"/>
                <a:cs typeface="Courier New"/>
                <a:sym typeface="Courier New"/>
              </a:rPr>
              <a:t> amount);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void</a:t>
            </a:r>
            <a:r>
              <a:rPr b="0" i="0" lang="fr" sz="750" u="none" cap="none" strike="noStrike">
                <a:solidFill>
                  <a:srgbClr val="EDE7FF"/>
                </a:solidFill>
                <a:latin typeface="Courier New"/>
                <a:ea typeface="Courier New"/>
                <a:cs typeface="Courier New"/>
                <a:sym typeface="Courier New"/>
              </a:rPr>
              <a:t> withdraw(</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 </a:t>
            </a:r>
            <a:r>
              <a:rPr b="1" i="0" lang="fr" sz="750" u="none" cap="none" strike="noStrike">
                <a:solidFill>
                  <a:srgbClr val="9BA2FF"/>
                </a:solidFill>
                <a:latin typeface="Courier New"/>
                <a:ea typeface="Courier New"/>
                <a:cs typeface="Courier New"/>
                <a:sym typeface="Courier New"/>
              </a:rPr>
              <a:t>double</a:t>
            </a:r>
            <a:r>
              <a:rPr b="0" i="0" lang="fr" sz="750" u="none" cap="none" strike="noStrike">
                <a:solidFill>
                  <a:srgbClr val="EDE7FF"/>
                </a:solidFill>
                <a:latin typeface="Courier New"/>
                <a:ea typeface="Courier New"/>
                <a:cs typeface="Courier New"/>
                <a:sym typeface="Courier New"/>
              </a:rPr>
              <a:t> amount);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a:t>
            </a:r>
            <a:endParaRPr/>
          </a:p>
        </p:txBody>
      </p:sp>
      <p:sp>
        <p:nvSpPr>
          <p:cNvPr id="360" name="Google Shape;360;p34"/>
          <p:cNvSpPr/>
          <p:nvPr/>
        </p:nvSpPr>
        <p:spPr>
          <a:xfrm>
            <a:off x="4343400" y="2880360"/>
            <a:ext cx="4297800" cy="17373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34"/>
          <p:cNvSpPr txBox="1"/>
          <p:nvPr/>
        </p:nvSpPr>
        <p:spPr>
          <a:xfrm>
            <a:off x="4480560" y="2953512"/>
            <a:ext cx="40233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application/service/CurrentAccountService.java</a:t>
            </a:r>
            <a:endParaRPr/>
          </a:p>
        </p:txBody>
      </p:sp>
      <p:sp>
        <p:nvSpPr>
          <p:cNvPr id="362" name="Google Shape;362;p34"/>
          <p:cNvSpPr txBox="1"/>
          <p:nvPr/>
        </p:nvSpPr>
        <p:spPr>
          <a:xfrm>
            <a:off x="4480560" y="3182112"/>
            <a:ext cx="4023300" cy="115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class</a:t>
            </a:r>
            <a:r>
              <a:rPr b="0" i="0" lang="fr" sz="750" u="none" cap="none" strike="noStrike">
                <a:solidFill>
                  <a:srgbClr val="EDE7FF"/>
                </a:solidFill>
                <a:latin typeface="Courier New"/>
                <a:ea typeface="Courier New"/>
                <a:cs typeface="Courier New"/>
                <a:sym typeface="Courier New"/>
              </a:rPr>
              <a:t> CurrentAccountService</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implements</a:t>
            </a:r>
            <a:r>
              <a:rPr b="0" i="0" lang="fr" sz="750" u="none" cap="none" strike="noStrike">
                <a:solidFill>
                  <a:srgbClr val="EDE7FF"/>
                </a:solidFill>
                <a:latin typeface="Courier New"/>
                <a:ea typeface="Courier New"/>
                <a:cs typeface="Courier New"/>
                <a:sym typeface="Courier New"/>
              </a:rPr>
              <a:t> CurrentAccountUseCase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E5B2CA"/>
                </a:solidFill>
                <a:latin typeface="Courier New"/>
                <a:ea typeface="Courier New"/>
                <a:cs typeface="Courier New"/>
                <a:sym typeface="Courier New"/>
              </a:rPr>
              <a:t>@Override</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CurrentAccount getAccount(</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account = repository.findByIban(iban)</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.orElseThrow(AccountNotFoundException::</a:t>
            </a:r>
            <a:r>
              <a:rPr b="1" i="0" lang="fr" sz="750" u="none" cap="none" strike="noStrike">
                <a:solidFill>
                  <a:srgbClr val="9BA2FF"/>
                </a:solidFill>
                <a:latin typeface="Courier New"/>
                <a:ea typeface="Courier New"/>
                <a:cs typeface="Courier New"/>
                <a:sym typeface="Courier New"/>
              </a:rPr>
              <a:t>new</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if</a:t>
            </a:r>
            <a:r>
              <a:rPr b="0" i="0" lang="fr" sz="750" u="none" cap="none" strike="noStrike">
                <a:solidFill>
                  <a:srgbClr val="EDE7FF"/>
                </a:solidFill>
                <a:latin typeface="Courier New"/>
                <a:ea typeface="Courier New"/>
                <a:cs typeface="Courier New"/>
                <a:sym typeface="Courier New"/>
              </a:rPr>
              <a:t> (!account.getClientId().equals(clientId))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throw</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new</a:t>
            </a:r>
            <a:r>
              <a:rPr b="0" i="0" lang="fr" sz="750" u="none" cap="none" strike="noStrike">
                <a:solidFill>
                  <a:srgbClr val="EDE7FF"/>
                </a:solidFill>
                <a:latin typeface="Courier New"/>
                <a:ea typeface="Courier New"/>
                <a:cs typeface="Courier New"/>
                <a:sym typeface="Courier New"/>
              </a:rPr>
              <a:t> ForbiddenException(</a:t>
            </a:r>
            <a:r>
              <a:rPr b="0" i="0" lang="fr" sz="750" u="none" cap="none" strike="noStrike">
                <a:solidFill>
                  <a:srgbClr val="00D6C0"/>
                </a:solidFill>
                <a:latin typeface="Courier New"/>
                <a:ea typeface="Courier New"/>
                <a:cs typeface="Courier New"/>
                <a:sym typeface="Courier New"/>
              </a:rPr>
              <a:t>"..."</a:t>
            </a: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return</a:t>
            </a:r>
            <a:r>
              <a:rPr b="0" i="0" lang="fr" sz="750" u="none" cap="none" strike="noStrike">
                <a:solidFill>
                  <a:srgbClr val="EDE7FF"/>
                </a:solidFill>
                <a:latin typeface="Courier New"/>
                <a:ea typeface="Courier New"/>
                <a:cs typeface="Courier New"/>
                <a:sym typeface="Courier New"/>
              </a:rPr>
              <a:t> account;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66" name="Shape 366"/>
        <p:cNvGrpSpPr/>
        <p:nvPr/>
      </p:nvGrpSpPr>
      <p:grpSpPr>
        <a:xfrm>
          <a:off x="0" y="0"/>
          <a:ext cx="0" cy="0"/>
          <a:chOff x="0" y="0"/>
          <a:chExt cx="0" cy="0"/>
        </a:xfrm>
      </p:grpSpPr>
      <p:sp>
        <p:nvSpPr>
          <p:cNvPr id="367" name="Google Shape;367;p35"/>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PORT OUT : L'EXTÉRIEUR</a:t>
            </a:r>
            <a:endParaRPr/>
          </a:p>
        </p:txBody>
      </p:sp>
      <p:sp>
        <p:nvSpPr>
          <p:cNvPr id="368" name="Google Shape;368;p35"/>
          <p:cNvSpPr/>
          <p:nvPr/>
        </p:nvSpPr>
        <p:spPr>
          <a:xfrm>
            <a:off x="502920" y="1325880"/>
            <a:ext cx="3977700" cy="18288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35"/>
          <p:cNvSpPr txBox="1"/>
          <p:nvPr/>
        </p:nvSpPr>
        <p:spPr>
          <a:xfrm>
            <a:off x="640080" y="1399032"/>
            <a:ext cx="370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domain/port/out/</a:t>
            </a:r>
            <a:endParaRPr/>
          </a:p>
        </p:txBody>
      </p:sp>
      <p:sp>
        <p:nvSpPr>
          <p:cNvPr id="370" name="Google Shape;370;p35"/>
          <p:cNvSpPr txBox="1"/>
          <p:nvPr/>
        </p:nvSpPr>
        <p:spPr>
          <a:xfrm>
            <a:off x="640080" y="1627632"/>
            <a:ext cx="3703200" cy="10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interface</a:t>
            </a:r>
            <a:r>
              <a:rPr b="0" i="0" lang="fr" sz="750" u="none" cap="none" strike="noStrike">
                <a:solidFill>
                  <a:srgbClr val="EDE7FF"/>
                </a:solidFill>
                <a:latin typeface="Courier New"/>
                <a:ea typeface="Courier New"/>
                <a:cs typeface="Courier New"/>
                <a:sym typeface="Courier New"/>
              </a:rPr>
              <a:t> CurrentAccountRepository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save(CurrentAccount account);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Optional</a:t>
            </a:r>
            <a:r>
              <a:rPr b="0" i="0" lang="fr" sz="750" u="none" cap="none" strike="noStrike">
                <a:solidFill>
                  <a:srgbClr val="EDE7FF"/>
                </a:solidFill>
                <a:latin typeface="Courier New"/>
                <a:ea typeface="Courier New"/>
                <a:cs typeface="Courier New"/>
                <a:sym typeface="Courier New"/>
              </a:rPr>
              <a:t>&lt;CurrentAccount&gt; findByIban(</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List</a:t>
            </a:r>
            <a:r>
              <a:rPr b="0" i="0" lang="fr" sz="750" u="none" cap="none" strike="noStrike">
                <a:solidFill>
                  <a:srgbClr val="EDE7FF"/>
                </a:solidFill>
                <a:latin typeface="Courier New"/>
                <a:ea typeface="Courier New"/>
                <a:cs typeface="Courier New"/>
                <a:sym typeface="Courier New"/>
              </a:rPr>
              <a:t>&lt;CurrentAccount&gt; findByClientId(</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FFFFFF"/>
                </a:solidFill>
                <a:latin typeface="Courier New"/>
                <a:ea typeface="Courier New"/>
                <a:cs typeface="Courier New"/>
                <a:sym typeface="Courier New"/>
              </a:rPr>
              <a:t> </a:t>
            </a:r>
            <a:endParaRPr/>
          </a:p>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interface</a:t>
            </a:r>
            <a:r>
              <a:rPr b="0" i="0" lang="fr" sz="750" u="none" cap="none" strike="noStrike">
                <a:solidFill>
                  <a:srgbClr val="EDE7FF"/>
                </a:solidFill>
                <a:latin typeface="Courier New"/>
                <a:ea typeface="Courier New"/>
                <a:cs typeface="Courier New"/>
                <a:sym typeface="Courier New"/>
              </a:rPr>
              <a:t> TransactionRecorderPort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void</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record</a:t>
            </a:r>
            <a:r>
              <a:rPr b="0" i="0" lang="fr" sz="750" u="none" cap="none" strike="noStrike">
                <a:solidFill>
                  <a:srgbClr val="EDE7FF"/>
                </a:solidFill>
                <a:latin typeface="Courier New"/>
                <a:ea typeface="Courier New"/>
                <a:cs typeface="Courier New"/>
                <a:sym typeface="Courier New"/>
              </a:rPr>
              <a:t>(</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type, </a:t>
            </a:r>
            <a:r>
              <a:rPr b="1" i="0" lang="fr" sz="750" u="none" cap="none" strike="noStrike">
                <a:solidFill>
                  <a:srgbClr val="9BA2FF"/>
                </a:solidFill>
                <a:latin typeface="Courier New"/>
                <a:ea typeface="Courier New"/>
                <a:cs typeface="Courier New"/>
                <a:sym typeface="Courier New"/>
              </a:rPr>
              <a:t>double</a:t>
            </a:r>
            <a:r>
              <a:rPr b="0" i="0" lang="fr" sz="750" u="none" cap="none" strike="noStrike">
                <a:solidFill>
                  <a:srgbClr val="EDE7FF"/>
                </a:solidFill>
                <a:latin typeface="Courier New"/>
                <a:ea typeface="Courier New"/>
                <a:cs typeface="Courier New"/>
                <a:sym typeface="Courier New"/>
              </a:rPr>
              <a:t> amount);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a:t>
            </a:r>
            <a:endParaRPr/>
          </a:p>
        </p:txBody>
      </p:sp>
      <p:sp>
        <p:nvSpPr>
          <p:cNvPr id="371" name="Google Shape;371;p35"/>
          <p:cNvSpPr/>
          <p:nvPr/>
        </p:nvSpPr>
        <p:spPr>
          <a:xfrm>
            <a:off x="4663440" y="1325880"/>
            <a:ext cx="3977700" cy="18288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35"/>
          <p:cNvSpPr txBox="1"/>
          <p:nvPr/>
        </p:nvSpPr>
        <p:spPr>
          <a:xfrm>
            <a:off x="4800600" y="1399032"/>
            <a:ext cx="370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CurrentAccountService.deposit()</a:t>
            </a:r>
            <a:endParaRPr/>
          </a:p>
        </p:txBody>
      </p:sp>
      <p:sp>
        <p:nvSpPr>
          <p:cNvPr id="373" name="Google Shape;373;p35"/>
          <p:cNvSpPr txBox="1"/>
          <p:nvPr/>
        </p:nvSpPr>
        <p:spPr>
          <a:xfrm>
            <a:off x="4800600" y="1627632"/>
            <a:ext cx="3703200" cy="10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5B2CA"/>
                </a:solidFill>
                <a:latin typeface="Courier New"/>
                <a:ea typeface="Courier New"/>
                <a:cs typeface="Courier New"/>
                <a:sym typeface="Courier New"/>
              </a:rPr>
              <a:t>@Override</a:t>
            </a:r>
            <a:endParaRPr/>
          </a:p>
          <a:p>
            <a:pPr indent="0" lvl="0" marL="0" marR="0" rtl="0" algn="l">
              <a:lnSpc>
                <a:spcPct val="100000"/>
              </a:lnSpc>
              <a:spcBef>
                <a:spcPts val="0"/>
              </a:spcBef>
              <a:spcAft>
                <a:spcPts val="0"/>
              </a:spcAft>
              <a:buClr>
                <a:srgbClr val="000000"/>
              </a:buClr>
              <a:buSzPts val="750"/>
              <a:buFont typeface="Arial"/>
              <a:buNone/>
            </a:pPr>
            <a:r>
              <a:rPr b="1" i="0" lang="fr" sz="750" u="none" cap="none" strike="noStrike">
                <a:solidFill>
                  <a:srgbClr val="9BA2FF"/>
                </a:solidFill>
                <a:latin typeface="Courier New"/>
                <a:ea typeface="Courier New"/>
                <a:cs typeface="Courier New"/>
                <a:sym typeface="Courier New"/>
              </a:rPr>
              <a:t>public</a:t>
            </a: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void</a:t>
            </a:r>
            <a:r>
              <a:rPr b="0" i="0" lang="fr" sz="750" u="none" cap="none" strike="noStrike">
                <a:solidFill>
                  <a:srgbClr val="EDE7FF"/>
                </a:solidFill>
                <a:latin typeface="Courier New"/>
                <a:ea typeface="Courier New"/>
                <a:cs typeface="Courier New"/>
                <a:sym typeface="Courier New"/>
              </a:rPr>
              <a:t> deposit(</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iban, </a:t>
            </a:r>
            <a:r>
              <a:rPr b="1" i="0" lang="fr" sz="750" u="none" cap="none" strike="noStrike">
                <a:solidFill>
                  <a:srgbClr val="9BA2FF"/>
                </a:solidFill>
                <a:latin typeface="Courier New"/>
                <a:ea typeface="Courier New"/>
                <a:cs typeface="Courier New"/>
                <a:sym typeface="Courier New"/>
              </a:rPr>
              <a:t>String</a:t>
            </a:r>
            <a:r>
              <a:rPr b="0" i="0" lang="fr" sz="750" u="none" cap="none" strike="noStrike">
                <a:solidFill>
                  <a:srgbClr val="EDE7FF"/>
                </a:solidFill>
                <a:latin typeface="Courier New"/>
                <a:ea typeface="Courier New"/>
                <a:cs typeface="Courier New"/>
                <a:sym typeface="Courier New"/>
              </a:rPr>
              <a:t> clientId,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t>
            </a:r>
            <a:r>
              <a:rPr b="1" i="0" lang="fr" sz="750" u="none" cap="none" strike="noStrike">
                <a:solidFill>
                  <a:srgbClr val="9BA2FF"/>
                </a:solidFill>
                <a:latin typeface="Courier New"/>
                <a:ea typeface="Courier New"/>
                <a:cs typeface="Courier New"/>
                <a:sym typeface="Courier New"/>
              </a:rPr>
              <a:t>double</a:t>
            </a:r>
            <a:r>
              <a:rPr b="0" i="0" lang="fr" sz="750" u="none" cap="none" strike="noStrike">
                <a:solidFill>
                  <a:srgbClr val="EDE7FF"/>
                </a:solidFill>
                <a:latin typeface="Courier New"/>
                <a:ea typeface="Courier New"/>
                <a:cs typeface="Courier New"/>
                <a:sym typeface="Courier New"/>
              </a:rPr>
              <a:t> amount) {</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CurrentAccount account = getAccount(iban, clientId);</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account.deposit(amount);              </a:t>
            </a:r>
            <a:r>
              <a:rPr b="0" i="0" lang="fr" sz="750" u="none" cap="none" strike="noStrike">
                <a:solidFill>
                  <a:srgbClr val="9A8FC0"/>
                </a:solidFill>
                <a:latin typeface="Courier New"/>
                <a:ea typeface="Courier New"/>
                <a:cs typeface="Courier New"/>
                <a:sym typeface="Courier New"/>
              </a:rPr>
              <a:t>// domaine</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repository.save(account);             </a:t>
            </a:r>
            <a:r>
              <a:rPr b="0" i="0" lang="fr" sz="750" u="none" cap="none" strike="noStrike">
                <a:solidFill>
                  <a:srgbClr val="9A8FC0"/>
                </a:solidFill>
                <a:latin typeface="Courier New"/>
                <a:ea typeface="Courier New"/>
                <a:cs typeface="Courier New"/>
                <a:sym typeface="Courier New"/>
              </a:rPr>
              <a:t>// port OUT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transactionRecorderPort.</a:t>
            </a:r>
            <a:r>
              <a:rPr b="1" i="0" lang="fr" sz="750" u="none" cap="none" strike="noStrike">
                <a:solidFill>
                  <a:srgbClr val="9BA2FF"/>
                </a:solidFill>
                <a:latin typeface="Courier New"/>
                <a:ea typeface="Courier New"/>
                <a:cs typeface="Courier New"/>
                <a:sym typeface="Courier New"/>
              </a:rPr>
              <a:t>record</a:t>
            </a:r>
            <a:r>
              <a:rPr b="0" i="0" lang="fr" sz="750" u="none" cap="none" strike="noStrike">
                <a:solidFill>
                  <a:srgbClr val="EDE7FF"/>
                </a:solidFill>
                <a:latin typeface="Courier New"/>
                <a:ea typeface="Courier New"/>
                <a:cs typeface="Courier New"/>
                <a:sym typeface="Courier New"/>
              </a:rPr>
              <a:t>(       </a:t>
            </a:r>
            <a:r>
              <a:rPr b="0" i="0" lang="fr" sz="750" u="none" cap="none" strike="noStrike">
                <a:solidFill>
                  <a:srgbClr val="9A8FC0"/>
                </a:solidFill>
                <a:latin typeface="Courier New"/>
                <a:ea typeface="Courier New"/>
                <a:cs typeface="Courier New"/>
                <a:sym typeface="Courier New"/>
              </a:rPr>
              <a:t>// port OUT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        iban, </a:t>
            </a:r>
            <a:r>
              <a:rPr b="0" i="0" lang="fr" sz="750" u="none" cap="none" strike="noStrike">
                <a:solidFill>
                  <a:srgbClr val="00D6C0"/>
                </a:solidFill>
                <a:latin typeface="Courier New"/>
                <a:ea typeface="Courier New"/>
                <a:cs typeface="Courier New"/>
                <a:sym typeface="Courier New"/>
              </a:rPr>
              <a:t>"DEPOSIT"</a:t>
            </a:r>
            <a:r>
              <a:rPr b="0" i="0" lang="fr" sz="750" u="none" cap="none" strike="noStrike">
                <a:solidFill>
                  <a:srgbClr val="EDE7FF"/>
                </a:solidFill>
                <a:latin typeface="Courier New"/>
                <a:ea typeface="Courier New"/>
                <a:cs typeface="Courier New"/>
                <a:sym typeface="Courier New"/>
              </a:rPr>
              <a:t>, amount);</a:t>
            </a:r>
            <a:endParaRPr/>
          </a:p>
          <a:p>
            <a:pPr indent="0" lvl="0" marL="0" marR="0" rtl="0" algn="l">
              <a:lnSpc>
                <a:spcPct val="100000"/>
              </a:lnSpc>
              <a:spcBef>
                <a:spcPts val="0"/>
              </a:spcBef>
              <a:spcAft>
                <a:spcPts val="0"/>
              </a:spcAft>
              <a:buClr>
                <a:srgbClr val="000000"/>
              </a:buClr>
              <a:buSzPts val="750"/>
              <a:buFont typeface="Arial"/>
              <a:buNone/>
            </a:pPr>
            <a:r>
              <a:rPr b="0" i="0" lang="fr" sz="750" u="none" cap="none" strike="noStrike">
                <a:solidFill>
                  <a:srgbClr val="EDE7FF"/>
                </a:solidFill>
                <a:latin typeface="Courier New"/>
                <a:ea typeface="Courier New"/>
                <a:cs typeface="Courier New"/>
                <a:sym typeface="Courier New"/>
              </a:rPr>
              <a:t>}</a:t>
            </a:r>
            <a:endParaRPr/>
          </a:p>
        </p:txBody>
      </p:sp>
      <p:sp>
        <p:nvSpPr>
          <p:cNvPr id="374" name="Google Shape;374;p35"/>
          <p:cNvSpPr/>
          <p:nvPr/>
        </p:nvSpPr>
        <p:spPr>
          <a:xfrm>
            <a:off x="502920" y="3337560"/>
            <a:ext cx="2560200" cy="12345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35"/>
          <p:cNvSpPr txBox="1"/>
          <p:nvPr/>
        </p:nvSpPr>
        <p:spPr>
          <a:xfrm>
            <a:off x="667512" y="3429000"/>
            <a:ext cx="22404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00D6C0"/>
                </a:solidFill>
                <a:latin typeface="Arial"/>
                <a:ea typeface="Arial"/>
                <a:cs typeface="Arial"/>
                <a:sym typeface="Arial"/>
              </a:rPr>
              <a:t>CONTRAT</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Décrit </a:t>
            </a:r>
            <a:r>
              <a:rPr b="1" i="0" lang="fr" sz="1000" u="none" cap="none" strike="noStrike">
                <a:solidFill>
                  <a:srgbClr val="FFFFFF"/>
                </a:solidFill>
                <a:latin typeface="Arial"/>
                <a:ea typeface="Arial"/>
                <a:cs typeface="Arial"/>
                <a:sym typeface="Arial"/>
              </a:rPr>
              <a:t>exactement</a:t>
            </a:r>
            <a:r>
              <a:rPr b="0" i="0" lang="fr" sz="1000" u="none" cap="none" strike="noStrike">
                <a:solidFill>
                  <a:srgbClr val="FFFFFF"/>
                </a:solidFill>
                <a:latin typeface="Arial"/>
                <a:ea typeface="Arial"/>
                <a:cs typeface="Arial"/>
                <a:sym typeface="Arial"/>
              </a:rPr>
              <a:t> les méthodes de persistance dont le métier a besoin</a:t>
            </a:r>
            <a:endParaRPr/>
          </a:p>
        </p:txBody>
      </p:sp>
      <p:sp>
        <p:nvSpPr>
          <p:cNvPr id="376" name="Google Shape;376;p35"/>
          <p:cNvSpPr/>
          <p:nvPr/>
        </p:nvSpPr>
        <p:spPr>
          <a:xfrm>
            <a:off x="3246120" y="3337560"/>
            <a:ext cx="2560200" cy="12345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35"/>
          <p:cNvSpPr txBox="1"/>
          <p:nvPr/>
        </p:nvSpPr>
        <p:spPr>
          <a:xfrm>
            <a:off x="3410712" y="3429000"/>
            <a:ext cx="22404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00D6C0"/>
                </a:solidFill>
                <a:latin typeface="Arial"/>
                <a:ea typeface="Arial"/>
                <a:cs typeface="Arial"/>
                <a:sym typeface="Arial"/>
              </a:rPr>
              <a:t>ZÉRO DÉPENDANCE</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De simples interfaces : les </a:t>
            </a:r>
            <a:r>
              <a:rPr b="1" i="0" lang="fr" sz="1000" u="none" cap="none" strike="noStrike">
                <a:solidFill>
                  <a:srgbClr val="FFFFFF"/>
                </a:solidFill>
                <a:latin typeface="Arial"/>
                <a:ea typeface="Arial"/>
                <a:cs typeface="Arial"/>
                <a:sym typeface="Arial"/>
              </a:rPr>
              <a:t>miroirs</a:t>
            </a:r>
            <a:r>
              <a:rPr b="0" i="0" lang="fr" sz="1000" u="none" cap="none" strike="noStrike">
                <a:solidFill>
                  <a:srgbClr val="FFFFFF"/>
                </a:solidFill>
                <a:latin typeface="Arial"/>
                <a:ea typeface="Arial"/>
                <a:cs typeface="Arial"/>
                <a:sym typeface="Arial"/>
              </a:rPr>
              <a:t> des méthodes qui porteront les dépendances</a:t>
            </a:r>
            <a:endParaRPr/>
          </a:p>
        </p:txBody>
      </p:sp>
      <p:sp>
        <p:nvSpPr>
          <p:cNvPr id="378" name="Google Shape;378;p35"/>
          <p:cNvSpPr/>
          <p:nvPr/>
        </p:nvSpPr>
        <p:spPr>
          <a:xfrm>
            <a:off x="5989320" y="3337560"/>
            <a:ext cx="2560200" cy="12345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35"/>
          <p:cNvSpPr txBox="1"/>
          <p:nvPr/>
        </p:nvSpPr>
        <p:spPr>
          <a:xfrm>
            <a:off x="6153912" y="3429000"/>
            <a:ext cx="2240400" cy="109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00D6C0"/>
                </a:solidFill>
                <a:latin typeface="Arial"/>
                <a:ea typeface="Arial"/>
                <a:cs typeface="Arial"/>
                <a:sym typeface="Arial"/>
              </a:rPr>
              <a:t>UTILISATION</a:t>
            </a:r>
            <a:endParaRPr/>
          </a:p>
          <a:p>
            <a:pPr indent="0" lvl="0" marL="0" marR="0" rtl="0" algn="l">
              <a:lnSpc>
                <a:spcPct val="100000"/>
              </a:lnSpc>
              <a:spcBef>
                <a:spcPts val="30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Le service appelle </a:t>
            </a:r>
            <a:r>
              <a:rPr b="1" i="0" lang="fr" sz="1000" u="none" cap="none" strike="noStrike">
                <a:solidFill>
                  <a:srgbClr val="FFFFFF"/>
                </a:solidFill>
                <a:latin typeface="Arial"/>
                <a:ea typeface="Arial"/>
                <a:cs typeface="Arial"/>
                <a:sym typeface="Arial"/>
              </a:rPr>
              <a:t>un ou plusieurs ports OUT</a:t>
            </a:r>
            <a:r>
              <a:rPr b="0" i="0" lang="fr" sz="1000" u="none" cap="none" strike="noStrike">
                <a:solidFill>
                  <a:srgbClr val="FFFFFF"/>
                </a:solidFill>
                <a:latin typeface="Arial"/>
                <a:ea typeface="Arial"/>
                <a:cs typeface="Arial"/>
                <a:sym typeface="Arial"/>
              </a:rPr>
              <a:t> pour bâtir la réponse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83" name="Shape 383"/>
        <p:cNvGrpSpPr/>
        <p:nvPr/>
      </p:nvGrpSpPr>
      <p:grpSpPr>
        <a:xfrm>
          <a:off x="0" y="0"/>
          <a:ext cx="0" cy="0"/>
          <a:chOff x="0" y="0"/>
          <a:chExt cx="0" cy="0"/>
        </a:xfrm>
      </p:grpSpPr>
      <p:sp>
        <p:nvSpPr>
          <p:cNvPr id="384" name="Google Shape;384;p36"/>
          <p:cNvSpPr txBox="1"/>
          <p:nvPr>
            <p:ph type="ctrTitle"/>
          </p:nvPr>
        </p:nvSpPr>
        <p:spPr>
          <a:xfrm>
            <a:off x="365760" y="2057400"/>
            <a:ext cx="42978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fr" sz="3200"/>
              <a:t>ADAPTERS &amp;</a:t>
            </a:r>
            <a:endParaRPr sz="3200"/>
          </a:p>
          <a:p>
            <a:pPr indent="0" lvl="0" marL="0" rtl="0" algn="l">
              <a:lnSpc>
                <a:spcPct val="100000"/>
              </a:lnSpc>
              <a:spcBef>
                <a:spcPts val="0"/>
              </a:spcBef>
              <a:spcAft>
                <a:spcPts val="0"/>
              </a:spcAft>
              <a:buSzPts val="3600"/>
              <a:buNone/>
            </a:pPr>
            <a:r>
              <a:rPr lang="fr" sz="3200"/>
              <a:t>INDÉPENDANCE TECHNIQUE</a:t>
            </a:r>
            <a:endParaRPr sz="3200"/>
          </a:p>
          <a:p>
            <a:pPr indent="0" lvl="0" marL="0" rtl="0" algn="l">
              <a:lnSpc>
                <a:spcPct val="100000"/>
              </a:lnSpc>
              <a:spcBef>
                <a:spcPts val="0"/>
              </a:spcBef>
              <a:spcAft>
                <a:spcPts val="0"/>
              </a:spcAft>
              <a:buSzPts val="3600"/>
              <a:buNone/>
            </a:pPr>
            <a:r>
              <a:t/>
            </a:r>
            <a:endParaRPr sz="3200"/>
          </a:p>
        </p:txBody>
      </p:sp>
      <p:sp>
        <p:nvSpPr>
          <p:cNvPr id="385" name="Google Shape;385;p36"/>
          <p:cNvSpPr txBox="1"/>
          <p:nvPr/>
        </p:nvSpPr>
        <p:spPr>
          <a:xfrm>
            <a:off x="457200" y="1097280"/>
            <a:ext cx="2286000" cy="96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fr" sz="6000" u="none" cap="none" strike="noStrike">
                <a:solidFill>
                  <a:srgbClr val="FFFFFF"/>
                </a:solidFill>
                <a:latin typeface="Arial"/>
                <a:ea typeface="Arial"/>
                <a:cs typeface="Arial"/>
                <a:sym typeface="Arial"/>
              </a:rPr>
              <a:t>0</a:t>
            </a:r>
            <a:r>
              <a:rPr b="1" lang="fr" sz="6000">
                <a:solidFill>
                  <a:srgbClr val="FFFFFF"/>
                </a:solidFill>
              </a:rPr>
              <a:t>3</a:t>
            </a:r>
            <a:endParaRPr/>
          </a:p>
        </p:txBody>
      </p:sp>
      <p:sp>
        <p:nvSpPr>
          <p:cNvPr id="386" name="Google Shape;386;p36"/>
          <p:cNvSpPr txBox="1"/>
          <p:nvPr/>
        </p:nvSpPr>
        <p:spPr>
          <a:xfrm>
            <a:off x="4892040" y="1600200"/>
            <a:ext cx="3108900" cy="2194500"/>
          </a:xfrm>
          <a:prstGeom prst="rect">
            <a:avLst/>
          </a:prstGeom>
          <a:noFill/>
          <a:ln>
            <a:noFill/>
          </a:ln>
        </p:spPr>
        <p:txBody>
          <a:bodyPr anchorCtr="0" anchor="ctr" bIns="0" lIns="0" spcFirstLastPara="1" rIns="0" wrap="square" tIns="0">
            <a:noAutofit/>
          </a:bodyPr>
          <a:lstStyle/>
          <a:p>
            <a:pPr indent="-182880" lvl="0" marL="182880" marR="0" rtl="0" algn="l">
              <a:lnSpc>
                <a:spcPct val="100000"/>
              </a:lnSpc>
              <a:spcBef>
                <a:spcPts val="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Le parcours d’une requête</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Adapter IN / Adapter OUT</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Cas concret : la persistance</a:t>
            </a:r>
            <a:endParaRPr/>
          </a:p>
          <a:p>
            <a:pPr indent="-182880" lvl="0" marL="182880" marR="0" rtl="0" algn="l">
              <a:lnSpc>
                <a:spcPct val="100000"/>
              </a:lnSpc>
              <a:spcBef>
                <a:spcPts val="800"/>
              </a:spcBef>
              <a:spcAft>
                <a:spcPts val="0"/>
              </a:spcAft>
              <a:buClr>
                <a:schemeClr val="dk2"/>
              </a:buClr>
              <a:buSzPts val="1300"/>
              <a:buFont typeface="Arial"/>
              <a:buChar char="•"/>
            </a:pPr>
            <a:r>
              <a:rPr b="0" i="0" lang="fr" sz="1300" u="none" cap="none" strike="noStrike">
                <a:solidFill>
                  <a:srgbClr val="FFFFFF"/>
                </a:solidFill>
                <a:latin typeface="Arial"/>
                <a:ea typeface="Arial"/>
                <a:cs typeface="Arial"/>
                <a:sym typeface="Arial"/>
              </a:rPr>
              <a:t>Des services indépendants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390" name="Shape 390"/>
        <p:cNvGrpSpPr/>
        <p:nvPr/>
      </p:nvGrpSpPr>
      <p:grpSpPr>
        <a:xfrm>
          <a:off x="0" y="0"/>
          <a:ext cx="0" cy="0"/>
          <a:chOff x="0" y="0"/>
          <a:chExt cx="0" cy="0"/>
        </a:xfrm>
      </p:grpSpPr>
      <p:sp>
        <p:nvSpPr>
          <p:cNvPr id="391" name="Google Shape;391;p37"/>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LE PARCOURS D'UNE REQUÊTE</a:t>
            </a:r>
            <a:endParaRPr/>
          </a:p>
        </p:txBody>
      </p:sp>
      <p:sp>
        <p:nvSpPr>
          <p:cNvPr id="392" name="Google Shape;392;p37"/>
          <p:cNvSpPr/>
          <p:nvPr/>
        </p:nvSpPr>
        <p:spPr>
          <a:xfrm>
            <a:off x="411480" y="1417320"/>
            <a:ext cx="1828800" cy="868800"/>
          </a:xfrm>
          <a:prstGeom prst="roundRect">
            <a:avLst>
              <a:gd fmla="val 8000" name="adj"/>
            </a:avLst>
          </a:prstGeom>
          <a:solidFill>
            <a:srgbClr val="FFFFFF">
              <a:alpha val="14900"/>
            </a:srgbClr>
          </a:solidFill>
          <a:ln cap="flat" cmpd="sng" w="9525">
            <a:solidFill>
              <a:srgbClr val="FFFFFF">
                <a:alpha val="90200"/>
              </a:srgbClr>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FFFFFF"/>
                </a:solidFill>
                <a:latin typeface="Arial"/>
                <a:ea typeface="Arial"/>
                <a:cs typeface="Arial"/>
                <a:sym typeface="Arial"/>
              </a:rPr>
              <a:t>REQUÊTE HTTP</a:t>
            </a:r>
            <a:endParaRPr/>
          </a:p>
          <a:p>
            <a:pPr indent="0" lvl="0" marL="0" marR="0" rtl="0" algn="ctr">
              <a:lnSpc>
                <a:spcPct val="100000"/>
              </a:lnSpc>
              <a:spcBef>
                <a:spcPts val="200"/>
              </a:spcBef>
              <a:spcAft>
                <a:spcPts val="0"/>
              </a:spcAft>
              <a:buClr>
                <a:srgbClr val="000000"/>
              </a:buClr>
              <a:buSzPts val="950"/>
              <a:buFont typeface="Arial"/>
              <a:buNone/>
            </a:pPr>
            <a:r>
              <a:rPr b="0" i="0" lang="fr" sz="950" u="none" cap="none" strike="noStrike">
                <a:solidFill>
                  <a:srgbClr val="FFFFFF"/>
                </a:solidFill>
                <a:latin typeface="Arial"/>
                <a:ea typeface="Arial"/>
                <a:cs typeface="Arial"/>
                <a:sym typeface="Arial"/>
              </a:rPr>
              <a:t>POST /api/accounts/{iban}/withdraw</a:t>
            </a:r>
            <a:endParaRPr/>
          </a:p>
        </p:txBody>
      </p:sp>
      <p:cxnSp>
        <p:nvCxnSpPr>
          <p:cNvPr id="393" name="Google Shape;393;p37"/>
          <p:cNvCxnSpPr/>
          <p:nvPr/>
        </p:nvCxnSpPr>
        <p:spPr>
          <a:xfrm>
            <a:off x="2240280" y="184708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394" name="Google Shape;394;p37"/>
          <p:cNvSpPr/>
          <p:nvPr/>
        </p:nvSpPr>
        <p:spPr>
          <a:xfrm>
            <a:off x="2560320" y="1417320"/>
            <a:ext cx="1828800" cy="868800"/>
          </a:xfrm>
          <a:prstGeom prst="roundRect">
            <a:avLst>
              <a:gd fmla="val 8000" name="adj"/>
            </a:avLst>
          </a:prstGeom>
          <a:solidFill>
            <a:srgbClr val="2A1570">
              <a:alpha val="80000"/>
            </a:srgbClr>
          </a:solidFill>
          <a:ln cap="flat" cmpd="sng" w="9525">
            <a:solidFill>
              <a:srgbClr val="FFFFFF">
                <a:alpha val="70200"/>
              </a:srgbClr>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FFFFFF"/>
                </a:solidFill>
                <a:latin typeface="Arial"/>
                <a:ea typeface="Arial"/>
                <a:cs typeface="Arial"/>
                <a:sym typeface="Arial"/>
              </a:rPr>
              <a:t>ADAPTER IN (REST)</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CurrentAccountController</a:t>
            </a:r>
            <a:endParaRPr/>
          </a:p>
        </p:txBody>
      </p:sp>
      <p:cxnSp>
        <p:nvCxnSpPr>
          <p:cNvPr id="395" name="Google Shape;395;p37"/>
          <p:cNvCxnSpPr/>
          <p:nvPr/>
        </p:nvCxnSpPr>
        <p:spPr>
          <a:xfrm>
            <a:off x="4389120" y="184708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396" name="Google Shape;396;p37"/>
          <p:cNvSpPr/>
          <p:nvPr/>
        </p:nvSpPr>
        <p:spPr>
          <a:xfrm>
            <a:off x="4709160" y="1417320"/>
            <a:ext cx="1828800" cy="8688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2A1570"/>
                </a:solidFill>
                <a:latin typeface="Arial"/>
                <a:ea typeface="Arial"/>
                <a:cs typeface="Arial"/>
                <a:sym typeface="Arial"/>
              </a:rPr>
              <a:t>PORT IN</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CurrentAccountUseCase</a:t>
            </a:r>
            <a:endParaRPr/>
          </a:p>
        </p:txBody>
      </p:sp>
      <p:cxnSp>
        <p:nvCxnSpPr>
          <p:cNvPr id="397" name="Google Shape;397;p37"/>
          <p:cNvCxnSpPr/>
          <p:nvPr/>
        </p:nvCxnSpPr>
        <p:spPr>
          <a:xfrm>
            <a:off x="6537960" y="184708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398" name="Google Shape;398;p37"/>
          <p:cNvSpPr/>
          <p:nvPr/>
        </p:nvSpPr>
        <p:spPr>
          <a:xfrm>
            <a:off x="6858000" y="1417320"/>
            <a:ext cx="1828800" cy="8688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2A1570"/>
                </a:solidFill>
                <a:latin typeface="Arial"/>
                <a:ea typeface="Arial"/>
                <a:cs typeface="Arial"/>
                <a:sym typeface="Arial"/>
              </a:rPr>
              <a:t>RÈGLE MÉTIER</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Service + CurrentAccount</a:t>
            </a:r>
            <a:endParaRPr/>
          </a:p>
        </p:txBody>
      </p:sp>
      <p:cxnSp>
        <p:nvCxnSpPr>
          <p:cNvPr id="399" name="Google Shape;399;p37"/>
          <p:cNvCxnSpPr/>
          <p:nvPr/>
        </p:nvCxnSpPr>
        <p:spPr>
          <a:xfrm>
            <a:off x="7772400" y="2286000"/>
            <a:ext cx="0" cy="41160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00" name="Google Shape;400;p37"/>
          <p:cNvSpPr/>
          <p:nvPr/>
        </p:nvSpPr>
        <p:spPr>
          <a:xfrm>
            <a:off x="6858000" y="2697480"/>
            <a:ext cx="1828800" cy="8688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2A1570"/>
                </a:solidFill>
                <a:latin typeface="Arial"/>
                <a:ea typeface="Arial"/>
                <a:cs typeface="Arial"/>
                <a:sym typeface="Arial"/>
              </a:rPr>
              <a:t>PORT OUT</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CurrentAccountRepository</a:t>
            </a:r>
            <a:endParaRPr/>
          </a:p>
        </p:txBody>
      </p:sp>
      <p:cxnSp>
        <p:nvCxnSpPr>
          <p:cNvPr id="401" name="Google Shape;401;p37"/>
          <p:cNvCxnSpPr/>
          <p:nvPr/>
        </p:nvCxnSpPr>
        <p:spPr>
          <a:xfrm rot="10800000">
            <a:off x="6537900" y="312724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02" name="Google Shape;402;p37"/>
          <p:cNvSpPr/>
          <p:nvPr/>
        </p:nvSpPr>
        <p:spPr>
          <a:xfrm>
            <a:off x="4709160" y="2697480"/>
            <a:ext cx="1828800" cy="868800"/>
          </a:xfrm>
          <a:prstGeom prst="roundRect">
            <a:avLst>
              <a:gd fmla="val 8000" name="adj"/>
            </a:avLst>
          </a:prstGeom>
          <a:solidFill>
            <a:srgbClr val="2A1570">
              <a:alpha val="80000"/>
            </a:srgbClr>
          </a:solidFill>
          <a:ln cap="flat" cmpd="sng" w="9525">
            <a:solidFill>
              <a:srgbClr val="FFFFFF">
                <a:alpha val="70200"/>
              </a:srgbClr>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FFFFFF"/>
                </a:solidFill>
                <a:latin typeface="Arial"/>
                <a:ea typeface="Arial"/>
                <a:cs typeface="Arial"/>
                <a:sym typeface="Arial"/>
              </a:rPr>
              <a:t>ADAPTER OUT</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CurrentAccountAdapterOut</a:t>
            </a:r>
            <a:endParaRPr/>
          </a:p>
        </p:txBody>
      </p:sp>
      <p:cxnSp>
        <p:nvCxnSpPr>
          <p:cNvPr id="403" name="Google Shape;403;p37"/>
          <p:cNvCxnSpPr/>
          <p:nvPr/>
        </p:nvCxnSpPr>
        <p:spPr>
          <a:xfrm rot="10800000">
            <a:off x="4389060" y="312724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04" name="Google Shape;404;p37"/>
          <p:cNvSpPr/>
          <p:nvPr/>
        </p:nvSpPr>
        <p:spPr>
          <a:xfrm>
            <a:off x="2560320" y="2697480"/>
            <a:ext cx="1828800" cy="868800"/>
          </a:xfrm>
          <a:prstGeom prst="roundRect">
            <a:avLst>
              <a:gd fmla="val 8000" name="adj"/>
            </a:avLst>
          </a:prstGeom>
          <a:solidFill>
            <a:srgbClr val="2A1570">
              <a:alpha val="80000"/>
            </a:srgbClr>
          </a:solidFill>
          <a:ln cap="flat" cmpd="sng" w="9525">
            <a:solidFill>
              <a:srgbClr val="FFFFFF">
                <a:alpha val="70200"/>
              </a:srgbClr>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FFFFFF"/>
                </a:solidFill>
                <a:latin typeface="Arial"/>
                <a:ea typeface="Arial"/>
                <a:cs typeface="Arial"/>
                <a:sym typeface="Arial"/>
              </a:rPr>
              <a:t>JPA / HIBERNATE</a:t>
            </a:r>
            <a:endParaRPr/>
          </a:p>
          <a:p>
            <a:pPr indent="0" lvl="0" marL="0" marR="0" rtl="0" algn="ctr">
              <a:lnSpc>
                <a:spcPct val="100000"/>
              </a:lnSpc>
              <a:spcBef>
                <a:spcPts val="200"/>
              </a:spcBef>
              <a:spcAft>
                <a:spcPts val="0"/>
              </a:spcAft>
              <a:buClr>
                <a:srgbClr val="000000"/>
              </a:buClr>
              <a:buSzPts val="950"/>
              <a:buFont typeface="Arial"/>
              <a:buNone/>
            </a:pPr>
            <a:r>
              <a:rPr b="1" i="0" lang="fr" sz="950" u="none" cap="none" strike="noStrike">
                <a:solidFill>
                  <a:srgbClr val="FFFFFF"/>
                </a:solidFill>
                <a:latin typeface="Arial"/>
                <a:ea typeface="Arial"/>
                <a:cs typeface="Arial"/>
                <a:sym typeface="Arial"/>
              </a:rPr>
              <a:t>AccountEntityRepository</a:t>
            </a:r>
            <a:endParaRPr/>
          </a:p>
        </p:txBody>
      </p:sp>
      <p:cxnSp>
        <p:nvCxnSpPr>
          <p:cNvPr id="405" name="Google Shape;405;p37"/>
          <p:cNvCxnSpPr/>
          <p:nvPr/>
        </p:nvCxnSpPr>
        <p:spPr>
          <a:xfrm rot="10800000">
            <a:off x="2240220" y="3127248"/>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06" name="Google Shape;406;p37"/>
          <p:cNvSpPr/>
          <p:nvPr/>
        </p:nvSpPr>
        <p:spPr>
          <a:xfrm>
            <a:off x="411480" y="2697480"/>
            <a:ext cx="1828800" cy="868800"/>
          </a:xfrm>
          <a:prstGeom prst="roundRect">
            <a:avLst>
              <a:gd fmla="val 8000" name="adj"/>
            </a:avLst>
          </a:prstGeom>
          <a:solidFill>
            <a:srgbClr val="FFFFFF">
              <a:alpha val="14900"/>
            </a:srgbClr>
          </a:solidFill>
          <a:ln cap="flat" cmpd="sng" w="9525">
            <a:solidFill>
              <a:srgbClr val="FFFFFF">
                <a:alpha val="90200"/>
              </a:srgbClr>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Clr>
                <a:srgbClr val="000000"/>
              </a:buClr>
              <a:buSzPts val="800"/>
              <a:buFont typeface="Arial"/>
              <a:buNone/>
            </a:pPr>
            <a:r>
              <a:rPr b="1" i="0" lang="fr" sz="800" u="none" cap="none" strike="noStrike">
                <a:solidFill>
                  <a:srgbClr val="FFFFFF"/>
                </a:solidFill>
                <a:latin typeface="Arial"/>
                <a:ea typeface="Arial"/>
                <a:cs typeface="Arial"/>
                <a:sym typeface="Arial"/>
              </a:rPr>
              <a:t>PERSISTANCE</a:t>
            </a:r>
            <a:endParaRPr/>
          </a:p>
          <a:p>
            <a:pPr indent="0" lvl="0" marL="0" marR="0" rtl="0" algn="ctr">
              <a:lnSpc>
                <a:spcPct val="100000"/>
              </a:lnSpc>
              <a:spcBef>
                <a:spcPts val="200"/>
              </a:spcBef>
              <a:spcAft>
                <a:spcPts val="0"/>
              </a:spcAft>
              <a:buClr>
                <a:srgbClr val="000000"/>
              </a:buClr>
              <a:buSzPts val="950"/>
              <a:buFont typeface="Arial"/>
              <a:buNone/>
            </a:pPr>
            <a:r>
              <a:rPr b="0" i="0" lang="fr" sz="950" u="none" cap="none" strike="noStrike">
                <a:solidFill>
                  <a:srgbClr val="FFFFFF"/>
                </a:solidFill>
                <a:latin typeface="Arial"/>
                <a:ea typeface="Arial"/>
                <a:cs typeface="Arial"/>
                <a:sym typeface="Arial"/>
              </a:rPr>
              <a:t>Base H2</a:t>
            </a:r>
            <a:endParaRPr/>
          </a:p>
        </p:txBody>
      </p:sp>
      <p:sp>
        <p:nvSpPr>
          <p:cNvPr id="407" name="Google Shape;407;p37"/>
          <p:cNvSpPr/>
          <p:nvPr/>
        </p:nvSpPr>
        <p:spPr>
          <a:xfrm>
            <a:off x="411480" y="3931920"/>
            <a:ext cx="274200" cy="201300"/>
          </a:xfrm>
          <a:prstGeom prst="roundRect">
            <a:avLst>
              <a:gd fmla="val 20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37"/>
          <p:cNvSpPr txBox="1"/>
          <p:nvPr/>
        </p:nvSpPr>
        <p:spPr>
          <a:xfrm>
            <a:off x="777240" y="3886200"/>
            <a:ext cx="2743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Code sans dépendance (domaine + ports)</a:t>
            </a:r>
            <a:endParaRPr/>
          </a:p>
        </p:txBody>
      </p:sp>
      <p:sp>
        <p:nvSpPr>
          <p:cNvPr id="409" name="Google Shape;409;p37"/>
          <p:cNvSpPr/>
          <p:nvPr/>
        </p:nvSpPr>
        <p:spPr>
          <a:xfrm>
            <a:off x="3657600" y="3931920"/>
            <a:ext cx="274200" cy="201300"/>
          </a:xfrm>
          <a:prstGeom prst="roundRect">
            <a:avLst>
              <a:gd fmla="val 20000" name="adj"/>
            </a:avLst>
          </a:prstGeom>
          <a:solidFill>
            <a:srgbClr val="2A1570">
              <a:alpha val="80000"/>
            </a:srgbClr>
          </a:solidFill>
          <a:ln cap="flat" cmpd="sng" w="9525">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0" name="Google Shape;410;p37"/>
          <p:cNvSpPr txBox="1"/>
          <p:nvPr/>
        </p:nvSpPr>
        <p:spPr>
          <a:xfrm>
            <a:off x="4023360" y="3886200"/>
            <a:ext cx="3108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fr" sz="1000" u="none" cap="none" strike="noStrike">
                <a:solidFill>
                  <a:srgbClr val="FFFFFF"/>
                </a:solidFill>
                <a:latin typeface="Arial"/>
                <a:ea typeface="Arial"/>
                <a:cs typeface="Arial"/>
                <a:sym typeface="Arial"/>
              </a:rPr>
              <a:t>Code couplé à la technique (Spring, JPA, HTTP)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14" name="Shape 414"/>
        <p:cNvGrpSpPr/>
        <p:nvPr/>
      </p:nvGrpSpPr>
      <p:grpSpPr>
        <a:xfrm>
          <a:off x="0" y="0"/>
          <a:ext cx="0" cy="0"/>
          <a:chOff x="0" y="0"/>
          <a:chExt cx="0" cy="0"/>
        </a:xfrm>
      </p:grpSpPr>
      <p:sp>
        <p:nvSpPr>
          <p:cNvPr id="415" name="Google Shape;415;p38"/>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ADAPTER IN &amp; ADAPTER OUT</a:t>
            </a:r>
            <a:endParaRPr/>
          </a:p>
        </p:txBody>
      </p:sp>
      <p:sp>
        <p:nvSpPr>
          <p:cNvPr id="416" name="Google Shape;416;p38"/>
          <p:cNvSpPr/>
          <p:nvPr/>
        </p:nvSpPr>
        <p:spPr>
          <a:xfrm>
            <a:off x="502920" y="1371600"/>
            <a:ext cx="3931800" cy="32460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38"/>
          <p:cNvSpPr/>
          <p:nvPr/>
        </p:nvSpPr>
        <p:spPr>
          <a:xfrm>
            <a:off x="705916" y="1528876"/>
            <a:ext cx="599700" cy="599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signin.png" id="418" name="Google Shape;418;p38"/>
          <p:cNvPicPr preferRelativeResize="0"/>
          <p:nvPr/>
        </p:nvPicPr>
        <p:blipFill rotWithShape="1">
          <a:blip r:embed="rId3">
            <a:alphaModFix/>
          </a:blip>
          <a:srcRect b="0" l="0" r="0" t="0"/>
          <a:stretch/>
        </p:blipFill>
        <p:spPr>
          <a:xfrm>
            <a:off x="822960" y="1645920"/>
            <a:ext cx="365760" cy="365760"/>
          </a:xfrm>
          <a:prstGeom prst="rect">
            <a:avLst/>
          </a:prstGeom>
          <a:noFill/>
          <a:ln>
            <a:noFill/>
          </a:ln>
        </p:spPr>
      </p:pic>
      <p:sp>
        <p:nvSpPr>
          <p:cNvPr id="419" name="Google Shape;419;p38"/>
          <p:cNvSpPr txBox="1"/>
          <p:nvPr/>
        </p:nvSpPr>
        <p:spPr>
          <a:xfrm>
            <a:off x="1508760" y="160020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FFFFFF"/>
                </a:solidFill>
                <a:latin typeface="Arial"/>
                <a:ea typeface="Arial"/>
                <a:cs typeface="Arial"/>
                <a:sym typeface="Arial"/>
              </a:rPr>
              <a:t>ADAPTER IN</a:t>
            </a:r>
            <a:endParaRPr/>
          </a:p>
        </p:txBody>
      </p:sp>
      <p:sp>
        <p:nvSpPr>
          <p:cNvPr id="420" name="Google Shape;420;p38"/>
          <p:cNvSpPr txBox="1"/>
          <p:nvPr/>
        </p:nvSpPr>
        <p:spPr>
          <a:xfrm>
            <a:off x="777240" y="2286000"/>
            <a:ext cx="3474600" cy="13716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E5B2CA"/>
              </a:buClr>
              <a:buSzPts val="1150"/>
              <a:buFont typeface="Arial"/>
              <a:buChar char="•"/>
            </a:pPr>
            <a:r>
              <a:rPr b="0" i="0" lang="fr" sz="1150" u="none" cap="none" strike="noStrike">
                <a:solidFill>
                  <a:srgbClr val="FFFFFF"/>
                </a:solidFill>
                <a:latin typeface="Arial"/>
                <a:ea typeface="Arial"/>
                <a:cs typeface="Arial"/>
                <a:sym typeface="Arial"/>
              </a:rPr>
              <a:t>Porte d'</a:t>
            </a:r>
            <a:r>
              <a:rPr b="1" i="0" lang="fr" sz="1150" u="none" cap="none" strike="noStrike">
                <a:solidFill>
                  <a:srgbClr val="FFFFFF"/>
                </a:solidFill>
                <a:latin typeface="Arial"/>
                <a:ea typeface="Arial"/>
                <a:cs typeface="Arial"/>
                <a:sym typeface="Arial"/>
              </a:rPr>
              <a:t>entrée</a:t>
            </a:r>
            <a:r>
              <a:rPr b="0" i="0" lang="fr" sz="1150" u="none" cap="none" strike="noStrike">
                <a:solidFill>
                  <a:srgbClr val="FFFFFF"/>
                </a:solidFill>
                <a:latin typeface="Arial"/>
                <a:ea typeface="Arial"/>
                <a:cs typeface="Arial"/>
                <a:sym typeface="Arial"/>
              </a:rPr>
              <a:t> du service</a:t>
            </a:r>
            <a:endParaRPr/>
          </a:p>
          <a:p>
            <a:pPr indent="-182880" lvl="0" marL="182880" marR="0" rtl="0" algn="l">
              <a:lnSpc>
                <a:spcPct val="100000"/>
              </a:lnSpc>
              <a:spcBef>
                <a:spcPts val="600"/>
              </a:spcBef>
              <a:spcAft>
                <a:spcPts val="0"/>
              </a:spcAft>
              <a:buClr>
                <a:srgbClr val="E5B2CA"/>
              </a:buClr>
              <a:buSzPts val="1150"/>
              <a:buFont typeface="Arial"/>
              <a:buChar char="•"/>
            </a:pPr>
            <a:r>
              <a:rPr b="0" i="0" lang="fr" sz="1150" u="none" cap="none" strike="noStrike">
                <a:solidFill>
                  <a:srgbClr val="FFFFFF"/>
                </a:solidFill>
                <a:latin typeface="Arial"/>
                <a:ea typeface="Arial"/>
                <a:cs typeface="Arial"/>
                <a:sym typeface="Arial"/>
              </a:rPr>
              <a:t>Traduit une demande extérieure (HTTP, JSON, JWT) en appel d'un </a:t>
            </a:r>
            <a:r>
              <a:rPr b="1" i="0" lang="fr" sz="1150" u="none" cap="none" strike="noStrike">
                <a:solidFill>
                  <a:srgbClr val="FFFFFF"/>
                </a:solidFill>
                <a:latin typeface="Arial"/>
                <a:ea typeface="Arial"/>
                <a:cs typeface="Arial"/>
                <a:sym typeface="Arial"/>
              </a:rPr>
              <a:t>port IN</a:t>
            </a:r>
            <a:endParaRPr/>
          </a:p>
          <a:p>
            <a:pPr indent="-182880" lvl="0" marL="182880" marR="0" rtl="0" algn="l">
              <a:lnSpc>
                <a:spcPct val="100000"/>
              </a:lnSpc>
              <a:spcBef>
                <a:spcPts val="600"/>
              </a:spcBef>
              <a:spcAft>
                <a:spcPts val="0"/>
              </a:spcAft>
              <a:buClr>
                <a:srgbClr val="E5B2CA"/>
              </a:buClr>
              <a:buSzPts val="1150"/>
              <a:buFont typeface="Arial"/>
              <a:buChar char="•"/>
            </a:pPr>
            <a:r>
              <a:rPr b="0" i="0" lang="fr" sz="1150" u="none" cap="none" strike="noStrike">
                <a:solidFill>
                  <a:srgbClr val="FFFFFF"/>
                </a:solidFill>
                <a:latin typeface="Arial"/>
                <a:ea typeface="Arial"/>
                <a:cs typeface="Arial"/>
                <a:sym typeface="Arial"/>
              </a:rPr>
              <a:t>Ne contient aucune règle métier</a:t>
            </a:r>
            <a:endParaRPr/>
          </a:p>
        </p:txBody>
      </p:sp>
      <p:sp>
        <p:nvSpPr>
          <p:cNvPr id="421" name="Google Shape;421;p38"/>
          <p:cNvSpPr/>
          <p:nvPr/>
        </p:nvSpPr>
        <p:spPr>
          <a:xfrm>
            <a:off x="777240" y="3657600"/>
            <a:ext cx="3383400" cy="7773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38"/>
          <p:cNvSpPr txBox="1"/>
          <p:nvPr/>
        </p:nvSpPr>
        <p:spPr>
          <a:xfrm>
            <a:off x="914400" y="3749039"/>
            <a:ext cx="3108900" cy="3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5B2CA"/>
                </a:solidFill>
                <a:latin typeface="Courier New"/>
                <a:ea typeface="Courier New"/>
                <a:cs typeface="Courier New"/>
                <a:sym typeface="Courier New"/>
              </a:rPr>
              <a:t>@RestController</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CurrentAccountController</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CurrentAccountAdapterIn</a:t>
            </a:r>
            <a:endParaRPr/>
          </a:p>
        </p:txBody>
      </p:sp>
      <p:sp>
        <p:nvSpPr>
          <p:cNvPr id="423" name="Google Shape;423;p38"/>
          <p:cNvSpPr/>
          <p:nvPr/>
        </p:nvSpPr>
        <p:spPr>
          <a:xfrm>
            <a:off x="4663440" y="1371600"/>
            <a:ext cx="3931800" cy="32460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38"/>
          <p:cNvSpPr/>
          <p:nvPr/>
        </p:nvSpPr>
        <p:spPr>
          <a:xfrm>
            <a:off x="4866436" y="1528876"/>
            <a:ext cx="599700" cy="599700"/>
          </a:xfrm>
          <a:prstGeom prst="hexagon">
            <a:avLst>
              <a:gd fmla="val 25000" name="adj"/>
              <a:gd fmla="val 115470" name="vf"/>
            </a:avLst>
          </a:prstGeom>
          <a:solidFill>
            <a:srgbClr val="613FB8">
              <a:alpha val="85100"/>
            </a:srgbClr>
          </a:solid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b.png" id="425" name="Google Shape;425;p38"/>
          <p:cNvPicPr preferRelativeResize="0"/>
          <p:nvPr/>
        </p:nvPicPr>
        <p:blipFill rotWithShape="1">
          <a:blip r:embed="rId4">
            <a:alphaModFix/>
          </a:blip>
          <a:srcRect b="0" l="0" r="0" t="0"/>
          <a:stretch/>
        </p:blipFill>
        <p:spPr>
          <a:xfrm>
            <a:off x="4983479" y="1645920"/>
            <a:ext cx="365760" cy="365760"/>
          </a:xfrm>
          <a:prstGeom prst="rect">
            <a:avLst/>
          </a:prstGeom>
          <a:noFill/>
          <a:ln>
            <a:noFill/>
          </a:ln>
        </p:spPr>
      </p:pic>
      <p:sp>
        <p:nvSpPr>
          <p:cNvPr id="426" name="Google Shape;426;p38"/>
          <p:cNvSpPr txBox="1"/>
          <p:nvPr/>
        </p:nvSpPr>
        <p:spPr>
          <a:xfrm>
            <a:off x="5669279" y="1600200"/>
            <a:ext cx="2743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FFFFFF"/>
                </a:solidFill>
                <a:latin typeface="Arial"/>
                <a:ea typeface="Arial"/>
                <a:cs typeface="Arial"/>
                <a:sym typeface="Arial"/>
              </a:rPr>
              <a:t>ADAPTER OUT</a:t>
            </a:r>
            <a:endParaRPr/>
          </a:p>
        </p:txBody>
      </p:sp>
      <p:sp>
        <p:nvSpPr>
          <p:cNvPr id="427" name="Google Shape;427;p38"/>
          <p:cNvSpPr txBox="1"/>
          <p:nvPr/>
        </p:nvSpPr>
        <p:spPr>
          <a:xfrm>
            <a:off x="4937759" y="2286000"/>
            <a:ext cx="3474600" cy="13716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E5B2CA"/>
              </a:buClr>
              <a:buSzPts val="1150"/>
              <a:buFont typeface="Arial"/>
              <a:buChar char="•"/>
            </a:pPr>
            <a:r>
              <a:rPr b="0" i="0" lang="fr" sz="1150" u="none" cap="none" strike="noStrike">
                <a:solidFill>
                  <a:srgbClr val="FFFFFF"/>
                </a:solidFill>
                <a:latin typeface="Arial"/>
                <a:ea typeface="Arial"/>
                <a:cs typeface="Arial"/>
                <a:sym typeface="Arial"/>
              </a:rPr>
              <a:t>Porte de </a:t>
            </a:r>
            <a:r>
              <a:rPr b="1" i="0" lang="fr" sz="1150" u="none" cap="none" strike="noStrike">
                <a:solidFill>
                  <a:srgbClr val="FFFFFF"/>
                </a:solidFill>
                <a:latin typeface="Arial"/>
                <a:ea typeface="Arial"/>
                <a:cs typeface="Arial"/>
                <a:sym typeface="Arial"/>
              </a:rPr>
              <a:t>sortie</a:t>
            </a:r>
            <a:r>
              <a:rPr b="0" i="0" lang="fr" sz="1150" u="none" cap="none" strike="noStrike">
                <a:solidFill>
                  <a:srgbClr val="FFFFFF"/>
                </a:solidFill>
                <a:latin typeface="Arial"/>
                <a:ea typeface="Arial"/>
                <a:cs typeface="Arial"/>
                <a:sym typeface="Arial"/>
              </a:rPr>
              <a:t> du service</a:t>
            </a:r>
            <a:endParaRPr/>
          </a:p>
          <a:p>
            <a:pPr indent="-182880" lvl="0" marL="182880" marR="0" rtl="0" algn="l">
              <a:lnSpc>
                <a:spcPct val="100000"/>
              </a:lnSpc>
              <a:spcBef>
                <a:spcPts val="600"/>
              </a:spcBef>
              <a:spcAft>
                <a:spcPts val="0"/>
              </a:spcAft>
              <a:buClr>
                <a:srgbClr val="E5B2CA"/>
              </a:buClr>
              <a:buSzPts val="1150"/>
              <a:buFont typeface="Arial"/>
              <a:buChar char="•"/>
            </a:pPr>
            <a:r>
              <a:rPr b="1" i="0" lang="fr" sz="1150" u="none" cap="none" strike="noStrike">
                <a:solidFill>
                  <a:srgbClr val="FFFFFF"/>
                </a:solidFill>
                <a:latin typeface="Arial"/>
                <a:ea typeface="Arial"/>
                <a:cs typeface="Arial"/>
                <a:sym typeface="Arial"/>
              </a:rPr>
              <a:t>Implémente un port OUT</a:t>
            </a:r>
            <a:endParaRPr/>
          </a:p>
          <a:p>
            <a:pPr indent="-182880" lvl="0" marL="182880" marR="0" rtl="0" algn="l">
              <a:lnSpc>
                <a:spcPct val="100000"/>
              </a:lnSpc>
              <a:spcBef>
                <a:spcPts val="600"/>
              </a:spcBef>
              <a:spcAft>
                <a:spcPts val="0"/>
              </a:spcAft>
              <a:buClr>
                <a:srgbClr val="E5B2CA"/>
              </a:buClr>
              <a:buSzPts val="1150"/>
              <a:buFont typeface="Arial"/>
              <a:buChar char="•"/>
            </a:pPr>
            <a:r>
              <a:rPr b="0" i="0" lang="fr" sz="1150" u="none" cap="none" strike="noStrike">
                <a:solidFill>
                  <a:srgbClr val="FFFFFF"/>
                </a:solidFill>
                <a:latin typeface="Arial"/>
                <a:ea typeface="Arial"/>
                <a:cs typeface="Arial"/>
                <a:sym typeface="Arial"/>
              </a:rPr>
              <a:t>Porte le </a:t>
            </a:r>
            <a:r>
              <a:rPr b="1" i="0" lang="fr" sz="1150" u="none" cap="none" strike="noStrike">
                <a:solidFill>
                  <a:srgbClr val="FFFFFF"/>
                </a:solidFill>
                <a:latin typeface="Arial"/>
                <a:ea typeface="Arial"/>
                <a:cs typeface="Arial"/>
                <a:sym typeface="Arial"/>
              </a:rPr>
              <a:t>fort couplage</a:t>
            </a:r>
            <a:r>
              <a:rPr b="0" i="0" lang="fr" sz="1150" u="none" cap="none" strike="noStrike">
                <a:solidFill>
                  <a:srgbClr val="FFFFFF"/>
                </a:solidFill>
                <a:latin typeface="Arial"/>
                <a:ea typeface="Arial"/>
                <a:cs typeface="Arial"/>
                <a:sym typeface="Arial"/>
              </a:rPr>
              <a:t> : JPA, Hibernate, RestTemplate…</a:t>
            </a:r>
            <a:endParaRPr/>
          </a:p>
        </p:txBody>
      </p:sp>
      <p:sp>
        <p:nvSpPr>
          <p:cNvPr id="428" name="Google Shape;428;p38"/>
          <p:cNvSpPr/>
          <p:nvPr/>
        </p:nvSpPr>
        <p:spPr>
          <a:xfrm>
            <a:off x="4937759" y="3657600"/>
            <a:ext cx="3383400" cy="7773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38"/>
          <p:cNvSpPr txBox="1"/>
          <p:nvPr/>
        </p:nvSpPr>
        <p:spPr>
          <a:xfrm>
            <a:off x="5074920" y="3749039"/>
            <a:ext cx="3108900" cy="392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5B2CA"/>
                </a:solidFill>
                <a:latin typeface="Courier New"/>
                <a:ea typeface="Courier New"/>
                <a:cs typeface="Courier New"/>
                <a:sym typeface="Courier New"/>
              </a:rPr>
              <a:t>@Repository</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CurrentAccountAdapterOut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TransactionServiceAdapterOut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33" name="Shape 433"/>
        <p:cNvGrpSpPr/>
        <p:nvPr/>
      </p:nvGrpSpPr>
      <p:grpSpPr>
        <a:xfrm>
          <a:off x="0" y="0"/>
          <a:ext cx="0" cy="0"/>
          <a:chOff x="0" y="0"/>
          <a:chExt cx="0" cy="0"/>
        </a:xfrm>
      </p:grpSpPr>
      <p:sp>
        <p:nvSpPr>
          <p:cNvPr id="434" name="Google Shape;434;p39"/>
          <p:cNvSpPr txBox="1"/>
          <p:nvPr>
            <p:ph type="ctrTitle"/>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2"/>
              </a:buClr>
              <a:buSzPts val="3600"/>
              <a:buNone/>
            </a:pPr>
            <a:r>
              <a:rPr lang="fr" sz="3400"/>
              <a:t>CAS CONCRET : LA PERSISTANCE</a:t>
            </a:r>
            <a:endParaRPr/>
          </a:p>
        </p:txBody>
      </p:sp>
      <p:sp>
        <p:nvSpPr>
          <p:cNvPr id="435" name="Google Shape;435;p39"/>
          <p:cNvSpPr/>
          <p:nvPr/>
        </p:nvSpPr>
        <p:spPr>
          <a:xfrm>
            <a:off x="457200" y="1325880"/>
            <a:ext cx="3108900" cy="21030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39"/>
          <p:cNvSpPr txBox="1"/>
          <p:nvPr/>
        </p:nvSpPr>
        <p:spPr>
          <a:xfrm>
            <a:off x="594360" y="1399032"/>
            <a:ext cx="28347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DOMAINE</a:t>
            </a:r>
            <a:endParaRPr/>
          </a:p>
        </p:txBody>
      </p:sp>
      <p:sp>
        <p:nvSpPr>
          <p:cNvPr id="437" name="Google Shape;437;p39"/>
          <p:cNvSpPr txBox="1"/>
          <p:nvPr/>
        </p:nvSpPr>
        <p:spPr>
          <a:xfrm>
            <a:off x="594360" y="1627632"/>
            <a:ext cx="28347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850"/>
              <a:buFont typeface="Arial"/>
              <a:buNone/>
            </a:pPr>
            <a:r>
              <a:rPr b="1" lang="fr" sz="850">
                <a:solidFill>
                  <a:srgbClr val="9BA2FF"/>
                </a:solidFill>
                <a:latin typeface="Courier New"/>
                <a:ea typeface="Courier New"/>
                <a:cs typeface="Courier New"/>
                <a:sym typeface="Courier New"/>
              </a:rPr>
              <a:t>public</a:t>
            </a: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class</a:t>
            </a:r>
            <a:r>
              <a:rPr lang="fr" sz="850">
                <a:solidFill>
                  <a:srgbClr val="EDE7FF"/>
                </a:solidFill>
                <a:latin typeface="Courier New"/>
                <a:ea typeface="Courier New"/>
                <a:cs typeface="Courier New"/>
                <a:sym typeface="Courier New"/>
              </a:rPr>
              <a:t> Account {</a:t>
            </a:r>
            <a:endParaRPr/>
          </a:p>
          <a:p>
            <a:pPr indent="0" lvl="0" marL="0" rtl="0" algn="l">
              <a:spcBef>
                <a:spcPts val="0"/>
              </a:spcBef>
              <a:spcAft>
                <a:spcPts val="0"/>
              </a:spcAft>
              <a:buClr>
                <a:srgbClr val="000000"/>
              </a:buClr>
              <a:buSzPts val="850"/>
              <a:buFont typeface="Arial"/>
              <a:buNone/>
            </a:pP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private</a:t>
            </a: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String</a:t>
            </a:r>
            <a:r>
              <a:rPr lang="fr" sz="850">
                <a:solidFill>
                  <a:srgbClr val="EDE7FF"/>
                </a:solidFill>
                <a:latin typeface="Courier New"/>
                <a:ea typeface="Courier New"/>
                <a:cs typeface="Courier New"/>
                <a:sym typeface="Courier New"/>
              </a:rPr>
              <a:t> iban;</a:t>
            </a:r>
            <a:endParaRPr/>
          </a:p>
          <a:p>
            <a:pPr indent="0" lvl="0" marL="0" rtl="0" algn="l">
              <a:spcBef>
                <a:spcPts val="0"/>
              </a:spcBef>
              <a:spcAft>
                <a:spcPts val="0"/>
              </a:spcAft>
              <a:buClr>
                <a:srgbClr val="000000"/>
              </a:buClr>
              <a:buSzPts val="850"/>
              <a:buFont typeface="Arial"/>
              <a:buNone/>
            </a:pP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private</a:t>
            </a: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String</a:t>
            </a:r>
            <a:r>
              <a:rPr lang="fr" sz="850">
                <a:solidFill>
                  <a:srgbClr val="EDE7FF"/>
                </a:solidFill>
                <a:latin typeface="Courier New"/>
                <a:ea typeface="Courier New"/>
                <a:cs typeface="Courier New"/>
                <a:sym typeface="Courier New"/>
              </a:rPr>
              <a:t> clientId;</a:t>
            </a:r>
            <a:endParaRPr/>
          </a:p>
          <a:p>
            <a:pPr indent="0" lvl="0" marL="0" rtl="0" algn="l">
              <a:spcBef>
                <a:spcPts val="0"/>
              </a:spcBef>
              <a:spcAft>
                <a:spcPts val="0"/>
              </a:spcAft>
              <a:buClr>
                <a:srgbClr val="000000"/>
              </a:buClr>
              <a:buSzPts val="850"/>
              <a:buFont typeface="Arial"/>
              <a:buNone/>
            </a:pP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private</a:t>
            </a:r>
            <a:r>
              <a:rPr lang="fr" sz="850">
                <a:solidFill>
                  <a:srgbClr val="EDE7FF"/>
                </a:solidFill>
                <a:latin typeface="Courier New"/>
                <a:ea typeface="Courier New"/>
                <a:cs typeface="Courier New"/>
                <a:sym typeface="Courier New"/>
              </a:rPr>
              <a:t> </a:t>
            </a:r>
            <a:r>
              <a:rPr b="1" lang="fr" sz="850">
                <a:solidFill>
                  <a:srgbClr val="9BA2FF"/>
                </a:solidFill>
                <a:latin typeface="Courier New"/>
                <a:ea typeface="Courier New"/>
                <a:cs typeface="Courier New"/>
                <a:sym typeface="Courier New"/>
              </a:rPr>
              <a:t>double</a:t>
            </a:r>
            <a:r>
              <a:rPr lang="fr" sz="850">
                <a:solidFill>
                  <a:srgbClr val="EDE7FF"/>
                </a:solidFill>
                <a:latin typeface="Courier New"/>
                <a:ea typeface="Courier New"/>
                <a:cs typeface="Courier New"/>
                <a:sym typeface="Courier New"/>
              </a:rPr>
              <a:t> balance;</a:t>
            </a:r>
            <a:endParaRPr sz="850">
              <a:solidFill>
                <a:srgbClr val="9A8FC0"/>
              </a:solidFill>
              <a:latin typeface="Courier New"/>
              <a:ea typeface="Courier New"/>
              <a:cs typeface="Courier New"/>
              <a:sym typeface="Courier New"/>
            </a:endParaRPr>
          </a:p>
        </p:txBody>
      </p:sp>
      <p:sp>
        <p:nvSpPr>
          <p:cNvPr id="438" name="Google Shape;438;p39"/>
          <p:cNvSpPr/>
          <p:nvPr/>
        </p:nvSpPr>
        <p:spPr>
          <a:xfrm>
            <a:off x="5349240" y="1325880"/>
            <a:ext cx="3291900" cy="21030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39"/>
          <p:cNvSpPr txBox="1"/>
          <p:nvPr/>
        </p:nvSpPr>
        <p:spPr>
          <a:xfrm>
            <a:off x="5486400" y="1399032"/>
            <a:ext cx="3017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ADAPTER OUT · ENTITÉ JPA</a:t>
            </a:r>
            <a:endParaRPr/>
          </a:p>
        </p:txBody>
      </p:sp>
      <p:sp>
        <p:nvSpPr>
          <p:cNvPr id="440" name="Google Shape;440;p39"/>
          <p:cNvSpPr txBox="1"/>
          <p:nvPr/>
        </p:nvSpPr>
        <p:spPr>
          <a:xfrm>
            <a:off x="5486400" y="1627632"/>
            <a:ext cx="3017400" cy="1439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5B2CA"/>
                </a:solidFill>
                <a:latin typeface="Courier New"/>
                <a:ea typeface="Courier New"/>
                <a:cs typeface="Courier New"/>
                <a:sym typeface="Courier New"/>
              </a:rPr>
              <a:t>@Entity</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5B2CA"/>
                </a:solidFill>
                <a:latin typeface="Courier New"/>
                <a:ea typeface="Courier New"/>
                <a:cs typeface="Courier New"/>
                <a:sym typeface="Courier New"/>
              </a:rPr>
              <a:t>@Table</a:t>
            </a:r>
            <a:r>
              <a:rPr b="0" i="0" lang="fr" sz="850" u="none" cap="none" strike="noStrike">
                <a:solidFill>
                  <a:srgbClr val="EDE7FF"/>
                </a:solidFill>
                <a:latin typeface="Courier New"/>
                <a:ea typeface="Courier New"/>
                <a:cs typeface="Courier New"/>
                <a:sym typeface="Courier New"/>
              </a:rPr>
              <a:t>(name = </a:t>
            </a:r>
            <a:r>
              <a:rPr b="0" i="0" lang="fr" sz="850" u="none" cap="none" strike="noStrike">
                <a:solidFill>
                  <a:srgbClr val="00D6C0"/>
                </a:solidFill>
                <a:latin typeface="Courier New"/>
                <a:ea typeface="Courier New"/>
                <a:cs typeface="Courier New"/>
                <a:sym typeface="Courier New"/>
              </a:rPr>
              <a:t>"account"</a:t>
            </a:r>
            <a:r>
              <a:rPr b="0" i="0" lang="fr" sz="850" u="none" cap="none" strike="noStrike">
                <a:solidFill>
                  <a:srgbClr val="EDE7FF"/>
                </a:solidFill>
                <a:latin typeface="Courier New"/>
                <a:ea typeface="Courier New"/>
                <a:cs typeface="Courier New"/>
                <a:sym typeface="Courier New"/>
              </a:rPr>
              <a: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5B2CA"/>
                </a:solidFill>
                <a:latin typeface="Courier New"/>
                <a:ea typeface="Courier New"/>
                <a:cs typeface="Courier New"/>
                <a:sym typeface="Courier New"/>
              </a:rPr>
              <a:t>@Data</a:t>
            </a:r>
            <a:endParaRPr/>
          </a:p>
          <a:p>
            <a:pPr indent="0" lvl="0" marL="0" marR="0" rtl="0" algn="l">
              <a:lnSpc>
                <a:spcPct val="100000"/>
              </a:lnSpc>
              <a:spcBef>
                <a:spcPts val="0"/>
              </a:spcBef>
              <a:spcAft>
                <a:spcPts val="0"/>
              </a:spcAft>
              <a:buClr>
                <a:srgbClr val="000000"/>
              </a:buClr>
              <a:buSzPts val="850"/>
              <a:buFont typeface="Arial"/>
              <a:buNone/>
            </a:pPr>
            <a:r>
              <a:rPr b="1" i="0" lang="fr" sz="850" u="none" cap="none" strike="noStrike">
                <a:solidFill>
                  <a:srgbClr val="9BA2FF"/>
                </a:solidFill>
                <a:latin typeface="Courier New"/>
                <a:ea typeface="Courier New"/>
                <a:cs typeface="Courier New"/>
                <a:sym typeface="Courier New"/>
              </a:rPr>
              <a:t>public</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class</a:t>
            </a:r>
            <a:r>
              <a:rPr b="0" i="0" lang="fr" sz="850" u="none" cap="none" strike="noStrike">
                <a:solidFill>
                  <a:srgbClr val="EDE7FF"/>
                </a:solidFill>
                <a:latin typeface="Courier New"/>
                <a:ea typeface="Courier New"/>
                <a:cs typeface="Courier New"/>
                <a:sym typeface="Courier New"/>
              </a:rPr>
              <a:t> AccountEntity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0" i="0" lang="fr" sz="850" u="none" cap="none" strike="noStrike">
                <a:solidFill>
                  <a:srgbClr val="E5B2CA"/>
                </a:solidFill>
                <a:latin typeface="Courier New"/>
                <a:ea typeface="Courier New"/>
                <a:cs typeface="Courier New"/>
                <a:sym typeface="Courier New"/>
              </a:rPr>
              <a:t>@Id</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String</a:t>
            </a:r>
            <a:r>
              <a:rPr b="0" i="0" lang="fr" sz="850" u="none" cap="none" strike="noStrike">
                <a:solidFill>
                  <a:srgbClr val="EDE7FF"/>
                </a:solidFill>
                <a:latin typeface="Courier New"/>
                <a:ea typeface="Courier New"/>
                <a:cs typeface="Courier New"/>
                <a:sym typeface="Courier New"/>
              </a:rPr>
              <a:t> iban;</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String</a:t>
            </a:r>
            <a:r>
              <a:rPr b="0" i="0" lang="fr" sz="850" u="none" cap="none" strike="noStrike">
                <a:solidFill>
                  <a:srgbClr val="EDE7FF"/>
                </a:solidFill>
                <a:latin typeface="Courier New"/>
                <a:ea typeface="Courier New"/>
                <a:cs typeface="Courier New"/>
                <a:sym typeface="Courier New"/>
              </a:rPr>
              <a:t> clientId;</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double</a:t>
            </a:r>
            <a:r>
              <a:rPr b="0" i="0" lang="fr" sz="850" u="none" cap="none" strike="noStrike">
                <a:solidFill>
                  <a:srgbClr val="EDE7FF"/>
                </a:solidFill>
                <a:latin typeface="Courier New"/>
                <a:ea typeface="Courier New"/>
                <a:cs typeface="Courier New"/>
                <a:sym typeface="Courier New"/>
              </a:rPr>
              <a:t> balance;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0" i="0" lang="fr" sz="850" u="none" cap="none" strike="noStrike">
                <a:solidFill>
                  <a:srgbClr val="E5B2CA"/>
                </a:solidFill>
                <a:latin typeface="Courier New"/>
                <a:ea typeface="Courier New"/>
                <a:cs typeface="Courier New"/>
                <a:sym typeface="Courier New"/>
              </a:rPr>
              <a:t>@Enumerated</a:t>
            </a:r>
            <a:r>
              <a:rPr b="0" i="0" lang="fr" sz="850" u="none" cap="none" strike="noStrike">
                <a:solidFill>
                  <a:srgbClr val="EDE7FF"/>
                </a:solidFill>
                <a:latin typeface="Courier New"/>
                <a:ea typeface="Courier New"/>
                <a:cs typeface="Courier New"/>
                <a:sym typeface="Courier New"/>
              </a:rPr>
              <a:t>(EnumType.STRING)</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AccountType type;</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private</a:t>
            </a:r>
            <a:r>
              <a:rPr b="0" i="0" lang="fr" sz="850" u="none" cap="none" strike="noStrike">
                <a:solidFill>
                  <a:srgbClr val="EDE7FF"/>
                </a:solidFill>
                <a:latin typeface="Courier New"/>
                <a:ea typeface="Courier New"/>
                <a:cs typeface="Courier New"/>
                <a:sym typeface="Courier New"/>
              </a:rPr>
              <a:t> Double overdraft;</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a:t>
            </a:r>
            <a:endParaRPr/>
          </a:p>
        </p:txBody>
      </p:sp>
      <p:sp>
        <p:nvSpPr>
          <p:cNvPr id="441" name="Google Shape;441;p39"/>
          <p:cNvSpPr/>
          <p:nvPr/>
        </p:nvSpPr>
        <p:spPr>
          <a:xfrm>
            <a:off x="3749039" y="1783080"/>
            <a:ext cx="1417200" cy="1188600"/>
          </a:xfrm>
          <a:prstGeom prst="hexagon">
            <a:avLst>
              <a:gd fmla="val 25000" name="adj"/>
              <a:gd fmla="val 115470" name="vf"/>
            </a:avLst>
          </a:prstGeom>
          <a:solidFill>
            <a:srgbClr val="E5B2CA">
              <a:alpha val="92160"/>
            </a:srgbClr>
          </a:solidFill>
          <a:ln cap="flat" cmpd="sng" w="12700">
            <a:solidFill>
              <a:srgbClr val="FFFFFF"/>
            </a:solidFill>
            <a:prstDash val="solid"/>
            <a:round/>
            <a:headEnd len="sm" w="sm" type="none"/>
            <a:tailEnd len="sm" w="sm" type="none"/>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Clr>
                <a:srgbClr val="000000"/>
              </a:buClr>
              <a:buSzPts val="1100"/>
              <a:buFont typeface="Arial"/>
              <a:buNone/>
            </a:pPr>
            <a:r>
              <a:rPr b="1" i="0" lang="fr" sz="1100" u="none" cap="none" strike="noStrike">
                <a:solidFill>
                  <a:srgbClr val="2A1570"/>
                </a:solidFill>
                <a:latin typeface="Arial"/>
                <a:ea typeface="Arial"/>
                <a:cs typeface="Arial"/>
                <a:sym typeface="Arial"/>
              </a:rPr>
              <a:t>MAPPER</a:t>
            </a:r>
            <a:endParaRPr/>
          </a:p>
          <a:p>
            <a:pPr indent="0" lvl="0" marL="0" marR="0" rtl="0" algn="ctr">
              <a:lnSpc>
                <a:spcPct val="100000"/>
              </a:lnSpc>
              <a:spcBef>
                <a:spcPts val="0"/>
              </a:spcBef>
              <a:spcAft>
                <a:spcPts val="0"/>
              </a:spcAft>
              <a:buClr>
                <a:srgbClr val="000000"/>
              </a:buClr>
              <a:buSzPts val="800"/>
              <a:buFont typeface="Arial"/>
              <a:buNone/>
            </a:pPr>
            <a:r>
              <a:rPr b="0" i="0" lang="fr" sz="800" u="none" cap="none" strike="noStrike">
                <a:solidFill>
                  <a:srgbClr val="2A1570"/>
                </a:solidFill>
                <a:latin typeface="Arial"/>
                <a:ea typeface="Arial"/>
                <a:cs typeface="Arial"/>
                <a:sym typeface="Arial"/>
              </a:rPr>
              <a:t>mapToEntity</a:t>
            </a:r>
            <a:br>
              <a:rPr b="0" i="0" lang="fr" sz="800" u="none" cap="none" strike="noStrike">
                <a:solidFill>
                  <a:srgbClr val="2A1570"/>
                </a:solidFill>
                <a:latin typeface="Arial"/>
                <a:ea typeface="Arial"/>
                <a:cs typeface="Arial"/>
                <a:sym typeface="Arial"/>
              </a:rPr>
            </a:br>
            <a:r>
              <a:rPr b="0" i="0" lang="fr" sz="800" u="none" cap="none" strike="noStrike">
                <a:solidFill>
                  <a:srgbClr val="2A1570"/>
                </a:solidFill>
                <a:latin typeface="Arial"/>
                <a:ea typeface="Arial"/>
                <a:cs typeface="Arial"/>
                <a:sym typeface="Arial"/>
              </a:rPr>
              <a:t>mapToDomain</a:t>
            </a:r>
            <a:endParaRPr/>
          </a:p>
        </p:txBody>
      </p:sp>
      <p:cxnSp>
        <p:nvCxnSpPr>
          <p:cNvPr id="442" name="Google Shape;442;p39"/>
          <p:cNvCxnSpPr/>
          <p:nvPr/>
        </p:nvCxnSpPr>
        <p:spPr>
          <a:xfrm>
            <a:off x="3566160" y="2240280"/>
            <a:ext cx="1830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443" name="Google Shape;443;p39"/>
          <p:cNvCxnSpPr/>
          <p:nvPr/>
        </p:nvCxnSpPr>
        <p:spPr>
          <a:xfrm>
            <a:off x="5166360" y="2240280"/>
            <a:ext cx="1830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44" name="Google Shape;444;p39"/>
          <p:cNvSpPr/>
          <p:nvPr/>
        </p:nvSpPr>
        <p:spPr>
          <a:xfrm>
            <a:off x="457200" y="3611880"/>
            <a:ext cx="4755000" cy="1005900"/>
          </a:xfrm>
          <a:prstGeom prst="roundRect">
            <a:avLst>
              <a:gd fmla="val 4000" name="adj"/>
            </a:avLst>
          </a:prstGeom>
          <a:solidFill>
            <a:srgbClr val="1B0F45">
              <a:alpha val="80000"/>
            </a:srgbClr>
          </a:solidFill>
          <a:ln cap="flat" cmpd="sng" w="9525">
            <a:solidFill>
              <a:srgbClr val="9BA2FF">
                <a:alpha val="600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39"/>
          <p:cNvSpPr txBox="1"/>
          <p:nvPr/>
        </p:nvSpPr>
        <p:spPr>
          <a:xfrm>
            <a:off x="594360" y="3685032"/>
            <a:ext cx="44805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fr" sz="800" u="none" cap="none" strike="noStrike">
                <a:solidFill>
                  <a:srgbClr val="E5B2CA"/>
                </a:solidFill>
                <a:latin typeface="Courier New"/>
                <a:ea typeface="Courier New"/>
                <a:cs typeface="Courier New"/>
                <a:sym typeface="Courier New"/>
              </a:rPr>
              <a:t>Spring Data JPA · Hibernate</a:t>
            </a:r>
            <a:endParaRPr/>
          </a:p>
        </p:txBody>
      </p:sp>
      <p:sp>
        <p:nvSpPr>
          <p:cNvPr id="446" name="Google Shape;446;p39"/>
          <p:cNvSpPr txBox="1"/>
          <p:nvPr/>
        </p:nvSpPr>
        <p:spPr>
          <a:xfrm>
            <a:off x="594360" y="3913632"/>
            <a:ext cx="44805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50"/>
              <a:buFont typeface="Arial"/>
              <a:buNone/>
            </a:pPr>
            <a:r>
              <a:rPr b="1" i="0" lang="fr" sz="850" u="none" cap="none" strike="noStrike">
                <a:solidFill>
                  <a:srgbClr val="9BA2FF"/>
                </a:solidFill>
                <a:latin typeface="Courier New"/>
                <a:ea typeface="Courier New"/>
                <a:cs typeface="Courier New"/>
                <a:sym typeface="Courier New"/>
              </a:rPr>
              <a:t>public</a:t>
            </a: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interface</a:t>
            </a:r>
            <a:r>
              <a:rPr b="0" i="0" lang="fr" sz="850" u="none" cap="none" strike="noStrike">
                <a:solidFill>
                  <a:srgbClr val="EDE7FF"/>
                </a:solidFill>
                <a:latin typeface="Courier New"/>
                <a:ea typeface="Courier New"/>
                <a:cs typeface="Courier New"/>
                <a:sym typeface="Courier New"/>
              </a:rPr>
              <a:t> AccountEntityRepository</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extends</a:t>
            </a:r>
            <a:r>
              <a:rPr b="0" i="0" lang="fr" sz="850" u="none" cap="none" strike="noStrike">
                <a:solidFill>
                  <a:srgbClr val="EDE7FF"/>
                </a:solidFill>
                <a:latin typeface="Courier New"/>
                <a:ea typeface="Courier New"/>
                <a:cs typeface="Courier New"/>
                <a:sym typeface="Courier New"/>
              </a:rPr>
              <a:t> JpaRepository&lt;AccountEntity, </a:t>
            </a:r>
            <a:r>
              <a:rPr b="1" i="0" lang="fr" sz="850" u="none" cap="none" strike="noStrike">
                <a:solidFill>
                  <a:srgbClr val="9BA2FF"/>
                </a:solidFill>
                <a:latin typeface="Courier New"/>
                <a:ea typeface="Courier New"/>
                <a:cs typeface="Courier New"/>
                <a:sym typeface="Courier New"/>
              </a:rPr>
              <a:t>String</a:t>
            </a:r>
            <a:r>
              <a:rPr b="0" i="0" lang="fr" sz="850" u="none" cap="none" strike="noStrike">
                <a:solidFill>
                  <a:srgbClr val="EDE7FF"/>
                </a:solidFill>
                <a:latin typeface="Courier New"/>
                <a:ea typeface="Courier New"/>
                <a:cs typeface="Courier New"/>
                <a:sym typeface="Courier New"/>
              </a:rPr>
              <a:t>&gt; {</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    </a:t>
            </a:r>
            <a:r>
              <a:rPr b="1" i="0" lang="fr" sz="850" u="none" cap="none" strike="noStrike">
                <a:solidFill>
                  <a:srgbClr val="9BA2FF"/>
                </a:solidFill>
                <a:latin typeface="Courier New"/>
                <a:ea typeface="Courier New"/>
                <a:cs typeface="Courier New"/>
                <a:sym typeface="Courier New"/>
              </a:rPr>
              <a:t>List</a:t>
            </a:r>
            <a:r>
              <a:rPr b="0" i="0" lang="fr" sz="850" u="none" cap="none" strike="noStrike">
                <a:solidFill>
                  <a:srgbClr val="EDE7FF"/>
                </a:solidFill>
                <a:latin typeface="Courier New"/>
                <a:ea typeface="Courier New"/>
                <a:cs typeface="Courier New"/>
                <a:sym typeface="Courier New"/>
              </a:rPr>
              <a:t>&lt;AccountEntity&gt; findByClientId(</a:t>
            </a:r>
            <a:r>
              <a:rPr b="1" i="0" lang="fr" sz="850" u="none" cap="none" strike="noStrike">
                <a:solidFill>
                  <a:srgbClr val="9BA2FF"/>
                </a:solidFill>
                <a:latin typeface="Courier New"/>
                <a:ea typeface="Courier New"/>
                <a:cs typeface="Courier New"/>
                <a:sym typeface="Courier New"/>
              </a:rPr>
              <a:t>String</a:t>
            </a:r>
            <a:r>
              <a:rPr b="0" i="0" lang="fr" sz="850" u="none" cap="none" strike="noStrike">
                <a:solidFill>
                  <a:srgbClr val="EDE7FF"/>
                </a:solidFill>
                <a:latin typeface="Courier New"/>
                <a:ea typeface="Courier New"/>
                <a:cs typeface="Courier New"/>
                <a:sym typeface="Courier New"/>
              </a:rPr>
              <a:t> clientId);</a:t>
            </a:r>
            <a:endParaRPr/>
          </a:p>
          <a:p>
            <a:pPr indent="0" lvl="0" marL="0" marR="0" rtl="0" algn="l">
              <a:lnSpc>
                <a:spcPct val="100000"/>
              </a:lnSpc>
              <a:spcBef>
                <a:spcPts val="0"/>
              </a:spcBef>
              <a:spcAft>
                <a:spcPts val="0"/>
              </a:spcAft>
              <a:buClr>
                <a:srgbClr val="000000"/>
              </a:buClr>
              <a:buSzPts val="850"/>
              <a:buFont typeface="Arial"/>
              <a:buNone/>
            </a:pPr>
            <a:r>
              <a:rPr b="0" i="0" lang="fr" sz="850" u="none" cap="none" strike="noStrike">
                <a:solidFill>
                  <a:srgbClr val="EDE7FF"/>
                </a:solidFill>
                <a:latin typeface="Courier New"/>
                <a:ea typeface="Courier New"/>
                <a:cs typeface="Courier New"/>
                <a:sym typeface="Courier New"/>
              </a:rPr>
              <a:t>}</a:t>
            </a:r>
            <a:endParaRPr/>
          </a:p>
        </p:txBody>
      </p:sp>
      <p:sp>
        <p:nvSpPr>
          <p:cNvPr id="447" name="Google Shape;447;p39"/>
          <p:cNvSpPr txBox="1"/>
          <p:nvPr/>
        </p:nvSpPr>
        <p:spPr>
          <a:xfrm>
            <a:off x="5440680" y="3611880"/>
            <a:ext cx="32004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fr" sz="1100" u="none" cap="none" strike="noStrike">
                <a:solidFill>
                  <a:srgbClr val="FFFFFF"/>
                </a:solidFill>
                <a:latin typeface="Arial"/>
                <a:ea typeface="Arial"/>
                <a:cs typeface="Arial"/>
                <a:sym typeface="Arial"/>
              </a:rPr>
              <a:t>Hibernate </a:t>
            </a:r>
            <a:r>
              <a:rPr b="1" i="0" lang="fr" sz="1100" u="none" cap="none" strike="noStrike">
                <a:solidFill>
                  <a:srgbClr val="FFFFFF"/>
                </a:solidFill>
                <a:latin typeface="Arial"/>
                <a:ea typeface="Arial"/>
                <a:cs typeface="Arial"/>
                <a:sym typeface="Arial"/>
              </a:rPr>
              <a:t>crée les tables</a:t>
            </a:r>
            <a:r>
              <a:rPr b="0" i="0" lang="fr" sz="1100" u="none" cap="none" strike="noStrike">
                <a:solidFill>
                  <a:srgbClr val="FFFFFF"/>
                </a:solidFill>
                <a:latin typeface="Arial"/>
                <a:ea typeface="Arial"/>
                <a:cs typeface="Arial"/>
                <a:sym typeface="Arial"/>
              </a:rPr>
              <a:t> au démarrage et </a:t>
            </a:r>
            <a:r>
              <a:rPr b="1" i="0" lang="fr" sz="1100" u="none" cap="none" strike="noStrike">
                <a:solidFill>
                  <a:srgbClr val="FFFFFF"/>
                </a:solidFill>
                <a:latin typeface="Arial"/>
                <a:ea typeface="Arial"/>
                <a:cs typeface="Arial"/>
                <a:sym typeface="Arial"/>
              </a:rPr>
              <a:t>génère les requêtes</a:t>
            </a:r>
            <a:r>
              <a:rPr b="0" i="0" lang="fr" sz="1100" u="none" cap="none" strike="noStrike">
                <a:solidFill>
                  <a:srgbClr val="FFFFFF"/>
                </a:solidFill>
                <a:latin typeface="Arial"/>
                <a:ea typeface="Arial"/>
                <a:cs typeface="Arial"/>
                <a:sym typeface="Arial"/>
              </a:rPr>
              <a:t> : dernier maillon avant la base.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51" name="Shape 451"/>
        <p:cNvGrpSpPr/>
        <p:nvPr/>
      </p:nvGrpSpPr>
      <p:grpSpPr>
        <a:xfrm>
          <a:off x="0" y="0"/>
          <a:ext cx="0" cy="0"/>
          <a:chOff x="0" y="0"/>
          <a:chExt cx="0" cy="0"/>
        </a:xfrm>
      </p:grpSpPr>
      <p:sp>
        <p:nvSpPr>
          <p:cNvPr id="452" name="Google Shape;452;p40"/>
          <p:cNvSpPr txBox="1"/>
          <p:nvPr>
            <p:ph type="ctrTitle"/>
          </p:nvPr>
        </p:nvSpPr>
        <p:spPr>
          <a:xfrm flipH="1">
            <a:off x="-100" y="507400"/>
            <a:ext cx="8394900" cy="6705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Clr>
                <a:schemeClr val="dk2"/>
              </a:buClr>
              <a:buSzPts val="3600"/>
              <a:buNone/>
            </a:pPr>
            <a:r>
              <a:rPr lang="fr" sz="3400"/>
              <a:t>DES SERVICES INDÉPENDANTS</a:t>
            </a:r>
            <a:endParaRPr/>
          </a:p>
        </p:txBody>
      </p:sp>
      <p:sp>
        <p:nvSpPr>
          <p:cNvPr id="453" name="Google Shape;453;p40"/>
          <p:cNvSpPr txBox="1"/>
          <p:nvPr/>
        </p:nvSpPr>
        <p:spPr>
          <a:xfrm>
            <a:off x="548640" y="1280160"/>
            <a:ext cx="2377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AUJOURD'HUI</a:t>
            </a:r>
            <a:endParaRPr/>
          </a:p>
        </p:txBody>
      </p:sp>
      <p:sp>
        <p:nvSpPr>
          <p:cNvPr id="454" name="Google Shape;454;p40"/>
          <p:cNvSpPr txBox="1"/>
          <p:nvPr/>
        </p:nvSpPr>
        <p:spPr>
          <a:xfrm>
            <a:off x="3429000" y="1280160"/>
            <a:ext cx="2377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DEMAIN</a:t>
            </a:r>
            <a:endParaRPr/>
          </a:p>
        </p:txBody>
      </p:sp>
      <p:sp>
        <p:nvSpPr>
          <p:cNvPr id="455" name="Google Shape;455;p40"/>
          <p:cNvSpPr txBox="1"/>
          <p:nvPr/>
        </p:nvSpPr>
        <p:spPr>
          <a:xfrm>
            <a:off x="6263640" y="1280160"/>
            <a:ext cx="23775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fr" sz="1100" u="none" cap="none" strike="noStrike">
                <a:solidFill>
                  <a:srgbClr val="FFFFFF"/>
                </a:solidFill>
                <a:latin typeface="Arial"/>
                <a:ea typeface="Arial"/>
                <a:cs typeface="Arial"/>
                <a:sym typeface="Arial"/>
              </a:rPr>
              <a:t>CE QUI CHANGE</a:t>
            </a:r>
            <a:endParaRPr/>
          </a:p>
        </p:txBody>
      </p:sp>
      <p:sp>
        <p:nvSpPr>
          <p:cNvPr id="456" name="Google Shape;456;p40"/>
          <p:cNvSpPr/>
          <p:nvPr/>
        </p:nvSpPr>
        <p:spPr>
          <a:xfrm>
            <a:off x="548640" y="1600200"/>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b="0" i="0" lang="fr" sz="1050" u="none" cap="none" strike="noStrike">
                <a:solidFill>
                  <a:srgbClr val="FFFFFF"/>
                </a:solidFill>
                <a:latin typeface="Arial"/>
                <a:ea typeface="Arial"/>
                <a:cs typeface="Arial"/>
                <a:sym typeface="Arial"/>
              </a:rPr>
              <a:t>Base H2 + JPA</a:t>
            </a:r>
            <a:endParaRPr/>
          </a:p>
        </p:txBody>
      </p:sp>
      <p:cxnSp>
        <p:nvCxnSpPr>
          <p:cNvPr id="457" name="Google Shape;457;p40"/>
          <p:cNvCxnSpPr/>
          <p:nvPr/>
        </p:nvCxnSpPr>
        <p:spPr>
          <a:xfrm>
            <a:off x="3063240" y="1856232"/>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58" name="Google Shape;458;p40"/>
          <p:cNvSpPr/>
          <p:nvPr/>
        </p:nvSpPr>
        <p:spPr>
          <a:xfrm>
            <a:off x="3429000" y="1600200"/>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b="0" i="0" lang="fr" sz="1050" u="none" cap="none" strike="noStrike">
                <a:solidFill>
                  <a:srgbClr val="FFFFFF"/>
                </a:solidFill>
                <a:latin typeface="Arial"/>
                <a:ea typeface="Arial"/>
                <a:cs typeface="Arial"/>
                <a:sym typeface="Arial"/>
              </a:rPr>
              <a:t>PostgreSQL, MongoDB…</a:t>
            </a:r>
            <a:endParaRPr/>
          </a:p>
        </p:txBody>
      </p:sp>
      <p:sp>
        <p:nvSpPr>
          <p:cNvPr id="459" name="Google Shape;459;p40"/>
          <p:cNvSpPr/>
          <p:nvPr/>
        </p:nvSpPr>
        <p:spPr>
          <a:xfrm>
            <a:off x="6263640" y="1600200"/>
            <a:ext cx="2377500" cy="5121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nouvel Adapter OUT</a:t>
            </a:r>
            <a:endParaRPr/>
          </a:p>
        </p:txBody>
      </p:sp>
      <p:sp>
        <p:nvSpPr>
          <p:cNvPr id="460" name="Google Shape;460;p40"/>
          <p:cNvSpPr/>
          <p:nvPr/>
        </p:nvSpPr>
        <p:spPr>
          <a:xfrm>
            <a:off x="548640" y="2258568"/>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b="0" i="0" lang="fr" sz="1050" u="none" cap="none" strike="noStrike">
                <a:solidFill>
                  <a:srgbClr val="FFFFFF"/>
                </a:solidFill>
                <a:latin typeface="Arial"/>
                <a:ea typeface="Arial"/>
                <a:cs typeface="Arial"/>
                <a:sym typeface="Arial"/>
              </a:rPr>
              <a:t>API REST (HTTP/JSON)</a:t>
            </a:r>
            <a:endParaRPr/>
          </a:p>
        </p:txBody>
      </p:sp>
      <p:cxnSp>
        <p:nvCxnSpPr>
          <p:cNvPr id="461" name="Google Shape;461;p40"/>
          <p:cNvCxnSpPr/>
          <p:nvPr/>
        </p:nvCxnSpPr>
        <p:spPr>
          <a:xfrm>
            <a:off x="3063240" y="2514600"/>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62" name="Google Shape;462;p40"/>
          <p:cNvSpPr/>
          <p:nvPr/>
        </p:nvSpPr>
        <p:spPr>
          <a:xfrm>
            <a:off x="3429000" y="2258568"/>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b="0" i="0" lang="fr" sz="1050" u="none" cap="none" strike="noStrike">
                <a:solidFill>
                  <a:srgbClr val="FFFFFF"/>
                </a:solidFill>
                <a:latin typeface="Arial"/>
                <a:ea typeface="Arial"/>
                <a:cs typeface="Arial"/>
                <a:sym typeface="Arial"/>
              </a:rPr>
              <a:t>CLI, gRPC, file de messages…</a:t>
            </a:r>
            <a:endParaRPr/>
          </a:p>
        </p:txBody>
      </p:sp>
      <p:sp>
        <p:nvSpPr>
          <p:cNvPr id="463" name="Google Shape;463;p40"/>
          <p:cNvSpPr/>
          <p:nvPr/>
        </p:nvSpPr>
        <p:spPr>
          <a:xfrm>
            <a:off x="6263640" y="2258568"/>
            <a:ext cx="2377500" cy="5121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nouvel Adapter IN</a:t>
            </a:r>
            <a:endParaRPr/>
          </a:p>
        </p:txBody>
      </p:sp>
      <p:cxnSp>
        <p:nvCxnSpPr>
          <p:cNvPr id="464" name="Google Shape;464;p40"/>
          <p:cNvCxnSpPr/>
          <p:nvPr/>
        </p:nvCxnSpPr>
        <p:spPr>
          <a:xfrm>
            <a:off x="3063240" y="3279630"/>
            <a:ext cx="320100"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40"/>
              </a:srgbClr>
            </a:outerShdw>
          </a:effectLst>
        </p:spPr>
      </p:cxnSp>
      <p:sp>
        <p:nvSpPr>
          <p:cNvPr id="465" name="Google Shape;465;p40"/>
          <p:cNvSpPr/>
          <p:nvPr/>
        </p:nvSpPr>
        <p:spPr>
          <a:xfrm>
            <a:off x="525740" y="3018279"/>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lang="fr" sz="1050">
                <a:solidFill>
                  <a:srgbClr val="FFFFFF"/>
                </a:solidFill>
              </a:rPr>
              <a:t>Base H2</a:t>
            </a:r>
            <a:endParaRPr/>
          </a:p>
        </p:txBody>
      </p:sp>
      <p:sp>
        <p:nvSpPr>
          <p:cNvPr id="466" name="Google Shape;466;p40"/>
          <p:cNvSpPr/>
          <p:nvPr/>
        </p:nvSpPr>
        <p:spPr>
          <a:xfrm>
            <a:off x="3406100" y="3018279"/>
            <a:ext cx="2469000" cy="5121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1050"/>
              <a:buFont typeface="Arial"/>
              <a:buNone/>
            </a:pPr>
            <a:r>
              <a:rPr b="0" i="0" lang="fr" sz="1050" u="none" cap="none" strike="noStrike">
                <a:solidFill>
                  <a:srgbClr val="FFFFFF"/>
                </a:solidFill>
                <a:latin typeface="Arial"/>
                <a:ea typeface="Arial"/>
                <a:cs typeface="Arial"/>
                <a:sym typeface="Arial"/>
              </a:rPr>
              <a:t>Mocks Mockito</a:t>
            </a:r>
            <a:endParaRPr/>
          </a:p>
        </p:txBody>
      </p:sp>
      <p:sp>
        <p:nvSpPr>
          <p:cNvPr id="467" name="Google Shape;467;p40"/>
          <p:cNvSpPr/>
          <p:nvPr/>
        </p:nvSpPr>
        <p:spPr>
          <a:xfrm>
            <a:off x="6240740" y="3018279"/>
            <a:ext cx="2377500" cy="512100"/>
          </a:xfrm>
          <a:prstGeom prst="roundRect">
            <a:avLst>
              <a:gd fmla="val 8000" name="adj"/>
            </a:avLst>
          </a:prstGeom>
          <a:solidFill>
            <a:srgbClr val="E5B2CA">
              <a:alpha val="92160"/>
            </a:srgbClr>
          </a:solidFill>
          <a:ln cap="flat" cmpd="sng" w="9525">
            <a:solidFill>
              <a:srgbClr val="FFFFFF"/>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Clr>
                <a:srgbClr val="000000"/>
              </a:buClr>
              <a:buSzPts val="950"/>
              <a:buFont typeface="Arial"/>
              <a:buNone/>
            </a:pPr>
            <a:r>
              <a:rPr b="1" i="0" lang="fr" sz="950" u="none" cap="none" strike="noStrike">
                <a:solidFill>
                  <a:srgbClr val="2A1570"/>
                </a:solidFill>
                <a:latin typeface="Arial"/>
                <a:ea typeface="Arial"/>
                <a:cs typeface="Arial"/>
                <a:sym typeface="Arial"/>
              </a:rPr>
              <a:t>tests unitaires rapides</a:t>
            </a:r>
            <a:endParaRPr/>
          </a:p>
        </p:txBody>
      </p:sp>
      <p:sp>
        <p:nvSpPr>
          <p:cNvPr id="468" name="Google Shape;468;p40"/>
          <p:cNvSpPr/>
          <p:nvPr/>
        </p:nvSpPr>
        <p:spPr>
          <a:xfrm>
            <a:off x="548640" y="4315968"/>
            <a:ext cx="8092500" cy="329100"/>
          </a:xfrm>
          <a:prstGeom prst="roundRect">
            <a:avLst>
              <a:gd fmla="val 8000" name="adj"/>
            </a:avLst>
          </a:prstGeom>
          <a:solidFill>
            <a:srgbClr val="00D6C0"/>
          </a:solidFill>
          <a:ln>
            <a:noFill/>
          </a:ln>
        </p:spPr>
        <p:txBody>
          <a:bodyPr anchorCtr="0" anchor="ctr" bIns="36575" lIns="0" spcFirstLastPara="1" rIns="0" wrap="square" tIns="36575">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2A1570"/>
                </a:solidFill>
                <a:latin typeface="Arial"/>
                <a:ea typeface="Arial"/>
                <a:cs typeface="Arial"/>
                <a:sym typeface="Arial"/>
              </a:rPr>
              <a:t>Dans tous les cas : le domaine reste inchangé</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72" name="Shape 472"/>
        <p:cNvGrpSpPr/>
        <p:nvPr/>
      </p:nvGrpSpPr>
      <p:grpSpPr>
        <a:xfrm>
          <a:off x="0" y="0"/>
          <a:ext cx="0" cy="0"/>
          <a:chOff x="0" y="0"/>
          <a:chExt cx="0" cy="0"/>
        </a:xfrm>
      </p:grpSpPr>
      <p:sp>
        <p:nvSpPr>
          <p:cNvPr id="473" name="Google Shape;473;p41"/>
          <p:cNvSpPr txBox="1"/>
          <p:nvPr>
            <p:ph type="ctrTitle"/>
          </p:nvPr>
        </p:nvSpPr>
        <p:spPr>
          <a:xfrm>
            <a:off x="365760" y="2057400"/>
            <a:ext cx="42978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fr" sz="3200"/>
              <a:t>DÉMONSTRATION</a:t>
            </a:r>
            <a:endParaRPr/>
          </a:p>
        </p:txBody>
      </p:sp>
      <p:sp>
        <p:nvSpPr>
          <p:cNvPr id="474" name="Google Shape;474;p41"/>
          <p:cNvSpPr txBox="1"/>
          <p:nvPr/>
        </p:nvSpPr>
        <p:spPr>
          <a:xfrm>
            <a:off x="457200" y="1097280"/>
            <a:ext cx="2286000" cy="96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fr" sz="6000" u="none" cap="none" strike="noStrike">
                <a:solidFill>
                  <a:srgbClr val="FFFFFF"/>
                </a:solidFill>
                <a:latin typeface="Arial"/>
                <a:ea typeface="Arial"/>
                <a:cs typeface="Arial"/>
                <a:sym typeface="Arial"/>
              </a:rPr>
              <a:t>0</a:t>
            </a:r>
            <a:r>
              <a:rPr b="1" lang="fr" sz="6000">
                <a:solidFill>
                  <a:srgbClr val="FFFFFF"/>
                </a:solidFill>
              </a:rPr>
              <a:t>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78" name="Shape 478"/>
        <p:cNvGrpSpPr/>
        <p:nvPr/>
      </p:nvGrpSpPr>
      <p:grpSpPr>
        <a:xfrm>
          <a:off x="0" y="0"/>
          <a:ext cx="0" cy="0"/>
          <a:chOff x="0" y="0"/>
          <a:chExt cx="0" cy="0"/>
        </a:xfrm>
      </p:grpSpPr>
      <p:sp>
        <p:nvSpPr>
          <p:cNvPr id="479" name="Google Shape;479;p42"/>
          <p:cNvSpPr txBox="1"/>
          <p:nvPr>
            <p:ph type="ctrTitle"/>
          </p:nvPr>
        </p:nvSpPr>
        <p:spPr>
          <a:xfrm>
            <a:off x="365760" y="2057400"/>
            <a:ext cx="4297800" cy="685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fr" sz="3200"/>
              <a:t>ESPRIT CRITIQUE</a:t>
            </a:r>
            <a:endParaRPr/>
          </a:p>
        </p:txBody>
      </p:sp>
      <p:sp>
        <p:nvSpPr>
          <p:cNvPr id="480" name="Google Shape;480;p42"/>
          <p:cNvSpPr txBox="1"/>
          <p:nvPr/>
        </p:nvSpPr>
        <p:spPr>
          <a:xfrm>
            <a:off x="457200" y="1097280"/>
            <a:ext cx="2286000" cy="9600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fr" sz="6000" u="none" cap="none" strike="noStrike">
                <a:solidFill>
                  <a:srgbClr val="FFFFFF"/>
                </a:solidFill>
                <a:latin typeface="Arial"/>
                <a:ea typeface="Arial"/>
                <a:cs typeface="Arial"/>
                <a:sym typeface="Arial"/>
              </a:rPr>
              <a:t>0</a:t>
            </a:r>
            <a:r>
              <a:rPr b="1" lang="fr" sz="6000">
                <a:solidFill>
                  <a:srgbClr val="FFFFFF"/>
                </a:solidFill>
              </a:rPr>
              <a:t>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84" name="Shape 484"/>
        <p:cNvGrpSpPr/>
        <p:nvPr/>
      </p:nvGrpSpPr>
      <p:grpSpPr>
        <a:xfrm>
          <a:off x="0" y="0"/>
          <a:ext cx="0" cy="0"/>
          <a:chOff x="0" y="0"/>
          <a:chExt cx="0" cy="0"/>
        </a:xfrm>
      </p:grpSpPr>
      <p:sp>
        <p:nvSpPr>
          <p:cNvPr id="485" name="Google Shape;485;p43"/>
          <p:cNvSpPr txBox="1"/>
          <p:nvPr/>
        </p:nvSpPr>
        <p:spPr>
          <a:xfrm flipH="1">
            <a:off x="749100" y="500825"/>
            <a:ext cx="8394900" cy="6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3400">
                <a:solidFill>
                  <a:srgbClr val="FFFFFF"/>
                </a:solidFill>
                <a:latin typeface="Squada One"/>
                <a:ea typeface="Squada One"/>
                <a:cs typeface="Squada One"/>
                <a:sym typeface="Squada One"/>
              </a:rPr>
              <a:t>NOTRE VISION</a:t>
            </a:r>
            <a:endParaRPr sz="3600">
              <a:solidFill>
                <a:srgbClr val="FFFFFF"/>
              </a:solidFill>
              <a:latin typeface="Squada One"/>
              <a:ea typeface="Squada One"/>
              <a:cs typeface="Squada One"/>
              <a:sym typeface="Squada One"/>
            </a:endParaRPr>
          </a:p>
        </p:txBody>
      </p:sp>
      <p:sp>
        <p:nvSpPr>
          <p:cNvPr id="486" name="Google Shape;486;p43"/>
          <p:cNvSpPr/>
          <p:nvPr/>
        </p:nvSpPr>
        <p:spPr>
          <a:xfrm>
            <a:off x="548640" y="1371600"/>
            <a:ext cx="2560200" cy="3200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43"/>
          <p:cNvSpPr txBox="1"/>
          <p:nvPr/>
        </p:nvSpPr>
        <p:spPr>
          <a:xfrm>
            <a:off x="731520" y="1481328"/>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fr" sz="1300" u="none" cap="none" strike="noStrike">
                <a:solidFill>
                  <a:srgbClr val="00D6C0"/>
                </a:solidFill>
                <a:latin typeface="Arial"/>
                <a:ea typeface="Arial"/>
                <a:cs typeface="Arial"/>
                <a:sym typeface="Arial"/>
              </a:rPr>
              <a:t>CE QU</a:t>
            </a:r>
            <a:r>
              <a:rPr b="1" lang="fr" sz="1300">
                <a:solidFill>
                  <a:srgbClr val="00D6C0"/>
                </a:solidFill>
              </a:rPr>
              <a:t>’ON A APPRÉCIÉ</a:t>
            </a:r>
            <a:endParaRPr/>
          </a:p>
        </p:txBody>
      </p:sp>
      <p:sp>
        <p:nvSpPr>
          <p:cNvPr id="488" name="Google Shape;488;p43"/>
          <p:cNvSpPr txBox="1"/>
          <p:nvPr/>
        </p:nvSpPr>
        <p:spPr>
          <a:xfrm>
            <a:off x="777240" y="1965960"/>
            <a:ext cx="2148900" cy="25146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00D6C0"/>
              </a:buClr>
              <a:buSzPts val="1100"/>
              <a:buFont typeface="Arial"/>
              <a:buChar char="+"/>
            </a:pPr>
            <a:r>
              <a:rPr b="0" i="0" lang="fr" sz="1100" u="none" cap="none" strike="noStrike">
                <a:solidFill>
                  <a:srgbClr val="FFFFFF"/>
                </a:solidFill>
                <a:latin typeface="Arial"/>
                <a:ea typeface="Arial"/>
                <a:cs typeface="Arial"/>
                <a:sym typeface="Arial"/>
              </a:rPr>
              <a:t>Domaine indépendant de la technique</a:t>
            </a:r>
            <a:endParaRPr/>
          </a:p>
          <a:p>
            <a:pPr indent="-182880" lvl="0" marL="182880" marR="0" rtl="0" algn="l">
              <a:lnSpc>
                <a:spcPct val="100000"/>
              </a:lnSpc>
              <a:spcBef>
                <a:spcPts val="700"/>
              </a:spcBef>
              <a:spcAft>
                <a:spcPts val="0"/>
              </a:spcAft>
              <a:buClr>
                <a:srgbClr val="00D6C0"/>
              </a:buClr>
              <a:buSzPts val="1100"/>
              <a:buFont typeface="Arial"/>
              <a:buChar char="+"/>
            </a:pPr>
            <a:r>
              <a:rPr b="0" i="0" lang="fr" sz="1100" u="none" cap="none" strike="noStrike">
                <a:solidFill>
                  <a:srgbClr val="FFFFFF"/>
                </a:solidFill>
                <a:latin typeface="Arial"/>
                <a:ea typeface="Arial"/>
                <a:cs typeface="Arial"/>
                <a:sym typeface="Arial"/>
              </a:rPr>
              <a:t>Tests sans base (mocks des ports)</a:t>
            </a:r>
            <a:endParaRPr/>
          </a:p>
          <a:p>
            <a:pPr indent="-182880" lvl="0" marL="182880" marR="0" rtl="0" algn="l">
              <a:lnSpc>
                <a:spcPct val="100000"/>
              </a:lnSpc>
              <a:spcBef>
                <a:spcPts val="700"/>
              </a:spcBef>
              <a:spcAft>
                <a:spcPts val="0"/>
              </a:spcAft>
              <a:buClr>
                <a:srgbClr val="00D6C0"/>
              </a:buClr>
              <a:buSzPts val="1100"/>
              <a:buFont typeface="Arial"/>
              <a:buChar char="+"/>
            </a:pPr>
            <a:r>
              <a:rPr b="0" i="0" lang="fr" sz="1100" u="none" cap="none" strike="noStrike">
                <a:solidFill>
                  <a:srgbClr val="FFFFFF"/>
                </a:solidFill>
                <a:latin typeface="Arial"/>
                <a:ea typeface="Arial"/>
                <a:cs typeface="Arial"/>
                <a:sym typeface="Arial"/>
              </a:rPr>
              <a:t>Technologies remplaçables</a:t>
            </a:r>
            <a:endParaRPr/>
          </a:p>
          <a:p>
            <a:pPr indent="-182880" lvl="0" marL="182880" marR="0" rtl="0" algn="l">
              <a:lnSpc>
                <a:spcPct val="100000"/>
              </a:lnSpc>
              <a:spcBef>
                <a:spcPts val="700"/>
              </a:spcBef>
              <a:spcAft>
                <a:spcPts val="0"/>
              </a:spcAft>
              <a:buClr>
                <a:srgbClr val="00D6C0"/>
              </a:buClr>
              <a:buSzPts val="1100"/>
              <a:buFont typeface="Arial"/>
              <a:buChar char="+"/>
            </a:pPr>
            <a:r>
              <a:rPr b="0" i="0" lang="fr" sz="1100" u="none" cap="none" strike="noStrike">
                <a:solidFill>
                  <a:srgbClr val="FFFFFF"/>
                </a:solidFill>
                <a:latin typeface="Arial"/>
                <a:ea typeface="Arial"/>
                <a:cs typeface="Arial"/>
                <a:sym typeface="Arial"/>
              </a:rPr>
              <a:t>Code organisé par responsabilité</a:t>
            </a:r>
            <a:endParaRPr/>
          </a:p>
        </p:txBody>
      </p:sp>
      <p:sp>
        <p:nvSpPr>
          <p:cNvPr id="489" name="Google Shape;489;p43"/>
          <p:cNvSpPr/>
          <p:nvPr/>
        </p:nvSpPr>
        <p:spPr>
          <a:xfrm>
            <a:off x="3291840" y="1371600"/>
            <a:ext cx="2560200" cy="3200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43"/>
          <p:cNvSpPr txBox="1"/>
          <p:nvPr/>
        </p:nvSpPr>
        <p:spPr>
          <a:xfrm>
            <a:off x="3474720" y="1481328"/>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lang="fr" sz="1300">
                <a:solidFill>
                  <a:srgbClr val="E5B2CA"/>
                </a:solidFill>
              </a:rPr>
              <a:t>LES BLOCAGES</a:t>
            </a:r>
            <a:endParaRPr/>
          </a:p>
        </p:txBody>
      </p:sp>
      <p:sp>
        <p:nvSpPr>
          <p:cNvPr id="491" name="Google Shape;491;p43"/>
          <p:cNvSpPr txBox="1"/>
          <p:nvPr/>
        </p:nvSpPr>
        <p:spPr>
          <a:xfrm>
            <a:off x="3520440" y="1965960"/>
            <a:ext cx="2148900" cy="25146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E5B2CA"/>
              </a:buClr>
              <a:buSzPts val="1100"/>
              <a:buFont typeface="Arial"/>
              <a:buChar char="–"/>
            </a:pPr>
            <a:r>
              <a:rPr b="0" i="0" lang="fr" sz="1100" u="none" cap="none" strike="noStrike">
                <a:solidFill>
                  <a:srgbClr val="FFFFFF"/>
                </a:solidFill>
                <a:latin typeface="Arial"/>
                <a:ea typeface="Arial"/>
                <a:cs typeface="Arial"/>
                <a:sym typeface="Arial"/>
              </a:rPr>
              <a:t>Plus de code : modèle + entité + mapper</a:t>
            </a:r>
            <a:endParaRPr/>
          </a:p>
          <a:p>
            <a:pPr indent="-182880" lvl="0" marL="182880" marR="0" rtl="0" algn="l">
              <a:lnSpc>
                <a:spcPct val="100000"/>
              </a:lnSpc>
              <a:spcBef>
                <a:spcPts val="700"/>
              </a:spcBef>
              <a:spcAft>
                <a:spcPts val="0"/>
              </a:spcAft>
              <a:buClr>
                <a:srgbClr val="E5B2CA"/>
              </a:buClr>
              <a:buSzPts val="1100"/>
              <a:buFont typeface="Arial"/>
              <a:buChar char="–"/>
            </a:pPr>
            <a:r>
              <a:rPr lang="fr" sz="1100">
                <a:solidFill>
                  <a:srgbClr val="FFFFFF"/>
                </a:solidFill>
              </a:rPr>
              <a:t>D</a:t>
            </a:r>
            <a:r>
              <a:rPr b="0" i="0" lang="fr" sz="1100" u="none" cap="none" strike="noStrike">
                <a:solidFill>
                  <a:srgbClr val="FFFFFF"/>
                </a:solidFill>
                <a:latin typeface="Arial"/>
                <a:ea typeface="Arial"/>
                <a:cs typeface="Arial"/>
                <a:sym typeface="Arial"/>
              </a:rPr>
              <a:t>ébogage plus long</a:t>
            </a:r>
            <a:endParaRPr/>
          </a:p>
          <a:p>
            <a:pPr indent="-182880" lvl="0" marL="182880" marR="0" rtl="0" algn="l">
              <a:lnSpc>
                <a:spcPct val="100000"/>
              </a:lnSpc>
              <a:spcBef>
                <a:spcPts val="700"/>
              </a:spcBef>
              <a:spcAft>
                <a:spcPts val="0"/>
              </a:spcAft>
              <a:buClr>
                <a:srgbClr val="E5B2CA"/>
              </a:buClr>
              <a:buSzPts val="1100"/>
              <a:buFont typeface="Arial"/>
              <a:buChar char="–"/>
            </a:pPr>
            <a:r>
              <a:rPr b="0" i="0" lang="fr" sz="1100" u="none" cap="none" strike="noStrike">
                <a:solidFill>
                  <a:srgbClr val="FFFFFF"/>
                </a:solidFill>
                <a:latin typeface="Arial"/>
                <a:ea typeface="Arial"/>
                <a:cs typeface="Arial"/>
                <a:sym typeface="Arial"/>
              </a:rPr>
              <a:t>Demande </a:t>
            </a:r>
            <a:r>
              <a:rPr lang="fr" sz="1100">
                <a:solidFill>
                  <a:srgbClr val="FFFFFF"/>
                </a:solidFill>
              </a:rPr>
              <a:t>beaucoup de discipline</a:t>
            </a:r>
            <a:endParaRPr/>
          </a:p>
          <a:p>
            <a:pPr indent="-182880" lvl="0" marL="182880" marR="0" rtl="0" algn="l">
              <a:lnSpc>
                <a:spcPct val="100000"/>
              </a:lnSpc>
              <a:spcBef>
                <a:spcPts val="700"/>
              </a:spcBef>
              <a:spcAft>
                <a:spcPts val="0"/>
              </a:spcAft>
              <a:buClr>
                <a:srgbClr val="E5B2CA"/>
              </a:buClr>
              <a:buSzPts val="1100"/>
              <a:buFont typeface="Arial"/>
              <a:buChar char="–"/>
            </a:pPr>
            <a:r>
              <a:rPr b="0" i="0" lang="fr" sz="1100" u="none" cap="none" strike="noStrike">
                <a:solidFill>
                  <a:srgbClr val="FFFFFF"/>
                </a:solidFill>
                <a:latin typeface="Arial"/>
                <a:ea typeface="Arial"/>
                <a:cs typeface="Arial"/>
                <a:sym typeface="Arial"/>
              </a:rPr>
              <a:t>Ne règle pas la cohérence entre services</a:t>
            </a:r>
            <a:endParaRPr b="0" i="0" sz="1100" u="none" cap="none" strike="noStrike">
              <a:solidFill>
                <a:srgbClr val="FFFFFF"/>
              </a:solidFill>
              <a:latin typeface="Arial"/>
              <a:ea typeface="Arial"/>
              <a:cs typeface="Arial"/>
              <a:sym typeface="Arial"/>
            </a:endParaRPr>
          </a:p>
          <a:p>
            <a:pPr indent="0" lvl="0" marL="0" rtl="0" algn="l">
              <a:spcBef>
                <a:spcPts val="700"/>
              </a:spcBef>
              <a:spcAft>
                <a:spcPts val="0"/>
              </a:spcAft>
              <a:buNone/>
            </a:pPr>
            <a:r>
              <a:rPr lang="fr" sz="1100">
                <a:solidFill>
                  <a:schemeClr val="dk2"/>
                </a:solidFill>
              </a:rPr>
              <a:t>- Surdimensionné pour ce type de projet</a:t>
            </a:r>
            <a:endParaRPr sz="1100">
              <a:solidFill>
                <a:schemeClr val="dk2"/>
              </a:solidFill>
            </a:endParaRPr>
          </a:p>
          <a:p>
            <a:pPr indent="0" lvl="0" marL="0" rtl="0" algn="l">
              <a:spcBef>
                <a:spcPts val="700"/>
              </a:spcBef>
              <a:spcAft>
                <a:spcPts val="0"/>
              </a:spcAft>
              <a:buNone/>
            </a:pPr>
            <a:r>
              <a:rPr lang="fr" sz="1100">
                <a:solidFill>
                  <a:schemeClr val="dk2"/>
                </a:solidFill>
              </a:rPr>
              <a:t>- Pente d’apprentissage abrupt</a:t>
            </a:r>
            <a:endParaRPr sz="1100">
              <a:solidFill>
                <a:schemeClr val="dk2"/>
              </a:solidFill>
            </a:endParaRPr>
          </a:p>
        </p:txBody>
      </p:sp>
      <p:sp>
        <p:nvSpPr>
          <p:cNvPr id="492" name="Google Shape;492;p43"/>
          <p:cNvSpPr/>
          <p:nvPr/>
        </p:nvSpPr>
        <p:spPr>
          <a:xfrm>
            <a:off x="6035040" y="1371600"/>
            <a:ext cx="2560200" cy="3200400"/>
          </a:xfrm>
          <a:prstGeom prst="roundRect">
            <a:avLst>
              <a:gd fmla="val 8000" name="adj"/>
            </a:avLst>
          </a:prstGeom>
          <a:solidFill>
            <a:srgbClr val="2A1570">
              <a:alpha val="45100"/>
            </a:srgbClr>
          </a:solidFill>
          <a:ln cap="flat" cmpd="sng" w="9525">
            <a:solidFill>
              <a:srgbClr val="FFFFFF">
                <a:alpha val="70200"/>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43"/>
          <p:cNvSpPr txBox="1"/>
          <p:nvPr/>
        </p:nvSpPr>
        <p:spPr>
          <a:xfrm>
            <a:off x="6217920" y="1481328"/>
            <a:ext cx="21945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lang="fr" sz="1300">
                <a:solidFill>
                  <a:srgbClr val="D7FFFA"/>
                </a:solidFill>
              </a:rPr>
              <a:t>CE QU’ON AURAIT FAIT</a:t>
            </a:r>
            <a:endParaRPr/>
          </a:p>
        </p:txBody>
      </p:sp>
      <p:sp>
        <p:nvSpPr>
          <p:cNvPr id="494" name="Google Shape;494;p43"/>
          <p:cNvSpPr txBox="1"/>
          <p:nvPr/>
        </p:nvSpPr>
        <p:spPr>
          <a:xfrm>
            <a:off x="6263640" y="1965960"/>
            <a:ext cx="2148900" cy="251460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D7FFFA"/>
              </a:buClr>
              <a:buSzPts val="1100"/>
              <a:buFont typeface="Arial"/>
              <a:buChar char="•"/>
            </a:pPr>
            <a:r>
              <a:rPr lang="fr" sz="1100">
                <a:solidFill>
                  <a:srgbClr val="FFFFFF"/>
                </a:solidFill>
              </a:rPr>
              <a:t>Monolithique ou à minima qu’une base de données</a:t>
            </a:r>
            <a:endParaRPr/>
          </a:p>
          <a:p>
            <a:pPr indent="-182880" lvl="0" marL="182880" marR="0" rtl="0" algn="l">
              <a:lnSpc>
                <a:spcPct val="100000"/>
              </a:lnSpc>
              <a:spcBef>
                <a:spcPts val="700"/>
              </a:spcBef>
              <a:spcAft>
                <a:spcPts val="0"/>
              </a:spcAft>
              <a:buClr>
                <a:srgbClr val="D7FFFA"/>
              </a:buClr>
              <a:buSzPts val="1100"/>
              <a:buFont typeface="Arial"/>
              <a:buChar char="•"/>
            </a:pPr>
            <a:r>
              <a:rPr lang="fr" sz="1100">
                <a:solidFill>
                  <a:srgbClr val="FFFFFF"/>
                </a:solidFill>
              </a:rPr>
              <a:t>Séparation tout de même en services</a:t>
            </a:r>
            <a:endParaRPr b="0" i="0" sz="1100" u="none" cap="none" strike="noStrike">
              <a:solidFill>
                <a:srgbClr val="FFFFFF"/>
              </a:solidFill>
              <a:latin typeface="Arial"/>
              <a:ea typeface="Arial"/>
              <a:cs typeface="Arial"/>
              <a:sym typeface="Arial"/>
            </a:endParaRPr>
          </a:p>
          <a:p>
            <a:pPr indent="-182880" lvl="0" marL="182880" marR="0" rtl="0" algn="l">
              <a:lnSpc>
                <a:spcPct val="100000"/>
              </a:lnSpc>
              <a:spcBef>
                <a:spcPts val="700"/>
              </a:spcBef>
              <a:spcAft>
                <a:spcPts val="0"/>
              </a:spcAft>
              <a:buClr>
                <a:srgbClr val="FFFFFF"/>
              </a:buClr>
              <a:buSzPts val="1100"/>
              <a:buChar char="•"/>
            </a:pPr>
            <a:r>
              <a:rPr lang="fr" sz="1100">
                <a:solidFill>
                  <a:srgbClr val="FFFFFF"/>
                </a:solidFill>
              </a:rPr>
              <a:t>Tests pour automatiser la vérification de tous les services (et non juste celui des comptes)</a:t>
            </a:r>
            <a:endParaRPr sz="1100">
              <a:solidFill>
                <a:srgbClr val="FFFFFF"/>
              </a:solidFill>
            </a:endParaRPr>
          </a:p>
          <a:p>
            <a:pPr indent="0" lvl="0" marL="0" marR="0" rtl="0" algn="l">
              <a:lnSpc>
                <a:spcPct val="100000"/>
              </a:lnSpc>
              <a:spcBef>
                <a:spcPts val="700"/>
              </a:spcBef>
              <a:spcAft>
                <a:spcPts val="0"/>
              </a:spcAft>
              <a:buNone/>
            </a:pPr>
            <a:r>
              <a:t/>
            </a:r>
            <a:endParaRPr sz="1100">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5C4C4"/>
            </a:gs>
            <a:gs pos="100000">
              <a:srgbClr val="613FB8"/>
            </a:gs>
          </a:gsLst>
          <a:lin ang="5400700" scaled="0"/>
        </a:gradFill>
      </p:bgPr>
    </p:bg>
    <p:spTree>
      <p:nvGrpSpPr>
        <p:cNvPr id="498" name="Shape 498"/>
        <p:cNvGrpSpPr/>
        <p:nvPr/>
      </p:nvGrpSpPr>
      <p:grpSpPr>
        <a:xfrm>
          <a:off x="0" y="0"/>
          <a:ext cx="0" cy="0"/>
          <a:chOff x="0" y="0"/>
          <a:chExt cx="0" cy="0"/>
        </a:xfrm>
      </p:grpSpPr>
      <p:sp>
        <p:nvSpPr>
          <p:cNvPr id="499" name="Google Shape;499;p44"/>
          <p:cNvSpPr txBox="1"/>
          <p:nvPr>
            <p:ph type="ctrTitle"/>
          </p:nvPr>
        </p:nvSpPr>
        <p:spPr>
          <a:xfrm flipH="1">
            <a:off x="1375550" y="3092475"/>
            <a:ext cx="6393000" cy="670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fr"/>
              <a:t>MERCI !</a:t>
            </a:r>
            <a:endParaRPr/>
          </a:p>
        </p:txBody>
      </p:sp>
      <p:sp>
        <p:nvSpPr>
          <p:cNvPr id="500" name="Google Shape;500;p44"/>
          <p:cNvSpPr txBox="1"/>
          <p:nvPr/>
        </p:nvSpPr>
        <p:spPr>
          <a:xfrm>
            <a:off x="1375550" y="3808695"/>
            <a:ext cx="639300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0" i="0" lang="fr" sz="2000" u="none" cap="none" strike="noStrike">
                <a:solidFill>
                  <a:srgbClr val="FFFFFF"/>
                </a:solidFill>
                <a:latin typeface="Arial"/>
                <a:ea typeface="Arial"/>
                <a:cs typeface="Arial"/>
                <a:sym typeface="Arial"/>
              </a:rPr>
              <a:t>Des questions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 Startup by Slidesgo">
  <a:themeElements>
    <a:clrScheme name="Simple Light">
      <a:dk1>
        <a:srgbClr val="AAB32F"/>
      </a:dk1>
      <a:lt1>
        <a:srgbClr val="613FB8"/>
      </a:lt1>
      <a:dk2>
        <a:srgbClr val="FFFFFF"/>
      </a:dk2>
      <a:lt2>
        <a:srgbClr val="EFEFEF"/>
      </a:lt2>
      <a:accent1>
        <a:srgbClr val="D9D9D9"/>
      </a:accent1>
      <a:accent2>
        <a:srgbClr val="CCCCCC"/>
      </a:accent2>
      <a:accent3>
        <a:srgbClr val="E670CF"/>
      </a:accent3>
      <a:accent4>
        <a:srgbClr val="613FB8"/>
      </a:accent4>
      <a:accent5>
        <a:srgbClr val="FFFFFF"/>
      </a:accent5>
      <a:accent6>
        <a:srgbClr val="EFEFE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